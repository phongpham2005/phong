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8" r:id="rId2"/>
    <p:sldMasterId id="2147483700" r:id="rId3"/>
  </p:sldMasterIdLst>
  <p:notesMasterIdLst>
    <p:notesMasterId r:id="rId7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34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3" r:id="rId30"/>
    <p:sldId id="284" r:id="rId31"/>
    <p:sldId id="285" r:id="rId32"/>
    <p:sldId id="286" r:id="rId33"/>
    <p:sldId id="344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5" r:id="rId68"/>
    <p:sldId id="326" r:id="rId69"/>
    <p:sldId id="327" r:id="rId70"/>
    <p:sldId id="335" r:id="rId71"/>
    <p:sldId id="336" r:id="rId72"/>
    <p:sldId id="337" r:id="rId73"/>
    <p:sldId id="338" r:id="rId74"/>
    <p:sldId id="342" r:id="rId7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39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D059D-A283-427F-92E5-8906E07E457E}" type="datetimeFigureOut">
              <a:rPr lang="vi-VN" smtClean="0"/>
              <a:t>15/05/2017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C50C-A260-474F-BA18-7E1AB7BD15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1847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npo0000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943708" y="6525660"/>
            <a:ext cx="8191500" cy="3333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99CC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vi-VN"/>
          </a:p>
        </p:txBody>
      </p:sp>
      <p:sp>
        <p:nvSpPr>
          <p:cNvPr id="6" name="AutoShape 11"/>
          <p:cNvSpPr>
            <a:spLocks noChangeAspect="1" noChangeArrowheads="1"/>
          </p:cNvSpPr>
          <p:nvPr/>
        </p:nvSpPr>
        <p:spPr bwMode="auto">
          <a:xfrm>
            <a:off x="0" y="2420939"/>
            <a:ext cx="1043354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vi-VN"/>
          </a:p>
        </p:txBody>
      </p: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1450" y="5303181"/>
            <a:ext cx="1034562" cy="1033463"/>
            <a:chOff x="125" y="2614"/>
            <a:chExt cx="706" cy="651"/>
          </a:xfrm>
        </p:grpSpPr>
        <p:sp>
          <p:nvSpPr>
            <p:cNvPr id="8" name="Freeform 15"/>
            <p:cNvSpPr>
              <a:spLocks/>
            </p:cNvSpPr>
            <p:nvPr/>
          </p:nvSpPr>
          <p:spPr bwMode="auto">
            <a:xfrm>
              <a:off x="299" y="2614"/>
              <a:ext cx="178" cy="283"/>
            </a:xfrm>
            <a:custGeom>
              <a:avLst/>
              <a:gdLst>
                <a:gd name="T0" fmla="*/ 0 w 1327"/>
                <a:gd name="T1" fmla="*/ 283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8 h 2290"/>
                <a:gd name="T8" fmla="*/ 0 w 1327"/>
                <a:gd name="T9" fmla="*/ 283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9" name="Freeform 16"/>
            <p:cNvSpPr>
              <a:spLocks/>
            </p:cNvSpPr>
            <p:nvPr/>
          </p:nvSpPr>
          <p:spPr bwMode="auto">
            <a:xfrm>
              <a:off x="477" y="2614"/>
              <a:ext cx="177" cy="285"/>
            </a:xfrm>
            <a:custGeom>
              <a:avLst/>
              <a:gdLst>
                <a:gd name="T0" fmla="*/ 177 w 1497"/>
                <a:gd name="T1" fmla="*/ 285 h 2589"/>
                <a:gd name="T2" fmla="*/ 177 w 1497"/>
                <a:gd name="T3" fmla="*/ 94 h 2589"/>
                <a:gd name="T4" fmla="*/ 0 w 1497"/>
                <a:gd name="T5" fmla="*/ 0 h 2589"/>
                <a:gd name="T6" fmla="*/ 0 w 1497"/>
                <a:gd name="T7" fmla="*/ 189 h 2589"/>
                <a:gd name="T8" fmla="*/ 177 w 1497"/>
                <a:gd name="T9" fmla="*/ 285 h 25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7" h="2589">
                  <a:moveTo>
                    <a:pt x="1496" y="2589"/>
                  </a:moveTo>
                  <a:lnTo>
                    <a:pt x="1497" y="856"/>
                  </a:lnTo>
                  <a:lnTo>
                    <a:pt x="0" y="0"/>
                  </a:lnTo>
                  <a:lnTo>
                    <a:pt x="0" y="1717"/>
                  </a:lnTo>
                  <a:lnTo>
                    <a:pt x="1496" y="2589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0" name="Freeform 17"/>
            <p:cNvSpPr>
              <a:spLocks/>
            </p:cNvSpPr>
            <p:nvPr/>
          </p:nvSpPr>
          <p:spPr bwMode="auto">
            <a:xfrm>
              <a:off x="125" y="2897"/>
              <a:ext cx="178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auto">
            <a:xfrm flipH="1">
              <a:off x="652" y="2896"/>
              <a:ext cx="179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9 w 1327"/>
                <a:gd name="T5" fmla="*/ 0 h 2290"/>
                <a:gd name="T6" fmla="*/ 179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2" name="Freeform 19"/>
            <p:cNvSpPr>
              <a:spLocks/>
            </p:cNvSpPr>
            <p:nvPr/>
          </p:nvSpPr>
          <p:spPr bwMode="auto">
            <a:xfrm rot="3690139">
              <a:off x="216" y="3029"/>
              <a:ext cx="165" cy="307"/>
            </a:xfrm>
            <a:custGeom>
              <a:avLst/>
              <a:gdLst>
                <a:gd name="T0" fmla="*/ 0 w 1327"/>
                <a:gd name="T1" fmla="*/ 307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7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3" name="Freeform 20"/>
            <p:cNvSpPr>
              <a:spLocks/>
            </p:cNvSpPr>
            <p:nvPr/>
          </p:nvSpPr>
          <p:spPr bwMode="auto">
            <a:xfrm rot="3600000">
              <a:off x="570" y="3024"/>
              <a:ext cx="165" cy="306"/>
            </a:xfrm>
            <a:custGeom>
              <a:avLst/>
              <a:gdLst>
                <a:gd name="T0" fmla="*/ 0 w 1327"/>
                <a:gd name="T1" fmla="*/ 306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6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274" y="2847"/>
              <a:ext cx="392" cy="25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66751" tIns="33376" rIns="66751" bIns="33376">
              <a:spAutoFit/>
            </a:bodyPr>
            <a:lstStyle>
              <a:lvl1pPr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1pPr>
              <a:lvl2pPr marL="742950" indent="-28575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2pPr>
              <a:lvl3pPr marL="11430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3pPr>
              <a:lvl4pPr marL="16002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4pPr>
              <a:lvl5pPr marL="20574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9pPr>
            </a:lstStyle>
            <a:p>
              <a:pPr algn="ctr" eaLnBrk="1" hangingPunct="1">
                <a:spcAft>
                  <a:spcPct val="10000"/>
                </a:spcAft>
                <a:defRPr/>
              </a:pPr>
              <a:r>
                <a:rPr lang="en-US" sz="1200" b="1" smtClean="0">
                  <a:solidFill>
                    <a:srgbClr val="032B91"/>
                  </a:solidFill>
                </a:rPr>
                <a:t>BK</a:t>
              </a:r>
            </a:p>
            <a:p>
              <a:pPr algn="ctr" eaLnBrk="1" hangingPunct="1">
                <a:defRPr/>
              </a:pPr>
              <a:r>
                <a:rPr lang="en-US" sz="900" b="1" smtClean="0">
                  <a:solidFill>
                    <a:srgbClr val="1488DB"/>
                  </a:solidFill>
                </a:rPr>
                <a:t>TP.HCM</a:t>
              </a:r>
              <a:endParaRPr lang="en-US" sz="900" smtClean="0">
                <a:solidFill>
                  <a:srgbClr val="1488DB"/>
                </a:solidFill>
              </a:endParaRPr>
            </a:p>
          </p:txBody>
        </p:sp>
      </p:grpSp>
      <p:sp>
        <p:nvSpPr>
          <p:cNvPr id="84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202753" y="6524625"/>
            <a:ext cx="3921369" cy="333375"/>
          </a:xfrm>
        </p:spPr>
        <p:txBody>
          <a:bodyPr/>
          <a:lstStyle/>
          <a:p>
            <a:fld id="{B32C4E71-0320-444D-BB53-E1E114645CC0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882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005133-86D3-4436-97A3-5C846E966471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7976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A2C828-DA5C-4E2A-9EAE-DE8F2F4751B1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7772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6138" y="1125538"/>
            <a:ext cx="4044462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1277" y="1125538"/>
            <a:ext cx="4044462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B5617F-EBC3-4218-89B3-BFBE94EC7142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7017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9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447F6D-E4A5-4994-93B9-229F3E97AD75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026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41E00E-21B1-4425-85C0-3A697858EF33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9232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4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8C1F39-D717-4BF4-9A12-8AD96558B97C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710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7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291D5A-13F5-491C-986C-0C06621C7509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553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7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DFF4AB-E355-45F3-855C-86042271CB7B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247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6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7E83C3-12F9-4A68-8925-886F378D96E4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06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6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28338" y="44451"/>
            <a:ext cx="2057400" cy="62642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6139" y="44451"/>
            <a:ext cx="6031523" cy="62642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1BFE20-EB43-41B4-92B6-AE33679417E5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585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52500" y="6524626"/>
            <a:ext cx="8191500" cy="3333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99CC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vi-VN"/>
          </a:p>
        </p:txBody>
      </p:sp>
      <p:pic>
        <p:nvPicPr>
          <p:cNvPr id="8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914400"/>
            <a:ext cx="4000500" cy="2393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000500" cy="2393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07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952500" y="6524626"/>
            <a:ext cx="8191500" cy="3333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99CC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vi-VN"/>
          </a:p>
        </p:txBody>
      </p:sp>
      <p:pic>
        <p:nvPicPr>
          <p:cNvPr id="7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3525"/>
            <a:ext cx="7848600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914400"/>
            <a:ext cx="7848600" cy="2579688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00298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138" y="44450"/>
            <a:ext cx="8229600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56138" y="1125538"/>
            <a:ext cx="8229600" cy="5183187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7DDA3E-5AF4-4A9D-A3CC-2100593739B8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2337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138" y="44450"/>
            <a:ext cx="8229600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56138" y="1125538"/>
            <a:ext cx="4044462" cy="518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1277" y="1125538"/>
            <a:ext cx="4044462" cy="518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F6D811-83D8-4D73-90D5-744F4BD7BF03}" type="datetime1">
              <a:rPr lang="en-US" smtClean="0"/>
              <a:t>5/15/2017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1698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7CBE8-CEF3-4219-A274-D2988A83B44D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0528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87151-191A-4CD2-8208-60BAFA9CF6CF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01173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2ADB-6426-4479-B2C3-6AFA22B558F8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53027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3D32-59E3-4B0F-A35B-5A9EC9853C1E}" type="datetime1">
              <a:rPr lang="en-US" smtClean="0"/>
              <a:t>5/15/2017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44657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4DF4-E130-400D-9BC3-75A6AECD5558}" type="datetime1">
              <a:rPr lang="en-US" smtClean="0"/>
              <a:t>5/15/2017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02951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098D-39AE-4124-8D19-2B676263992E}" type="datetime1">
              <a:rPr lang="en-US" smtClean="0"/>
              <a:t>5/15/2017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65414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23EA-AF62-4986-9A00-59F67B3F553C}" type="datetime1">
              <a:rPr lang="en-US" smtClean="0"/>
              <a:t>5/15/2017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31630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4B14-D558-40A3-8A85-36A95A977BFB}" type="datetime1">
              <a:rPr lang="en-US" smtClean="0"/>
              <a:t>5/15/2017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0931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8EEAF-D0EC-45D0-B4E5-3776CE339FBA}" type="datetime1">
              <a:rPr lang="en-US" smtClean="0"/>
              <a:t>5/15/2017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28921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2EC8-AEB3-4692-B414-37816D1EA72F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19466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390F-C740-4804-9878-837845F0B6A7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575546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123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51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51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512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512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512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vi-VN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316FD59-846A-474D-BF69-26FFD491CF94}" type="datetime1">
              <a:rPr lang="en-US" smtClean="0"/>
              <a:t>5/15/2017</a:t>
            </a:fld>
            <a:endParaRPr lang="vi-VN"/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4191000" cy="3048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391400" y="6248400"/>
            <a:ext cx="1371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47800" y="6248400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19400" y="6400800"/>
            <a:ext cx="4419600" cy="304800"/>
          </a:xfrm>
        </p:spPr>
        <p:txBody>
          <a:bodyPr/>
          <a:lstStyle>
            <a:lvl1pPr>
              <a:defRPr b="1" i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6243638"/>
            <a:ext cx="1327150" cy="457200"/>
          </a:xfrm>
        </p:spPr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  <p:grpSp>
        <p:nvGrpSpPr>
          <p:cNvPr id="7" name="Group 30"/>
          <p:cNvGrpSpPr>
            <a:grpSpLocks/>
          </p:cNvGrpSpPr>
          <p:nvPr userDrawn="1"/>
        </p:nvGrpSpPr>
        <p:grpSpPr bwMode="auto">
          <a:xfrm>
            <a:off x="63871" y="5673069"/>
            <a:ext cx="1034562" cy="1033463"/>
            <a:chOff x="125" y="2614"/>
            <a:chExt cx="706" cy="651"/>
          </a:xfrm>
        </p:grpSpPr>
        <p:sp>
          <p:nvSpPr>
            <p:cNvPr id="8" name="Freeform 15"/>
            <p:cNvSpPr>
              <a:spLocks/>
            </p:cNvSpPr>
            <p:nvPr/>
          </p:nvSpPr>
          <p:spPr bwMode="auto">
            <a:xfrm>
              <a:off x="299" y="2614"/>
              <a:ext cx="178" cy="283"/>
            </a:xfrm>
            <a:custGeom>
              <a:avLst/>
              <a:gdLst>
                <a:gd name="T0" fmla="*/ 0 w 1327"/>
                <a:gd name="T1" fmla="*/ 283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8 h 2290"/>
                <a:gd name="T8" fmla="*/ 0 w 1327"/>
                <a:gd name="T9" fmla="*/ 283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 16"/>
            <p:cNvSpPr>
              <a:spLocks/>
            </p:cNvSpPr>
            <p:nvPr/>
          </p:nvSpPr>
          <p:spPr bwMode="auto">
            <a:xfrm>
              <a:off x="477" y="2614"/>
              <a:ext cx="177" cy="285"/>
            </a:xfrm>
            <a:custGeom>
              <a:avLst/>
              <a:gdLst>
                <a:gd name="T0" fmla="*/ 177 w 1497"/>
                <a:gd name="T1" fmla="*/ 285 h 2589"/>
                <a:gd name="T2" fmla="*/ 177 w 1497"/>
                <a:gd name="T3" fmla="*/ 94 h 2589"/>
                <a:gd name="T4" fmla="*/ 0 w 1497"/>
                <a:gd name="T5" fmla="*/ 0 h 2589"/>
                <a:gd name="T6" fmla="*/ 0 w 1497"/>
                <a:gd name="T7" fmla="*/ 189 h 2589"/>
                <a:gd name="T8" fmla="*/ 177 w 1497"/>
                <a:gd name="T9" fmla="*/ 285 h 25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7" h="2589">
                  <a:moveTo>
                    <a:pt x="1496" y="2589"/>
                  </a:moveTo>
                  <a:lnTo>
                    <a:pt x="1497" y="856"/>
                  </a:lnTo>
                  <a:lnTo>
                    <a:pt x="0" y="0"/>
                  </a:lnTo>
                  <a:lnTo>
                    <a:pt x="0" y="1717"/>
                  </a:lnTo>
                  <a:lnTo>
                    <a:pt x="1496" y="2589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 17"/>
            <p:cNvSpPr>
              <a:spLocks/>
            </p:cNvSpPr>
            <p:nvPr/>
          </p:nvSpPr>
          <p:spPr bwMode="auto">
            <a:xfrm>
              <a:off x="125" y="2897"/>
              <a:ext cx="178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auto">
            <a:xfrm flipH="1">
              <a:off x="652" y="2896"/>
              <a:ext cx="179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9 w 1327"/>
                <a:gd name="T5" fmla="*/ 0 h 2290"/>
                <a:gd name="T6" fmla="*/ 179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 19"/>
            <p:cNvSpPr>
              <a:spLocks/>
            </p:cNvSpPr>
            <p:nvPr/>
          </p:nvSpPr>
          <p:spPr bwMode="auto">
            <a:xfrm rot="3690139">
              <a:off x="216" y="3029"/>
              <a:ext cx="165" cy="307"/>
            </a:xfrm>
            <a:custGeom>
              <a:avLst/>
              <a:gdLst>
                <a:gd name="T0" fmla="*/ 0 w 1327"/>
                <a:gd name="T1" fmla="*/ 307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7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 20"/>
            <p:cNvSpPr>
              <a:spLocks/>
            </p:cNvSpPr>
            <p:nvPr/>
          </p:nvSpPr>
          <p:spPr bwMode="auto">
            <a:xfrm rot="3600000">
              <a:off x="570" y="3024"/>
              <a:ext cx="165" cy="306"/>
            </a:xfrm>
            <a:custGeom>
              <a:avLst/>
              <a:gdLst>
                <a:gd name="T0" fmla="*/ 0 w 1327"/>
                <a:gd name="T1" fmla="*/ 306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6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274" y="2847"/>
              <a:ext cx="392" cy="25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66751" tIns="33376" rIns="66751" bIns="33376">
              <a:spAutoFit/>
            </a:bodyPr>
            <a:lstStyle>
              <a:lvl1pPr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1pPr>
              <a:lvl2pPr marL="742950" indent="-28575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2pPr>
              <a:lvl3pPr marL="11430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3pPr>
              <a:lvl4pPr marL="16002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4pPr>
              <a:lvl5pPr marL="20574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10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smtClean="0">
                  <a:ln>
                    <a:noFill/>
                  </a:ln>
                  <a:solidFill>
                    <a:srgbClr val="032B91"/>
                  </a:solidFill>
                  <a:effectLst/>
                  <a:uLnTx/>
                  <a:uFillTx/>
                  <a:latin typeface="Arial" charset="0"/>
                </a:rPr>
                <a:t>BK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1488DB"/>
                  </a:solidFill>
                  <a:effectLst/>
                  <a:uLnTx/>
                  <a:uFillTx/>
                  <a:latin typeface="Arial" charset="0"/>
                </a:rPr>
                <a:t>TP.HCM</a:t>
              </a:r>
              <a:endPara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1488DB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D3D11-4679-4BBA-94D0-FA81EC253227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9F61F2-F646-43EE-8BD1-141902D7623F}" type="datetime1">
              <a:rPr lang="en-US" smtClean="0"/>
              <a:t>5/15/2017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B0F908-AEDA-4564-A919-E5BA1C89C79C}" type="datetime1">
              <a:rPr lang="en-US" smtClean="0"/>
              <a:t>5/15/2017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504950" cy="457200"/>
          </a:xfrm>
        </p:spPr>
        <p:txBody>
          <a:bodyPr/>
          <a:lstStyle>
            <a:lvl1pPr>
              <a:defRPr/>
            </a:lvl1pPr>
          </a:lstStyle>
          <a:p>
            <a:fld id="{CB66236C-7858-436B-8318-18EF92B623B6}" type="datetime1">
              <a:rPr lang="en-US" smtClean="0"/>
              <a:t>5/15/2017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24800" y="6243638"/>
            <a:ext cx="1022350" cy="457200"/>
          </a:xfrm>
        </p:spPr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  <p:grpSp>
        <p:nvGrpSpPr>
          <p:cNvPr id="5" name="Group 30"/>
          <p:cNvGrpSpPr>
            <a:grpSpLocks/>
          </p:cNvGrpSpPr>
          <p:nvPr userDrawn="1"/>
        </p:nvGrpSpPr>
        <p:grpSpPr bwMode="auto">
          <a:xfrm>
            <a:off x="63871" y="5673069"/>
            <a:ext cx="1034562" cy="1033463"/>
            <a:chOff x="125" y="2614"/>
            <a:chExt cx="706" cy="651"/>
          </a:xfrm>
        </p:grpSpPr>
        <p:sp>
          <p:nvSpPr>
            <p:cNvPr id="6" name="Freeform 15"/>
            <p:cNvSpPr>
              <a:spLocks/>
            </p:cNvSpPr>
            <p:nvPr/>
          </p:nvSpPr>
          <p:spPr bwMode="auto">
            <a:xfrm>
              <a:off x="299" y="2614"/>
              <a:ext cx="178" cy="283"/>
            </a:xfrm>
            <a:custGeom>
              <a:avLst/>
              <a:gdLst>
                <a:gd name="T0" fmla="*/ 0 w 1327"/>
                <a:gd name="T1" fmla="*/ 283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8 h 2290"/>
                <a:gd name="T8" fmla="*/ 0 w 1327"/>
                <a:gd name="T9" fmla="*/ 283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16"/>
            <p:cNvSpPr>
              <a:spLocks/>
            </p:cNvSpPr>
            <p:nvPr/>
          </p:nvSpPr>
          <p:spPr bwMode="auto">
            <a:xfrm>
              <a:off x="477" y="2614"/>
              <a:ext cx="177" cy="285"/>
            </a:xfrm>
            <a:custGeom>
              <a:avLst/>
              <a:gdLst>
                <a:gd name="T0" fmla="*/ 177 w 1497"/>
                <a:gd name="T1" fmla="*/ 285 h 2589"/>
                <a:gd name="T2" fmla="*/ 177 w 1497"/>
                <a:gd name="T3" fmla="*/ 94 h 2589"/>
                <a:gd name="T4" fmla="*/ 0 w 1497"/>
                <a:gd name="T5" fmla="*/ 0 h 2589"/>
                <a:gd name="T6" fmla="*/ 0 w 1497"/>
                <a:gd name="T7" fmla="*/ 189 h 2589"/>
                <a:gd name="T8" fmla="*/ 177 w 1497"/>
                <a:gd name="T9" fmla="*/ 285 h 25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7" h="2589">
                  <a:moveTo>
                    <a:pt x="1496" y="2589"/>
                  </a:moveTo>
                  <a:lnTo>
                    <a:pt x="1497" y="856"/>
                  </a:lnTo>
                  <a:lnTo>
                    <a:pt x="0" y="0"/>
                  </a:lnTo>
                  <a:lnTo>
                    <a:pt x="0" y="1717"/>
                  </a:lnTo>
                  <a:lnTo>
                    <a:pt x="1496" y="2589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 17"/>
            <p:cNvSpPr>
              <a:spLocks/>
            </p:cNvSpPr>
            <p:nvPr/>
          </p:nvSpPr>
          <p:spPr bwMode="auto">
            <a:xfrm>
              <a:off x="125" y="2897"/>
              <a:ext cx="178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 18"/>
            <p:cNvSpPr>
              <a:spLocks/>
            </p:cNvSpPr>
            <p:nvPr/>
          </p:nvSpPr>
          <p:spPr bwMode="auto">
            <a:xfrm flipH="1">
              <a:off x="652" y="2896"/>
              <a:ext cx="179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9 w 1327"/>
                <a:gd name="T5" fmla="*/ 0 h 2290"/>
                <a:gd name="T6" fmla="*/ 179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 19"/>
            <p:cNvSpPr>
              <a:spLocks/>
            </p:cNvSpPr>
            <p:nvPr/>
          </p:nvSpPr>
          <p:spPr bwMode="auto">
            <a:xfrm rot="3690139">
              <a:off x="216" y="3029"/>
              <a:ext cx="165" cy="307"/>
            </a:xfrm>
            <a:custGeom>
              <a:avLst/>
              <a:gdLst>
                <a:gd name="T0" fmla="*/ 0 w 1327"/>
                <a:gd name="T1" fmla="*/ 307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7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 20"/>
            <p:cNvSpPr>
              <a:spLocks/>
            </p:cNvSpPr>
            <p:nvPr/>
          </p:nvSpPr>
          <p:spPr bwMode="auto">
            <a:xfrm rot="3600000">
              <a:off x="570" y="3024"/>
              <a:ext cx="165" cy="306"/>
            </a:xfrm>
            <a:custGeom>
              <a:avLst/>
              <a:gdLst>
                <a:gd name="T0" fmla="*/ 0 w 1327"/>
                <a:gd name="T1" fmla="*/ 306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6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 Box 22"/>
            <p:cNvSpPr txBox="1">
              <a:spLocks noChangeArrowheads="1"/>
            </p:cNvSpPr>
            <p:nvPr/>
          </p:nvSpPr>
          <p:spPr bwMode="auto">
            <a:xfrm>
              <a:off x="274" y="2847"/>
              <a:ext cx="392" cy="25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66751" tIns="33376" rIns="66751" bIns="33376">
              <a:spAutoFit/>
            </a:bodyPr>
            <a:lstStyle>
              <a:lvl1pPr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1pPr>
              <a:lvl2pPr marL="742950" indent="-28575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2pPr>
              <a:lvl3pPr marL="11430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3pPr>
              <a:lvl4pPr marL="16002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4pPr>
              <a:lvl5pPr marL="20574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10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smtClean="0">
                  <a:ln>
                    <a:noFill/>
                  </a:ln>
                  <a:solidFill>
                    <a:srgbClr val="032B91"/>
                  </a:solidFill>
                  <a:effectLst/>
                  <a:uLnTx/>
                  <a:uFillTx/>
                  <a:latin typeface="Arial" charset="0"/>
                </a:rPr>
                <a:t>BK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1488DB"/>
                  </a:solidFill>
                  <a:effectLst/>
                  <a:uLnTx/>
                  <a:uFillTx/>
                  <a:latin typeface="Arial" charset="0"/>
                </a:rPr>
                <a:t>TP.HCM</a:t>
              </a:r>
              <a:endPara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1488DB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  <p:sp>
        <p:nvSpPr>
          <p:cNvPr id="13" name="Footer Placeholder 4"/>
          <p:cNvSpPr txBox="1">
            <a:spLocks/>
          </p:cNvSpPr>
          <p:nvPr userDrawn="1"/>
        </p:nvSpPr>
        <p:spPr bwMode="auto">
          <a:xfrm>
            <a:off x="2819400" y="6400800"/>
            <a:ext cx="441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defRPr sz="1400" b="1" i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E85455-BA30-46FF-B565-7E069C727F6A}" type="datetime1">
              <a:rPr lang="en-US" smtClean="0"/>
              <a:t>5/15/2017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5C8676-16B1-4294-BE07-5E7402A6697A}" type="datetime1">
              <a:rPr lang="en-US" smtClean="0"/>
              <a:t>5/15/2017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BE5E84-FE21-4D70-81CF-F5D8201565A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0A0D2B-30AD-4CD2-AE1B-A5CF9E619AB0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6138" y="44450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6138" y="1125538"/>
            <a:ext cx="8229600" cy="518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83978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0631" y="6524626"/>
            <a:ext cx="3921369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1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fld id="{38C987D8-D02F-4AF3-9C2E-9BAD80FFA004}" type="datetime1">
              <a:rPr lang="en-US" smtClean="0"/>
              <a:t>5/15/2017</a:t>
            </a:fld>
            <a:endParaRPr lang="en-US"/>
          </a:p>
        </p:txBody>
      </p:sp>
      <p:pic>
        <p:nvPicPr>
          <p:cNvPr id="1031" name="Picture 16" descr="New_BK_HCM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83971" grpId="0" build="p">
        <p:tmplLst>
          <p:tmpl lvl="1">
            <p:tnLst>
              <p:par>
                <p:cTn presetID="1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C7D50-BCA0-44D4-A383-9E3EAC24EB2F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7111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ltGray">
          <a:xfrm>
            <a:off x="381794" y="497991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ltGray">
          <a:xfrm>
            <a:off x="764381" y="49799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ltGray">
          <a:xfrm>
            <a:off x="505619" y="920266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ltGray">
          <a:xfrm>
            <a:off x="875506" y="92026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ltGray">
          <a:xfrm>
            <a:off x="91281" y="84724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gray">
          <a:xfrm>
            <a:off x="726281" y="390041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gray">
          <a:xfrm>
            <a:off x="407194" y="1180616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77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470991"/>
            <a:ext cx="7772400" cy="4661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fld id="{66E5EC74-80AE-4664-B0A9-12FFF0B3DC1F}" type="datetime1">
              <a:rPr lang="en-US" smtClean="0"/>
              <a:t>5/15/2017</a:t>
            </a:fld>
            <a:endParaRPr lang="en-US"/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r>
              <a:rPr lang="en-US" smtClean="0"/>
              <a:t>Faculty of Computer Science &amp; Engineering</a:t>
            </a:r>
            <a:endParaRPr lang="en-US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50E144F-35F2-4001-89DB-4F67F07C56F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2400"/>
            <a:ext cx="7772400" cy="1470025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Computer Architecture</a:t>
            </a:r>
            <a:b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i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Computer Science &amp; Engineering</a:t>
            </a:r>
            <a:endParaRPr lang="vi-VN" sz="24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57400"/>
            <a:ext cx="6400800" cy="914400"/>
          </a:xfrm>
        </p:spPr>
        <p:txBody>
          <a:bodyPr/>
          <a:lstStyle/>
          <a:p>
            <a:pPr algn="l"/>
            <a:r>
              <a:rPr lang="en-US" sz="4400" b="1" smtClean="0">
                <a:solidFill>
                  <a:schemeClr val="accent6">
                    <a:lumMod val="75000"/>
                  </a:schemeClr>
                </a:solidFill>
              </a:rPr>
              <a:t>Chương </a:t>
            </a:r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5</a:t>
            </a: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vi-VN" sz="4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1524000" y="3429000"/>
            <a:ext cx="6400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endParaRPr lang="vi-VN" sz="5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 bwMode="auto">
          <a:xfrm>
            <a:off x="810491" y="3124200"/>
            <a:ext cx="7315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buClr>
                <a:srgbClr val="ECEAAC"/>
              </a:buClr>
              <a:buSzPct val="60000"/>
            </a:pPr>
            <a:r>
              <a:rPr lang="en-AU" sz="5400" b="1" kern="0" smtClean="0">
                <a:solidFill>
                  <a:schemeClr val="accent5">
                    <a:lumMod val="25000"/>
                  </a:schemeClr>
                </a:solidFill>
              </a:rPr>
              <a:t>Tổ chức và</a:t>
            </a:r>
          </a:p>
          <a:p>
            <a:pPr lvl="0">
              <a:buClr>
                <a:srgbClr val="ECEAAC"/>
              </a:buClr>
              <a:buSzPct val="60000"/>
            </a:pPr>
            <a:r>
              <a:rPr lang="en-AU" sz="5400" b="1" kern="0" smtClean="0">
                <a:solidFill>
                  <a:schemeClr val="accent5">
                    <a:lumMod val="25000"/>
                  </a:schemeClr>
                </a:solidFill>
              </a:rPr>
              <a:t>Cấu trúc bộ nhớ</a:t>
            </a:r>
            <a:endParaRPr lang="en-AU" sz="5400" b="1" kern="0" dirty="0">
              <a:solidFill>
                <a:schemeClr val="accent5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0379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94490-03D1-48F8-9A39-3781A1BC9816}" type="datetime1">
              <a:rPr lang="en-US" smtClean="0"/>
              <a:t>5/15/2017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</a:t>
            </a:fld>
            <a:endParaRPr lang="vi-V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Các loại Bộ nhớ </a:t>
            </a:r>
            <a:r>
              <a:rPr lang="en-US" sz="4000" b="1" smtClean="0">
                <a:solidFill>
                  <a:srgbClr val="0039A6"/>
                </a:solidFill>
                <a:latin typeface="Arial"/>
              </a:rPr>
              <a:t>(Công nghệ)</a:t>
            </a:r>
            <a:endParaRPr lang="en-US" sz="4000" b="1" dirty="0">
              <a:latin typeface="+mn-lt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idx="1"/>
          </p:nvPr>
        </p:nvSpPr>
        <p:spPr>
          <a:xfrm>
            <a:off x="1182688" y="1290881"/>
            <a:ext cx="7772400" cy="4957519"/>
          </a:xfrm>
        </p:spPr>
        <p:txBody>
          <a:bodyPr/>
          <a:lstStyle/>
          <a:p>
            <a:r>
              <a:rPr lang="en-US" smtClean="0"/>
              <a:t>RAM tĩnh (SRAM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0.5ns – 2.5ns, $2000 – $5000 per GB</a:t>
            </a:r>
          </a:p>
          <a:p>
            <a:r>
              <a:rPr lang="en-US" smtClean="0"/>
              <a:t>RAM động (DRAM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50ns – 70ns, $20 – $75 per GB</a:t>
            </a:r>
          </a:p>
          <a:p>
            <a:r>
              <a:rPr lang="en-US" smtClean="0"/>
              <a:t>Đĩa từ (Magnetic disk)</a:t>
            </a:r>
            <a:endParaRPr lang="en-US" dirty="0"/>
          </a:p>
          <a:p>
            <a:pPr lvl="1"/>
            <a:r>
              <a:rPr lang="en-US" dirty="0"/>
              <a:t>5ms – 20ms, $0.20 – $2 per GB</a:t>
            </a:r>
          </a:p>
          <a:p>
            <a:r>
              <a:rPr lang="en-US" smtClean="0"/>
              <a:t>Bộ nhớ lý tưởng</a:t>
            </a:r>
            <a:endParaRPr lang="en-US" dirty="0"/>
          </a:p>
          <a:p>
            <a:pPr lvl="1"/>
            <a:r>
              <a:rPr lang="en-US" smtClean="0"/>
              <a:t>Thời gian truy xuất theo SRAM</a:t>
            </a:r>
            <a:endParaRPr lang="en-US" dirty="0"/>
          </a:p>
          <a:p>
            <a:pPr lvl="1"/>
            <a:r>
              <a:rPr lang="en-US" smtClean="0"/>
              <a:t>Dung lượng &amp; Giá thành/GB theo đĩa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9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Tính cục bộ (Locality)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838200" y="1371600"/>
            <a:ext cx="8116888" cy="4800600"/>
          </a:xfrm>
        </p:spPr>
        <p:txBody>
          <a:bodyPr/>
          <a:lstStyle/>
          <a:p>
            <a:r>
              <a:rPr lang="en-US" sz="2800" smtClean="0"/>
              <a:t>Chương trình truy cập một vùng nhỏ không gian bộ nhớ</a:t>
            </a:r>
            <a:endParaRPr lang="en-US" sz="2800" dirty="0"/>
          </a:p>
          <a:p>
            <a:r>
              <a:rPr lang="en-US" sz="2800" smtClean="0"/>
              <a:t>Cục bộ về thời gian (Temporal Locality)</a:t>
            </a:r>
            <a:endParaRPr lang="en-US" sz="2800" dirty="0"/>
          </a:p>
          <a:p>
            <a:pPr lvl="1"/>
            <a:r>
              <a:rPr lang="en-US" sz="2400" smtClean="0"/>
              <a:t>Những phần tử vừa được tham chiếu có xu hướng được tham chiếu lại trong tương lai gần</a:t>
            </a:r>
            <a:endParaRPr lang="en-US" sz="2400" dirty="0"/>
          </a:p>
          <a:p>
            <a:pPr lvl="1"/>
            <a:r>
              <a:rPr lang="en-US" sz="2400" smtClean="0"/>
              <a:t>Ví dụ: các lệnh trong 1 vòng lặp, các biến quy nạp</a:t>
            </a:r>
            <a:endParaRPr lang="en-US" sz="2400" dirty="0"/>
          </a:p>
          <a:p>
            <a:r>
              <a:rPr lang="en-US" sz="2800" smtClean="0"/>
              <a:t>Cục bộ về không gian (Spatial Locality)</a:t>
            </a:r>
            <a:endParaRPr lang="en-US" sz="2800" dirty="0"/>
          </a:p>
          <a:p>
            <a:pPr lvl="1"/>
            <a:r>
              <a:rPr lang="en-US" sz="2400" smtClean="0"/>
              <a:t>Những phần tử ở gần những phần tử vừa được tham chiếu có xu hướng được tham chiếu lại trong tương lai gần</a:t>
            </a:r>
            <a:r>
              <a:rPr lang="en-US" sz="2400"/>
              <a:t> </a:t>
            </a:r>
            <a:r>
              <a:rPr lang="en-US" sz="2400" smtClean="0">
                <a:sym typeface="Wingdings" pitchFamily="2" charset="2"/>
              </a:rPr>
              <a:t> </a:t>
            </a:r>
            <a:r>
              <a:rPr lang="en-US" sz="2400" smtClean="0"/>
              <a:t>Ví dụ: truy cập lệnh trong 1 basic block, dữ liệu mảng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3321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Tận dụng lợi thế về cục bộ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8305800" cy="4648200"/>
          </a:xfrm>
        </p:spPr>
        <p:txBody>
          <a:bodyPr/>
          <a:lstStyle/>
          <a:p>
            <a:r>
              <a:rPr lang="en-US" smtClean="0"/>
              <a:t>Tổ chức phân tầng bộ nhớ</a:t>
            </a:r>
            <a:endParaRPr lang="en-US" dirty="0"/>
          </a:p>
          <a:p>
            <a:r>
              <a:rPr lang="en-US" smtClean="0"/>
              <a:t>Lưu trữ mọi thứ trên đĩa</a:t>
            </a:r>
            <a:endParaRPr lang="en-US" dirty="0"/>
          </a:p>
          <a:p>
            <a:r>
              <a:rPr lang="en-US" smtClean="0"/>
              <a:t>Chỉ nạp vào bộ nhớ Chính (DRAM) 1 phần đang sử dụng từ đĩa</a:t>
            </a:r>
          </a:p>
          <a:p>
            <a:r>
              <a:rPr lang="en-US" smtClean="0"/>
              <a:t>Chỉ nạp vào bộ nhớ CACHE (SRAM) 1 phần đang truy cập ở bộ nhớ chính</a:t>
            </a:r>
            <a:endParaRPr lang="en-US" dirty="0"/>
          </a:p>
          <a:p>
            <a:pPr lvl="1"/>
            <a:r>
              <a:rPr lang="en-US" smtClean="0"/>
              <a:t>Bộ nhớ Cache là bộ nhớ mà CPU truy cập trực tiếp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98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Các lớp tổ chức của bộ nhớ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</a:t>
            </a:fld>
            <a:endParaRPr lang="vi-VN"/>
          </a:p>
        </p:txBody>
      </p:sp>
      <p:pic>
        <p:nvPicPr>
          <p:cNvPr id="7" name="Picture 6" descr="f05-02-P37449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3216275" cy="367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3673475" y="1219200"/>
            <a:ext cx="5281613" cy="5105399"/>
          </a:xfrm>
        </p:spPr>
        <p:txBody>
          <a:bodyPr/>
          <a:lstStyle/>
          <a:p>
            <a:r>
              <a:rPr lang="en-US" sz="2400" smtClean="0"/>
              <a:t>Khối (Block=aka </a:t>
            </a:r>
            <a:r>
              <a:rPr lang="en-US" sz="2400" dirty="0"/>
              <a:t>line</a:t>
            </a:r>
            <a:r>
              <a:rPr lang="en-US" sz="2400"/>
              <a:t>): </a:t>
            </a:r>
            <a:r>
              <a:rPr lang="en-US" sz="2400" smtClean="0"/>
              <a:t>Đơn vị sao chép</a:t>
            </a:r>
          </a:p>
          <a:p>
            <a:pPr lvl="1"/>
            <a:r>
              <a:rPr lang="en-US" sz="2000" smtClean="0"/>
              <a:t>Có thể gồm nhiều từ (words)</a:t>
            </a:r>
          </a:p>
          <a:p>
            <a:r>
              <a:rPr lang="en-US" sz="2400" smtClean="0"/>
              <a:t>Nếu dữ liệu truy cập hiện diện</a:t>
            </a:r>
            <a:endParaRPr lang="en-US" sz="2400" dirty="0"/>
          </a:p>
          <a:p>
            <a:pPr lvl="1"/>
            <a:r>
              <a:rPr lang="en-US" sz="2000" smtClean="0"/>
              <a:t>Trúng(hit): đúng dữ liệu cần truy xuất</a:t>
            </a:r>
            <a:endParaRPr lang="en-US" sz="2000" dirty="0"/>
          </a:p>
          <a:p>
            <a:pPr lvl="2"/>
            <a:r>
              <a:rPr lang="en-US" sz="1800" smtClean="0"/>
              <a:t>Tỷ lệ trúng (hit rate): </a:t>
            </a:r>
            <a:r>
              <a:rPr lang="en-US" sz="1800" dirty="0"/>
              <a:t>hits/accesses</a:t>
            </a:r>
          </a:p>
          <a:p>
            <a:r>
              <a:rPr lang="en-US" sz="2400" smtClean="0"/>
              <a:t>Nếu dữ liệu truy cập không hiện diện</a:t>
            </a:r>
            <a:endParaRPr lang="en-US" sz="2400" dirty="0"/>
          </a:p>
          <a:p>
            <a:pPr lvl="1"/>
            <a:r>
              <a:rPr lang="en-US" sz="2000" smtClean="0"/>
              <a:t>Trật (miss): khối chứa dữ liệu cần được nạp từ lớp thấp hơn</a:t>
            </a:r>
            <a:endParaRPr lang="en-US" sz="2000" dirty="0"/>
          </a:p>
          <a:p>
            <a:pPr lvl="2"/>
            <a:r>
              <a:rPr lang="en-US" sz="1800" smtClean="0"/>
              <a:t>Thời gian: giá phải trả để giải quyết (Miss penalty)</a:t>
            </a:r>
            <a:endParaRPr lang="en-US" sz="1800" dirty="0"/>
          </a:p>
          <a:p>
            <a:pPr lvl="2"/>
            <a:r>
              <a:rPr lang="en-US" sz="1800" smtClean="0"/>
              <a:t>Tỷ lệ sai (miss rate): </a:t>
            </a:r>
            <a:r>
              <a:rPr lang="en-US" sz="1800" dirty="0"/>
              <a:t>misses/accesses</a:t>
            </a:r>
            <a:br>
              <a:rPr lang="en-US" sz="1800" dirty="0"/>
            </a:br>
            <a:r>
              <a:rPr lang="en-US" sz="1800"/>
              <a:t>= </a:t>
            </a:r>
            <a:r>
              <a:rPr lang="en-US" sz="1800" smtClean="0"/>
              <a:t>(1 </a:t>
            </a:r>
            <a:r>
              <a:rPr lang="en-US" sz="1800" dirty="0"/>
              <a:t>– </a:t>
            </a:r>
            <a:r>
              <a:rPr lang="en-US" sz="1800"/>
              <a:t>hit </a:t>
            </a:r>
            <a:r>
              <a:rPr lang="en-US" sz="1800" smtClean="0"/>
              <a:t>ratio)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8840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Bộ nhớ đệm (Cache)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</a:t>
            </a:fld>
            <a:endParaRPr lang="vi-VN"/>
          </a:p>
        </p:txBody>
      </p:sp>
      <p:sp>
        <p:nvSpPr>
          <p:cNvPr id="7" name="Rectangle 8"/>
          <p:cNvSpPr>
            <a:spLocks noGrp="1" noChangeArrowheads="1"/>
          </p:cNvSpPr>
          <p:nvPr>
            <p:ph idx="1"/>
          </p:nvPr>
        </p:nvSpPr>
        <p:spPr>
          <a:xfrm>
            <a:off x="609600" y="1219200"/>
            <a:ext cx="8305800" cy="5010150"/>
          </a:xfrm>
        </p:spPr>
        <p:txBody>
          <a:bodyPr/>
          <a:lstStyle/>
          <a:p>
            <a:pPr lvl="1"/>
            <a:r>
              <a:rPr lang="en-US" smtClean="0"/>
              <a:t>Trong cấu trúc lớp của tổ chức hệ thống bộ nhớ, Cache là lớp trực tiếp với CPU</a:t>
            </a:r>
            <a:endParaRPr lang="en-US" dirty="0"/>
          </a:p>
          <a:p>
            <a:pPr lvl="1"/>
            <a:r>
              <a:rPr lang="en-US" smtClean="0"/>
              <a:t>Giả sử truy cập 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baseline="-25000" dirty="0"/>
              <a:t>–1</a:t>
            </a:r>
            <a:r>
              <a:rPr lang="en-US" dirty="0"/>
              <a:t>,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endParaRPr lang="en-AU" baseline="-25000" dirty="0"/>
          </a:p>
        </p:txBody>
      </p:sp>
      <p:pic>
        <p:nvPicPr>
          <p:cNvPr id="8" name="Picture 10" descr="f05-04-P37449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743200"/>
            <a:ext cx="3743325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213350" y="3048000"/>
            <a:ext cx="35496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2060"/>
              </a:buClr>
              <a:buSzPct val="60000"/>
              <a:buFont typeface="Wingdings" pitchFamily="2" charset="2"/>
              <a:buChar char="Ø"/>
              <a:tabLst/>
              <a:defRPr/>
            </a:pP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Làm</a:t>
            </a: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sao biết được dữ liệu cần truy cập có trong Cache?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2060"/>
              </a:buClr>
              <a:buSzPct val="60000"/>
              <a:buFont typeface="Wingdings" pitchFamily="2" charset="2"/>
              <a:buChar char="Ø"/>
              <a:tabLst/>
              <a:defRPr/>
            </a:pPr>
            <a:r>
              <a:rPr lang="en-US" sz="2800" kern="0" smtClean="0">
                <a:solidFill>
                  <a:sysClr val="windowText" lastClr="000000"/>
                </a:solidFill>
              </a:rPr>
              <a:t>Nếu có: Ở đâu</a:t>
            </a: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?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8306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Ánh xạ trực tiếp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7</a:t>
            </a:fld>
            <a:endParaRPr lang="vi-VN"/>
          </a:p>
        </p:txBody>
      </p:sp>
      <p:sp>
        <p:nvSpPr>
          <p:cNvPr id="7" name="Rectangle 7"/>
          <p:cNvSpPr>
            <a:spLocks noGrp="1" noChangeArrowheads="1"/>
          </p:cNvSpPr>
          <p:nvPr>
            <p:ph idx="1"/>
          </p:nvPr>
        </p:nvSpPr>
        <p:spPr>
          <a:xfrm>
            <a:off x="1143000" y="1295400"/>
            <a:ext cx="7772400" cy="4661521"/>
          </a:xfrm>
        </p:spPr>
        <p:txBody>
          <a:bodyPr/>
          <a:lstStyle/>
          <a:p>
            <a:r>
              <a:rPr lang="en-US" smtClean="0"/>
              <a:t>Vị trí xác định qua địa chỉ</a:t>
            </a:r>
            <a:endParaRPr lang="en-US" dirty="0"/>
          </a:p>
          <a:p>
            <a:r>
              <a:rPr lang="en-US" smtClean="0"/>
              <a:t>Ánh xạ trực tiếp: Chỉ có 1 lực chọn</a:t>
            </a:r>
            <a:endParaRPr lang="en-US" dirty="0"/>
          </a:p>
          <a:p>
            <a:pPr lvl="1"/>
            <a:r>
              <a:rPr lang="en-US" dirty="0"/>
              <a:t>(Block address) modulo (#Blocks in cache)</a:t>
            </a:r>
            <a:endParaRPr lang="en-AU" dirty="0"/>
          </a:p>
        </p:txBody>
      </p:sp>
      <p:pic>
        <p:nvPicPr>
          <p:cNvPr id="8" name="Picture 9" descr="f05-05-P37449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922588"/>
            <a:ext cx="4692650" cy="338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943600" y="3356768"/>
            <a:ext cx="2803525" cy="2815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Chỉ</a:t>
            </a: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số khối (</a:t>
            </a: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#Blocks) là</a:t>
            </a: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lũy thừa của 2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Sử</a:t>
            </a: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dụng các bit thấp của địa chỉ</a:t>
            </a:r>
            <a:endParaRPr kumimoji="0" lang="en-AU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3360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Nhãn (Tags) &amp; Bit hợp lệ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8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Làm sao có thể biết được một khối nào đó tồn tại trong cache?</a:t>
            </a:r>
          </a:p>
          <a:p>
            <a:pPr lvl="1"/>
            <a:r>
              <a:rPr lang="en-US" smtClean="0"/>
              <a:t>Chứa cả địa chỉ khối và dữ liệu</a:t>
            </a:r>
          </a:p>
          <a:p>
            <a:pPr lvl="1"/>
            <a:r>
              <a:rPr lang="en-US" smtClean="0"/>
              <a:t>Thực tế, chỉ cần những bit cao</a:t>
            </a:r>
            <a:endParaRPr lang="en-US"/>
          </a:p>
          <a:p>
            <a:pPr lvl="1"/>
            <a:r>
              <a:rPr lang="en-US" smtClean="0"/>
              <a:t>Gọi là nhãn (tag)</a:t>
            </a:r>
            <a:endParaRPr lang="en-US"/>
          </a:p>
          <a:p>
            <a:r>
              <a:rPr lang="en-US" smtClean="0"/>
              <a:t>Nếu dữ liệu không hiện diện thì</a:t>
            </a:r>
          </a:p>
          <a:p>
            <a:pPr lvl="1"/>
            <a:r>
              <a:rPr lang="en-US" smtClean="0"/>
              <a:t>Valid bit: 1 = hiện diện, 0 = không hiện diện</a:t>
            </a:r>
          </a:p>
          <a:p>
            <a:pPr lvl="1"/>
            <a:r>
              <a:rPr lang="en-US" smtClean="0"/>
              <a:t>Khởi động ban đầu là không hiện diện (0)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70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 Cache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9</a:t>
            </a:fld>
            <a:endParaRPr lang="vi-VN"/>
          </a:p>
        </p:txBody>
      </p:sp>
      <p:sp>
        <p:nvSpPr>
          <p:cNvPr id="7" name="Rectangle 57"/>
          <p:cNvSpPr>
            <a:spLocks noGrp="1" noChangeArrowheads="1"/>
          </p:cNvSpPr>
          <p:nvPr>
            <p:ph idx="1"/>
          </p:nvPr>
        </p:nvSpPr>
        <p:spPr>
          <a:xfrm>
            <a:off x="1168834" y="1290882"/>
            <a:ext cx="7772400" cy="4661521"/>
          </a:xfrm>
        </p:spPr>
        <p:txBody>
          <a:bodyPr/>
          <a:lstStyle/>
          <a:p>
            <a:r>
              <a:rPr lang="en-US" dirty="0"/>
              <a:t>8-blocks, 1 word/block</a:t>
            </a:r>
            <a:r>
              <a:rPr lang="en-US"/>
              <a:t>, </a:t>
            </a:r>
            <a:r>
              <a:rPr lang="en-US" smtClean="0"/>
              <a:t>ánh xạ trực tiếp</a:t>
            </a:r>
            <a:endParaRPr lang="en-US" dirty="0"/>
          </a:p>
          <a:p>
            <a:r>
              <a:rPr lang="en-US" smtClean="0"/>
              <a:t>Trạng thái ban đầu</a:t>
            </a:r>
            <a:endParaRPr lang="en-AU" dirty="0"/>
          </a:p>
        </p:txBody>
      </p:sp>
      <p:graphicFrame>
        <p:nvGraphicFramePr>
          <p:cNvPr id="8" name="Group 4"/>
          <p:cNvGraphicFramePr>
            <a:graphicFrameLocks noGrp="1"/>
          </p:cNvGraphicFramePr>
          <p:nvPr/>
        </p:nvGraphicFramePr>
        <p:xfrm>
          <a:off x="1547813" y="2924175"/>
          <a:ext cx="6096000" cy="3291840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60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 (tt.)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10</a:t>
            </a:fld>
            <a:endParaRPr lang="vi-VN"/>
          </a:p>
        </p:txBody>
      </p:sp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857385"/>
              </p:ext>
            </p:extLst>
          </p:nvPr>
        </p:nvGraphicFramePr>
        <p:xfrm>
          <a:off x="1676400" y="2743200"/>
          <a:ext cx="6096000" cy="3291840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1905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077662"/>
              </p:ext>
            </p:extLst>
          </p:nvPr>
        </p:nvGraphicFramePr>
        <p:xfrm>
          <a:off x="1600200" y="1828800"/>
          <a:ext cx="6072187" cy="731520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28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10 110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4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 (tt.)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11</a:t>
            </a:fld>
            <a:endParaRPr lang="vi-V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71600"/>
            <a:ext cx="6096528" cy="859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667000"/>
            <a:ext cx="6151563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209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39A6"/>
                </a:solidFill>
                <a:latin typeface="Arial"/>
              </a:rPr>
              <a:t>Ví dụ (tt.)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12</a:t>
            </a:fld>
            <a:endParaRPr lang="vi-VN"/>
          </a:p>
        </p:txBody>
      </p:sp>
      <p:graphicFrame>
        <p:nvGraphicFramePr>
          <p:cNvPr id="7" name="Group 3"/>
          <p:cNvGraphicFramePr>
            <a:graphicFrameLocks noGrp="1"/>
          </p:cNvGraphicFramePr>
          <p:nvPr/>
        </p:nvGraphicFramePr>
        <p:xfrm>
          <a:off x="1547813" y="2924175"/>
          <a:ext cx="6096000" cy="3291840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1905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Mem[11010]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55"/>
          <p:cNvGraphicFramePr>
            <a:graphicFrameLocks noGrp="1"/>
          </p:cNvGraphicFramePr>
          <p:nvPr/>
        </p:nvGraphicFramePr>
        <p:xfrm>
          <a:off x="1547813" y="1320800"/>
          <a:ext cx="6072187" cy="1097280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28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10 110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11 010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71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39A6"/>
                </a:solidFill>
                <a:latin typeface="Arial"/>
              </a:rPr>
              <a:t>Ví dụ (tt.)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13</a:t>
            </a:fld>
            <a:endParaRPr lang="vi-VN"/>
          </a:p>
        </p:txBody>
      </p:sp>
      <p:graphicFrame>
        <p:nvGraphicFramePr>
          <p:cNvPr id="7" name="Group 3"/>
          <p:cNvGraphicFramePr>
            <a:graphicFrameLocks noGrp="1"/>
          </p:cNvGraphicFramePr>
          <p:nvPr/>
        </p:nvGraphicFramePr>
        <p:xfrm>
          <a:off x="1547813" y="2924175"/>
          <a:ext cx="6096000" cy="3291840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1905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Mem[10000]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Mem[11010]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Mem[00011]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55"/>
          <p:cNvGraphicFramePr>
            <a:graphicFrameLocks noGrp="1"/>
          </p:cNvGraphicFramePr>
          <p:nvPr/>
        </p:nvGraphicFramePr>
        <p:xfrm>
          <a:off x="1547813" y="1320800"/>
          <a:ext cx="6072187" cy="1463040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28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10 000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00 011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10 000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69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39A6"/>
                </a:solidFill>
                <a:latin typeface="Arial"/>
              </a:rPr>
              <a:t>Ví dụ (tt.)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14</a:t>
            </a:fld>
            <a:endParaRPr lang="vi-VN"/>
          </a:p>
        </p:txBody>
      </p:sp>
      <p:graphicFrame>
        <p:nvGraphicFramePr>
          <p:cNvPr id="7" name="Group 3"/>
          <p:cNvGraphicFramePr>
            <a:graphicFrameLocks noGrp="1"/>
          </p:cNvGraphicFramePr>
          <p:nvPr/>
        </p:nvGraphicFramePr>
        <p:xfrm>
          <a:off x="1547813" y="2924175"/>
          <a:ext cx="6096000" cy="3291840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1905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Mem[10000]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Mem[10010]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Mem[00011]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55"/>
          <p:cNvGraphicFramePr>
            <a:graphicFrameLocks noGrp="1"/>
          </p:cNvGraphicFramePr>
          <p:nvPr/>
        </p:nvGraphicFramePr>
        <p:xfrm>
          <a:off x="1547813" y="1320800"/>
          <a:ext cx="6072187" cy="731520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28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10 010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67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Chia nhỏ không gian  địa chỉ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15</a:t>
            </a:fld>
            <a:endParaRPr lang="vi-V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371600"/>
            <a:ext cx="4723730" cy="466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406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Ví dụ: Khối có kích thước lớn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16</a:t>
            </a:fld>
            <a:endParaRPr lang="vi-VN"/>
          </a:p>
        </p:txBody>
      </p:sp>
      <p:sp>
        <p:nvSpPr>
          <p:cNvPr id="7" name="Rectangle 17"/>
          <p:cNvSpPr>
            <a:spLocks noGrp="1" noChangeArrowheads="1"/>
          </p:cNvSpPr>
          <p:nvPr>
            <p:ph idx="1"/>
          </p:nvPr>
        </p:nvSpPr>
        <p:spPr>
          <a:xfrm>
            <a:off x="1143000" y="1295400"/>
            <a:ext cx="7772400" cy="4661521"/>
          </a:xfrm>
        </p:spPr>
        <p:txBody>
          <a:bodyPr/>
          <a:lstStyle/>
          <a:p>
            <a:r>
              <a:rPr lang="en-US" dirty="0"/>
              <a:t>64 blocks, 16 bytes/block</a:t>
            </a:r>
          </a:p>
          <a:p>
            <a:pPr lvl="1"/>
            <a:r>
              <a:rPr lang="en-US" smtClean="0"/>
              <a:t>Địa chỉ 1200 sẽ ánh xạ vào khối nào?</a:t>
            </a:r>
          </a:p>
          <a:p>
            <a:r>
              <a:rPr lang="en-US" smtClean="0"/>
              <a:t>Địa chỉ Block = </a:t>
            </a: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</a:t>
            </a:r>
            <a:r>
              <a:rPr lang="en-US" smtClean="0"/>
              <a:t>1200/16</a:t>
            </a:r>
            <a:r>
              <a:rPr lang="en-US" smtClean="0">
                <a:sym typeface="Symbol" pitchFamily="18" charset="2"/>
              </a:rPr>
              <a:t></a:t>
            </a:r>
            <a:r>
              <a:rPr lang="en-US" smtClean="0"/>
              <a:t> = 75</a:t>
            </a:r>
          </a:p>
          <a:p>
            <a:r>
              <a:rPr lang="en-US" smtClean="0"/>
              <a:t>Chỉ số Block </a:t>
            </a:r>
            <a:r>
              <a:rPr lang="en-US" dirty="0"/>
              <a:t>= 75 modulo 64 = 11</a:t>
            </a:r>
            <a:endParaRPr lang="en-AU" dirty="0"/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1619250" y="4221163"/>
            <a:ext cx="5226050" cy="1104900"/>
            <a:chOff x="1228" y="2755"/>
            <a:chExt cx="3292" cy="696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1247" y="2976"/>
              <a:ext cx="1724" cy="27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Tag</a:t>
              </a:r>
              <a:endParaRPr kumimoji="0" lang="en-AU" sz="2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2971" y="2976"/>
              <a:ext cx="862" cy="27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Index</a:t>
              </a:r>
              <a:endParaRPr kumimoji="0" lang="en-AU" sz="2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3833" y="2976"/>
              <a:ext cx="635" cy="27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Offset</a:t>
              </a:r>
              <a:endParaRPr kumimoji="0" lang="en-AU" sz="2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4324" y="275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0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>
              <a:off x="3825" y="275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3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3602" y="275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4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2963" y="275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9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2740" y="2755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10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1228" y="2755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31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3919" y="3220"/>
              <a:ext cx="4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4 bits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3162" y="3220"/>
              <a:ext cx="4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6 bits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1851" y="3220"/>
              <a:ext cx="5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22 bits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327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Nhận xét về kích thước khối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17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4572000" y="1676400"/>
            <a:ext cx="4191000" cy="44196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000" smtClean="0"/>
              <a:t>Kích thước khối lớn: giảm “tỷ lệ trật”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sz="2000" smtClean="0"/>
              <a:t>Do cục bộ không gian</a:t>
            </a:r>
            <a:endParaRPr lang="en-US" sz="2000" dirty="0"/>
          </a:p>
          <a:p>
            <a:pPr>
              <a:spcBef>
                <a:spcPts val="0"/>
              </a:spcBef>
            </a:pPr>
            <a:r>
              <a:rPr lang="en-US" sz="2000"/>
              <a:t>V</a:t>
            </a:r>
            <a:r>
              <a:rPr lang="en-US" sz="2000" smtClean="0"/>
              <a:t>ới Cache có kích thước cố định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sz="2000" smtClean="0"/>
              <a:t>Kích thước khối lớn </a:t>
            </a:r>
            <a:r>
              <a:rPr lang="en-US" sz="2000">
                <a:sym typeface="Symbol" pitchFamily="18" charset="2"/>
              </a:rPr>
              <a:t> </a:t>
            </a:r>
            <a:r>
              <a:rPr lang="en-US" sz="2000" smtClean="0">
                <a:sym typeface="Symbol" pitchFamily="18" charset="2"/>
              </a:rPr>
              <a:t>ít khối trong Cache</a:t>
            </a:r>
            <a:endParaRPr lang="en-US" sz="2000" dirty="0">
              <a:sym typeface="Symbol" pitchFamily="18" charset="2"/>
            </a:endParaRPr>
          </a:p>
          <a:p>
            <a:pPr lvl="2">
              <a:spcBef>
                <a:spcPts val="0"/>
              </a:spcBef>
            </a:pPr>
            <a:r>
              <a:rPr lang="en-US" sz="2000" smtClean="0">
                <a:sym typeface="Symbol" pitchFamily="18" charset="2"/>
              </a:rPr>
              <a:t> nhiều cạnh tranh  tăng tỷ lệ trượt</a:t>
            </a:r>
          </a:p>
          <a:p>
            <a:pPr lvl="1">
              <a:spcBef>
                <a:spcPts val="0"/>
              </a:spcBef>
            </a:pPr>
            <a:r>
              <a:rPr lang="en-US" sz="2000" smtClean="0">
                <a:sym typeface="Symbol" pitchFamily="18" charset="2"/>
              </a:rPr>
              <a:t>Kích thước khối lớn  ô nhiễm</a:t>
            </a:r>
          </a:p>
          <a:p>
            <a:pPr>
              <a:spcBef>
                <a:spcPts val="0"/>
              </a:spcBef>
            </a:pPr>
            <a:r>
              <a:rPr lang="en-US" sz="2000" smtClean="0">
                <a:sym typeface="Symbol" pitchFamily="18" charset="2"/>
              </a:rPr>
              <a:t>Phí tổn với kích thước khối lớn</a:t>
            </a:r>
            <a:endParaRPr lang="en-US" sz="2000" dirty="0">
              <a:sym typeface="Symbol" pitchFamily="18" charset="2"/>
            </a:endParaRPr>
          </a:p>
          <a:p>
            <a:pPr lvl="1">
              <a:spcBef>
                <a:spcPts val="0"/>
              </a:spcBef>
            </a:pPr>
            <a:r>
              <a:rPr lang="en-US" sz="2000" smtClean="0">
                <a:sym typeface="Symbol" pitchFamily="18" charset="2"/>
              </a:rPr>
              <a:t>không tận dụng được việc giảm tỷ lệ trượt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449897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899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Xử lý Cache </a:t>
            </a:r>
            <a:r>
              <a:rPr lang="en-US" b="1" dirty="0">
                <a:solidFill>
                  <a:srgbClr val="0039A6"/>
                </a:solidFill>
                <a:latin typeface="Arial"/>
              </a:rPr>
              <a:t>Misses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18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447799"/>
            <a:ext cx="8269288" cy="4684713"/>
          </a:xfrm>
        </p:spPr>
        <p:txBody>
          <a:bodyPr/>
          <a:lstStyle/>
          <a:p>
            <a:r>
              <a:rPr lang="en-US" smtClean="0"/>
              <a:t>CPU sẽ xử lý bình thường theo lộ trình, nếu thông tin có trong cache (cache hit)</a:t>
            </a:r>
            <a:endParaRPr lang="en-US" dirty="0"/>
          </a:p>
          <a:p>
            <a:r>
              <a:rPr lang="en-US" smtClean="0"/>
              <a:t>Nếu thông tin không có trong cache (mis)</a:t>
            </a:r>
            <a:endParaRPr lang="en-US" dirty="0"/>
          </a:p>
          <a:p>
            <a:pPr lvl="1"/>
            <a:r>
              <a:rPr lang="en-US" smtClean="0"/>
              <a:t>Lộ trình bị “khựng lại” (Stall </a:t>
            </a:r>
            <a:r>
              <a:rPr lang="en-US" dirty="0"/>
              <a:t>the </a:t>
            </a:r>
            <a:r>
              <a:rPr lang="en-US"/>
              <a:t>CPU </a:t>
            </a:r>
            <a:r>
              <a:rPr lang="en-US" smtClean="0"/>
              <a:t>pipeline)</a:t>
            </a:r>
            <a:endParaRPr lang="en-US" dirty="0"/>
          </a:p>
          <a:p>
            <a:pPr lvl="1"/>
            <a:r>
              <a:rPr lang="en-US" smtClean="0"/>
              <a:t>Nạp 1 khối từ lớp dưới</a:t>
            </a:r>
            <a:endParaRPr lang="en-US" dirty="0"/>
          </a:p>
          <a:p>
            <a:pPr lvl="1"/>
            <a:r>
              <a:rPr lang="en-US" smtClean="0"/>
              <a:t>Nếu đó là lệnh (Instruction </a:t>
            </a:r>
            <a:r>
              <a:rPr lang="en-US"/>
              <a:t>cache </a:t>
            </a:r>
            <a:r>
              <a:rPr lang="en-US" smtClean="0"/>
              <a:t>miss)</a:t>
            </a:r>
            <a:endParaRPr lang="en-US" dirty="0"/>
          </a:p>
          <a:p>
            <a:pPr lvl="2"/>
            <a:r>
              <a:rPr lang="en-US" smtClean="0"/>
              <a:t>Khởi động lại bước nạp lệnh (instruction fetch)</a:t>
            </a:r>
            <a:endParaRPr lang="en-US" dirty="0"/>
          </a:p>
          <a:p>
            <a:pPr lvl="1"/>
            <a:r>
              <a:rPr lang="en-US" smtClean="0"/>
              <a:t>Nếu là truy cập dữ liệu (Data </a:t>
            </a:r>
            <a:r>
              <a:rPr lang="en-US"/>
              <a:t>cache </a:t>
            </a:r>
            <a:r>
              <a:rPr lang="en-US" smtClean="0"/>
              <a:t>miss)</a:t>
            </a:r>
            <a:endParaRPr lang="en-US" dirty="0"/>
          </a:p>
          <a:p>
            <a:pPr lvl="2"/>
            <a:r>
              <a:rPr lang="en-US" smtClean="0"/>
              <a:t>Hoàn tất việc truy cập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6786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Xử lý Cache Misses (tt.)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19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447799"/>
            <a:ext cx="8269288" cy="4684713"/>
          </a:xfrm>
        </p:spPr>
        <p:txBody>
          <a:bodyPr/>
          <a:lstStyle/>
          <a:p>
            <a:r>
              <a:rPr lang="en-US" smtClean="0"/>
              <a:t>Các bước khi có Cache miss (lệnh)</a:t>
            </a:r>
            <a:endParaRPr lang="en-US" dirty="0"/>
          </a:p>
          <a:p>
            <a:pPr lvl="1"/>
            <a:r>
              <a:rPr lang="en-US" smtClean="0"/>
              <a:t>(PC-4) </a:t>
            </a:r>
            <a:r>
              <a:rPr lang="en-US" smtClean="0">
                <a:sym typeface="Wingdings" pitchFamily="2" charset="2"/>
              </a:rPr>
              <a:t> Mem</a:t>
            </a:r>
            <a:endParaRPr lang="en-US" dirty="0"/>
          </a:p>
          <a:p>
            <a:pPr lvl="1"/>
            <a:r>
              <a:rPr lang="en-US" smtClean="0"/>
              <a:t>Đ/khiển Mem thực hiện đọc &amp; đợi cho đến khi quá trình đọc kết thúc</a:t>
            </a:r>
            <a:endParaRPr lang="en-US" dirty="0"/>
          </a:p>
          <a:p>
            <a:pPr lvl="1"/>
            <a:r>
              <a:rPr lang="en-US" smtClean="0"/>
              <a:t>Ghi lên Cache: (1) Dữ liệu; (2) Tag = phần cao địa chỉ của lệnh; (3) V-bit gán lên 1</a:t>
            </a:r>
            <a:endParaRPr lang="en-US" dirty="0"/>
          </a:p>
          <a:p>
            <a:pPr lvl="1"/>
            <a:r>
              <a:rPr lang="en-US" smtClean="0"/>
              <a:t>Khởi động lại việc thực hiện lệnh: đọc lệnh (đã tồn tại trong cache)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63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“Write-Through”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20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9154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smtClean="0"/>
              <a:t>Khi ghi dữ liệu lên bộ nhớ, nếu tồn tại trong cache </a:t>
            </a:r>
            <a:r>
              <a:rPr lang="en-US" sz="2800" smtClean="0">
                <a:sym typeface="Wingdings" pitchFamily="2" charset="2"/>
              </a:rPr>
              <a:t> cập nhật khối dữ liệu trong cache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Tuy nhiên có thể xuất hiện bất đồng nhất dữ liệu trong cache và bộ nhớ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Write through</a:t>
            </a:r>
            <a:r>
              <a:rPr lang="en-US" sz="2800"/>
              <a:t>: </a:t>
            </a:r>
            <a:r>
              <a:rPr lang="en-US" sz="2800" smtClean="0"/>
              <a:t>đồng thời cập nhật luôn bộ nhớ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smtClean="0"/>
              <a:t>Thời gian ghi sẽ dài hơn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Ví dụ: nếu </a:t>
            </a:r>
            <a:r>
              <a:rPr lang="en-US" sz="2400" dirty="0"/>
              <a:t>CPI = 1, 10</a:t>
            </a:r>
            <a:r>
              <a:rPr lang="en-US" sz="2400"/>
              <a:t>% </a:t>
            </a:r>
            <a:r>
              <a:rPr lang="en-US" sz="2400" smtClean="0"/>
              <a:t>số lệnh là lệnh store (ghi bộ nhớ) và (100 chu kỳ/lệnh ghi bộ nhớ)</a:t>
            </a:r>
            <a:endParaRPr lang="en-US" sz="2400" dirty="0"/>
          </a:p>
          <a:p>
            <a:pPr lvl="2">
              <a:lnSpc>
                <a:spcPct val="90000"/>
              </a:lnSpc>
            </a:pPr>
            <a:r>
              <a:rPr lang="en-US" sz="2000"/>
              <a:t> </a:t>
            </a:r>
            <a:r>
              <a:rPr lang="en-US" sz="2000" smtClean="0"/>
              <a:t>CPI (thực tế) = </a:t>
            </a:r>
            <a:r>
              <a:rPr lang="en-US" sz="2000" dirty="0"/>
              <a:t>1 + 0.1×100 = 11</a:t>
            </a:r>
          </a:p>
          <a:p>
            <a:pPr>
              <a:lnSpc>
                <a:spcPct val="90000"/>
              </a:lnSpc>
            </a:pPr>
            <a:r>
              <a:rPr lang="en-US" sz="2800" smtClean="0"/>
              <a:t>Giải pháp: Ghi ra vùng đệm (buffer)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Dưới dạng hàng đợi ghi ra bô nhớ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/>
              <a:t>CPU </a:t>
            </a:r>
            <a:r>
              <a:rPr lang="en-US" sz="2400" smtClean="0"/>
              <a:t>tiếp tục ngay (khựng lại khi buffer đầy </a:t>
            </a:r>
            <a:r>
              <a:rPr lang="en-US" sz="2400" smtClean="0">
                <a:sym typeface="Wingdings" pitchFamily="2" charset="2"/>
              </a:rPr>
              <a:t> đợi)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2800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“Write-Back”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21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1371601"/>
            <a:ext cx="8421688" cy="4760912"/>
          </a:xfrm>
        </p:spPr>
        <p:txBody>
          <a:bodyPr/>
          <a:lstStyle/>
          <a:p>
            <a:r>
              <a:rPr lang="en-US" smtClean="0"/>
              <a:t>Phương án khác: giải quyết vấn đề bất đồng nhất dữ liệu khi “data-write hit”</a:t>
            </a:r>
            <a:endParaRPr lang="en-US" dirty="0"/>
          </a:p>
          <a:p>
            <a:pPr lvl="1"/>
            <a:r>
              <a:rPr lang="en-US" smtClean="0"/>
              <a:t>Theo dõi sự thay đổi, cập nhật khối cache (dirty block)</a:t>
            </a:r>
            <a:endParaRPr lang="en-US" dirty="0"/>
          </a:p>
          <a:p>
            <a:r>
              <a:rPr lang="en-US" smtClean="0"/>
              <a:t>Nếu khối cache thay đổi quá nhiều (dirty block)</a:t>
            </a:r>
            <a:endParaRPr lang="en-US" dirty="0"/>
          </a:p>
          <a:p>
            <a:pPr lvl="1"/>
            <a:r>
              <a:rPr lang="en-US" smtClean="0"/>
              <a:t>Cập nhật bộ nhớ</a:t>
            </a:r>
            <a:endParaRPr lang="en-US" dirty="0"/>
          </a:p>
          <a:p>
            <a:pPr lvl="1"/>
            <a:r>
              <a:rPr lang="en-US" smtClean="0"/>
              <a:t>Có thể ghi ra buffer để khối mới thay thế được đọc trước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029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Write Allocation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22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Xử lý khi có “write miss”?</a:t>
            </a:r>
            <a:endParaRPr lang="en-US" sz="2800"/>
          </a:p>
          <a:p>
            <a:r>
              <a:rPr lang="en-US" sz="2800" smtClean="0"/>
              <a:t>Trong trường hợp “write-through”, có 2 cách:</a:t>
            </a:r>
            <a:endParaRPr lang="en-US" sz="2800"/>
          </a:p>
          <a:p>
            <a:pPr marL="971550" lvl="1" indent="-514350">
              <a:buFont typeface="+mj-lt"/>
              <a:buAutoNum type="arabicParenR"/>
            </a:pPr>
            <a:r>
              <a:rPr lang="en-US" sz="2400" smtClean="0"/>
              <a:t>Xác định khối bị mis: Nạp từ bộ nhớ vào cache (gọi Write-allocate), sau đó cập nhật trên cache</a:t>
            </a:r>
            <a:endParaRPr lang="en-US" sz="2400"/>
          </a:p>
          <a:p>
            <a:pPr marL="971550" lvl="1" indent="-514350">
              <a:buFont typeface="+mj-lt"/>
              <a:buAutoNum type="arabicParenR"/>
            </a:pPr>
            <a:r>
              <a:rPr lang="en-US" sz="2400" smtClean="0"/>
              <a:t>Không cần xác định: cập nhật trực tiếp lên bộ nhớ (gọi No-write-allocate) mà không cần nạp vào cache</a:t>
            </a:r>
            <a:endParaRPr lang="en-US" sz="2400"/>
          </a:p>
          <a:p>
            <a:r>
              <a:rPr lang="en-US" sz="2800" smtClean="0"/>
              <a:t>Trong trường hợp “write-back”</a:t>
            </a:r>
            <a:endParaRPr lang="en-US" sz="2800"/>
          </a:p>
          <a:p>
            <a:pPr lvl="1"/>
            <a:r>
              <a:rPr lang="en-US" smtClean="0"/>
              <a:t>Thường là nạp khối từ bộ nhớ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466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b="1" smtClean="0">
                <a:solidFill>
                  <a:srgbClr val="0039A6"/>
                </a:solidFill>
                <a:latin typeface="Arial"/>
              </a:rPr>
              <a:t>Ví dụ: </a:t>
            </a:r>
            <a:r>
              <a:rPr lang="en-AU" sz="4000" b="1" dirty="0" err="1">
                <a:solidFill>
                  <a:srgbClr val="0039A6"/>
                </a:solidFill>
                <a:latin typeface="Arial"/>
              </a:rPr>
              <a:t>Intrinsity</a:t>
            </a:r>
            <a:r>
              <a:rPr lang="en-AU" sz="4000" b="1" dirty="0">
                <a:solidFill>
                  <a:srgbClr val="0039A6"/>
                </a:solidFill>
                <a:latin typeface="Arial"/>
              </a:rPr>
              <a:t> </a:t>
            </a:r>
            <a:r>
              <a:rPr lang="en-AU" sz="4000" b="1" dirty="0" err="1">
                <a:solidFill>
                  <a:srgbClr val="0039A6"/>
                </a:solidFill>
                <a:latin typeface="Arial"/>
              </a:rPr>
              <a:t>FastMATH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23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599"/>
            <a:ext cx="8345488" cy="495300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AU" smtClean="0"/>
              <a:t>Bộ xử lý nhúng có kiến trúc giống MIPS</a:t>
            </a:r>
            <a:endParaRPr lang="en-AU" dirty="0"/>
          </a:p>
          <a:p>
            <a:pPr lvl="1">
              <a:lnSpc>
                <a:spcPct val="90000"/>
              </a:lnSpc>
            </a:pPr>
            <a:r>
              <a:rPr lang="en-AU" smtClean="0"/>
              <a:t>Cơ chế ống (12-bước hay công đoạn)</a:t>
            </a:r>
            <a:endParaRPr lang="en-AU" dirty="0"/>
          </a:p>
          <a:p>
            <a:pPr lvl="1">
              <a:lnSpc>
                <a:spcPct val="90000"/>
              </a:lnSpc>
            </a:pPr>
            <a:r>
              <a:rPr lang="en-AU" smtClean="0"/>
              <a:t>Mỗi chu kỳ đều đọc lệnh &amp; truy cập dữ liệu</a:t>
            </a:r>
          </a:p>
          <a:p>
            <a:pPr lvl="1">
              <a:lnSpc>
                <a:spcPct val="90000"/>
              </a:lnSpc>
            </a:pPr>
            <a:r>
              <a:rPr lang="en-AU" smtClean="0"/>
              <a:t>Thực hiện cache đơn giản (peak speed)</a:t>
            </a:r>
            <a:endParaRPr lang="en-AU" dirty="0"/>
          </a:p>
          <a:p>
            <a:pPr>
              <a:lnSpc>
                <a:spcPct val="90000"/>
              </a:lnSpc>
            </a:pPr>
            <a:r>
              <a:rPr lang="en-AU" smtClean="0"/>
              <a:t>Phân chia: cache lệnh &amp; cache dữ liệu</a:t>
            </a:r>
            <a:endParaRPr lang="en-AU" dirty="0"/>
          </a:p>
          <a:p>
            <a:pPr lvl="1">
              <a:lnSpc>
                <a:spcPct val="90000"/>
              </a:lnSpc>
            </a:pPr>
            <a:r>
              <a:rPr lang="en-AU" smtClean="0"/>
              <a:t>16KB/cache: </a:t>
            </a:r>
            <a:r>
              <a:rPr lang="en-AU" dirty="0"/>
              <a:t>256 blocks </a:t>
            </a:r>
            <a:r>
              <a:rPr lang="en-US" dirty="0">
                <a:cs typeface="Arial" charset="0"/>
              </a:rPr>
              <a:t>×</a:t>
            </a:r>
            <a:r>
              <a:rPr lang="en-AU" dirty="0"/>
              <a:t> 16 words/block</a:t>
            </a:r>
          </a:p>
          <a:p>
            <a:pPr lvl="1">
              <a:lnSpc>
                <a:spcPct val="90000"/>
              </a:lnSpc>
            </a:pPr>
            <a:r>
              <a:rPr lang="en-AU" smtClean="0"/>
              <a:t>Cache dữ liệu: </a:t>
            </a:r>
            <a:r>
              <a:rPr lang="en-AU" dirty="0"/>
              <a:t>write-through or write-back</a:t>
            </a:r>
          </a:p>
          <a:p>
            <a:pPr>
              <a:lnSpc>
                <a:spcPct val="90000"/>
              </a:lnSpc>
            </a:pPr>
            <a:r>
              <a:rPr lang="en-AU"/>
              <a:t>SPEC2000 </a:t>
            </a:r>
            <a:r>
              <a:rPr lang="en-AU" smtClean="0"/>
              <a:t>cho số liệu đo được miss </a:t>
            </a:r>
            <a:r>
              <a:rPr lang="en-AU" dirty="0"/>
              <a:t>rates</a:t>
            </a:r>
          </a:p>
          <a:p>
            <a:pPr lvl="1">
              <a:lnSpc>
                <a:spcPct val="90000"/>
              </a:lnSpc>
            </a:pPr>
            <a:r>
              <a:rPr lang="en-AU" sz="2000" dirty="0"/>
              <a:t>I-cache: </a:t>
            </a:r>
            <a:r>
              <a:rPr lang="en-AU" sz="2000"/>
              <a:t>0.4</a:t>
            </a:r>
            <a:r>
              <a:rPr lang="en-AU" sz="2000" smtClean="0"/>
              <a:t>% (lệnh)</a:t>
            </a:r>
            <a:endParaRPr lang="en-AU" sz="2000" dirty="0"/>
          </a:p>
          <a:p>
            <a:pPr lvl="1">
              <a:lnSpc>
                <a:spcPct val="90000"/>
              </a:lnSpc>
            </a:pPr>
            <a:r>
              <a:rPr lang="en-AU" sz="2000" dirty="0"/>
              <a:t>D-cache: </a:t>
            </a:r>
            <a:r>
              <a:rPr lang="en-AU" sz="2000"/>
              <a:t>11.4</a:t>
            </a:r>
            <a:r>
              <a:rPr lang="en-AU" sz="2000" smtClean="0"/>
              <a:t>% (dữ liệu)</a:t>
            </a:r>
            <a:endParaRPr lang="en-AU" sz="2000" dirty="0"/>
          </a:p>
          <a:p>
            <a:pPr lvl="1">
              <a:lnSpc>
                <a:spcPct val="90000"/>
              </a:lnSpc>
            </a:pPr>
            <a:r>
              <a:rPr lang="en-AU" sz="2000" dirty="0"/>
              <a:t>Weighted average: </a:t>
            </a:r>
            <a:r>
              <a:rPr lang="en-AU" sz="2000"/>
              <a:t>3.2</a:t>
            </a:r>
            <a:r>
              <a:rPr lang="en-AU" sz="2000" smtClean="0"/>
              <a:t>% (trung bình)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04718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b="1" smtClean="0">
                <a:solidFill>
                  <a:srgbClr val="0039A6"/>
                </a:solidFill>
                <a:latin typeface="Arial"/>
              </a:rPr>
              <a:t>Ví dụ: </a:t>
            </a:r>
            <a:r>
              <a:rPr lang="en-AU" sz="4000" b="1" err="1">
                <a:solidFill>
                  <a:srgbClr val="0039A6"/>
                </a:solidFill>
                <a:latin typeface="Arial"/>
              </a:rPr>
              <a:t>Intrinsity</a:t>
            </a:r>
            <a:r>
              <a:rPr lang="en-AU" sz="4000" b="1">
                <a:solidFill>
                  <a:srgbClr val="0039A6"/>
                </a:solidFill>
                <a:latin typeface="Arial"/>
              </a:rPr>
              <a:t> </a:t>
            </a:r>
            <a:r>
              <a:rPr lang="en-AU" sz="4000" b="1" smtClean="0">
                <a:solidFill>
                  <a:srgbClr val="0039A6"/>
                </a:solidFill>
                <a:latin typeface="Arial"/>
              </a:rPr>
              <a:t>FastMATH (tt.)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24</a:t>
            </a:fld>
            <a:endParaRPr lang="vi-V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1217277"/>
            <a:ext cx="7755282" cy="4915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252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>
                <a:solidFill>
                  <a:srgbClr val="0039A6"/>
                </a:solidFill>
                <a:latin typeface="Arial"/>
              </a:rPr>
              <a:t>Thiết kế Bộ nhớ hỗ trợ cache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>
                <a:solidFill>
                  <a:srgbClr val="000000"/>
                </a:solidFill>
              </a:rPr>
              <a:pPr/>
              <a:t>5/15/2017</a:t>
            </a:fld>
            <a:endParaRPr lang="vi-V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333399">
                    <a:lumMod val="60000"/>
                    <a:lumOff val="40000"/>
                  </a:srgbClr>
                </a:solidFill>
              </a:rPr>
              <a:t>Khoa Khoa học &amp; Kỹ thuật Máy tính</a:t>
            </a:r>
            <a:endParaRPr lang="vi-VN">
              <a:solidFill>
                <a:srgbClr val="333399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>
                <a:solidFill>
                  <a:srgbClr val="000000"/>
                </a:solidFill>
              </a:rPr>
              <a:pPr/>
              <a:t>25</a:t>
            </a:fld>
            <a:endParaRPr lang="vi-VN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182688" y="1470991"/>
            <a:ext cx="7772400" cy="485360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smtClean="0"/>
              <a:t>Sử dụng DRAMs làm bộ nhớ chính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 smtClean="0"/>
              <a:t>Thông tin theo số bit cố định (e.g</a:t>
            </a:r>
            <a:r>
              <a:rPr lang="en-US" sz="2400"/>
              <a:t>., 1 </a:t>
            </a:r>
            <a:r>
              <a:rPr lang="en-US" sz="2400" smtClean="0"/>
              <a:t>word=32bit)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400" smtClean="0"/>
              <a:t>Kết nối với tuyến bus cũng có số bit cố định</a:t>
            </a:r>
            <a:endParaRPr lang="en-US" sz="2400"/>
          </a:p>
          <a:p>
            <a:pPr lvl="2">
              <a:lnSpc>
                <a:spcPct val="90000"/>
              </a:lnSpc>
            </a:pPr>
            <a:r>
              <a:rPr lang="en-US" sz="2000"/>
              <a:t>Bus clock </a:t>
            </a:r>
            <a:r>
              <a:rPr lang="en-US" sz="2000" smtClean="0"/>
              <a:t>thường chậm hơn </a:t>
            </a:r>
            <a:r>
              <a:rPr lang="en-US" sz="2000"/>
              <a:t>CPU clock</a:t>
            </a:r>
          </a:p>
          <a:p>
            <a:pPr>
              <a:lnSpc>
                <a:spcPct val="90000"/>
              </a:lnSpc>
            </a:pPr>
            <a:r>
              <a:rPr lang="en-US" sz="2800" smtClean="0"/>
              <a:t>Ví dụ đọc 1 block cache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/>
              <a:t>1 </a:t>
            </a:r>
            <a:r>
              <a:rPr lang="en-US" sz="2400" smtClean="0"/>
              <a:t>chu kỳ bus xác định tuyến địa chỉ truy xuất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400"/>
              <a:t>15 </a:t>
            </a:r>
            <a:r>
              <a:rPr lang="en-US" sz="2400" smtClean="0"/>
              <a:t>chu kỳ bus cho 1 lần truy xuất DRAM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400"/>
              <a:t>1 </a:t>
            </a:r>
            <a:r>
              <a:rPr lang="en-US" sz="2400" smtClean="0"/>
              <a:t>chu kỳ bus để vận chuyển thông tin</a:t>
            </a:r>
            <a:endParaRPr lang="en-US" sz="2400"/>
          </a:p>
          <a:p>
            <a:pPr>
              <a:lnSpc>
                <a:spcPct val="90000"/>
              </a:lnSpc>
            </a:pPr>
            <a:r>
              <a:rPr lang="en-US" sz="2800" smtClean="0"/>
              <a:t>Nếu khối có 4 từ (words), </a:t>
            </a:r>
            <a:r>
              <a:rPr lang="en-US" sz="2800"/>
              <a:t>1-word-wide DRAM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Miss penalty = 1 + 4×15 + 4×1 = 65 bus cycles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Bandwidth = 16 bytes / 65 cycles = 0.25 B/cycle</a:t>
            </a:r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89675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Tăng băng thông Bộ nhớ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26</a:t>
            </a:fld>
            <a:endParaRPr lang="vi-V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07" y="1319213"/>
            <a:ext cx="6465707" cy="466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195513" y="4076700"/>
            <a:ext cx="6759575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ECEAA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4-word wide memory</a:t>
            </a:r>
          </a:p>
          <a:p>
            <a:pPr marL="742950" marR="0" lvl="1" indent="-28575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91AFBF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Miss penalty = 1 + 15 + 1 = 17 bus cycles</a:t>
            </a:r>
          </a:p>
          <a:p>
            <a:pPr marL="742950" marR="0" lvl="1" indent="-28575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91AFBF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Bandwidth = 16 bytes / 17 cycles = 0.94 B/cycle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ECEAA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4-bank interleaved memory</a:t>
            </a:r>
          </a:p>
          <a:p>
            <a:pPr marL="742950" marR="0" lvl="1" indent="-28575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91AFBF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Miss penalty = 1 + 15 + 4×1 = 20 bus cycles</a:t>
            </a:r>
          </a:p>
          <a:p>
            <a:pPr marL="742950" marR="0" lvl="1" indent="-28575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91AFBF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Bandwidth = 16 bytes / 20 cycles = 0.8 B/cycle</a:t>
            </a:r>
            <a:endParaRPr kumimoji="0" lang="en-AU" sz="20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9830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Đo hiệu suất Cache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27</a:t>
            </a:fld>
            <a:endParaRPr lang="vi-VN"/>
          </a:p>
        </p:txBody>
      </p:sp>
      <p:sp>
        <p:nvSpPr>
          <p:cNvPr id="7" name="Rectangle 7"/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458200" cy="5105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smtClean="0"/>
              <a:t>Các thành phần cấu thành thời gian thực thi của CPU:</a:t>
            </a:r>
          </a:p>
          <a:p>
            <a:pPr marL="457200" lvl="1" indent="0" algn="ctr">
              <a:lnSpc>
                <a:spcPct val="80000"/>
              </a:lnSpc>
              <a:buNone/>
            </a:pPr>
            <a:r>
              <a:rPr lang="en-US" sz="1400" b="1" smtClean="0">
                <a:solidFill>
                  <a:srgbClr val="0000FF"/>
                </a:solidFill>
              </a:rPr>
              <a:t>CPU time = (CPU Exe. Clock cycles + Mem-stall clock cycles) x Clock cycle time</a:t>
            </a:r>
            <a:endParaRPr lang="en-US" sz="1400" b="1" dirty="0">
              <a:solidFill>
                <a:srgbClr val="0000FF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sz="2000" smtClean="0"/>
              <a:t>Số chu kỳ thực thi chương trình</a:t>
            </a:r>
            <a:endParaRPr lang="en-US" sz="2000" dirty="0"/>
          </a:p>
          <a:p>
            <a:pPr lvl="2">
              <a:lnSpc>
                <a:spcPct val="80000"/>
              </a:lnSpc>
            </a:pPr>
            <a:r>
              <a:rPr lang="en-US" sz="2000" smtClean="0"/>
              <a:t>Bao gồm cả thời gian truy cập cache (hit)</a:t>
            </a:r>
            <a:endParaRPr lang="en-US" sz="2000" dirty="0"/>
          </a:p>
          <a:p>
            <a:pPr lvl="1">
              <a:lnSpc>
                <a:spcPct val="80000"/>
              </a:lnSpc>
            </a:pPr>
            <a:r>
              <a:rPr lang="en-US" sz="2000" smtClean="0"/>
              <a:t>Chu kỳ “khựng” bộ nhớ </a:t>
            </a:r>
            <a:endParaRPr lang="en-US" sz="2000" dirty="0"/>
          </a:p>
          <a:p>
            <a:pPr lvl="2">
              <a:lnSpc>
                <a:spcPct val="80000"/>
              </a:lnSpc>
            </a:pPr>
            <a:r>
              <a:rPr lang="en-US" sz="2000" smtClean="0"/>
              <a:t>Chủ yếu do không có trong cache (miss)</a:t>
            </a: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800" smtClean="0"/>
              <a:t>Giả thuyết đơn giản là:</a:t>
            </a:r>
            <a:endParaRPr lang="en-AU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86200"/>
            <a:ext cx="78486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15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Ví dụ: Hiệu suất Cache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28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066800" y="1290882"/>
            <a:ext cx="7846724" cy="472891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mtClean="0"/>
              <a:t>Giả sử</a:t>
            </a:r>
            <a:endParaRPr lang="en-US"/>
          </a:p>
          <a:p>
            <a:pPr lvl="1">
              <a:lnSpc>
                <a:spcPct val="80000"/>
              </a:lnSpc>
            </a:pPr>
            <a:r>
              <a:rPr lang="en-US" sz="2400"/>
              <a:t>I-cache miss rate = 2</a:t>
            </a:r>
            <a:r>
              <a:rPr lang="en-US" sz="2400" smtClean="0"/>
              <a:t>% (truy xuất lệnh)</a:t>
            </a:r>
            <a:endParaRPr lang="en-US" sz="2400"/>
          </a:p>
          <a:p>
            <a:pPr lvl="1">
              <a:lnSpc>
                <a:spcPct val="80000"/>
              </a:lnSpc>
            </a:pPr>
            <a:r>
              <a:rPr lang="en-US" sz="2400"/>
              <a:t>D-cache miss rate = 4</a:t>
            </a:r>
            <a:r>
              <a:rPr lang="en-US" sz="2400" smtClean="0"/>
              <a:t>% (truy xuất Dữ liệu)</a:t>
            </a:r>
            <a:endParaRPr lang="en-US" sz="2400"/>
          </a:p>
          <a:p>
            <a:pPr lvl="1">
              <a:lnSpc>
                <a:spcPct val="80000"/>
              </a:lnSpc>
            </a:pPr>
            <a:r>
              <a:rPr lang="en-US" sz="2400"/>
              <a:t>Miss penalty = 100 </a:t>
            </a:r>
            <a:r>
              <a:rPr lang="en-US" sz="2400" smtClean="0"/>
              <a:t>cycles (Phí tổn theo t/gian)</a:t>
            </a:r>
            <a:endParaRPr lang="en-US" sz="2400"/>
          </a:p>
          <a:p>
            <a:pPr lvl="1">
              <a:lnSpc>
                <a:spcPct val="80000"/>
              </a:lnSpc>
            </a:pPr>
            <a:r>
              <a:rPr lang="en-US" sz="2400"/>
              <a:t>Base CPI (ideal cache) = 2</a:t>
            </a:r>
          </a:p>
          <a:p>
            <a:pPr lvl="1">
              <a:lnSpc>
                <a:spcPct val="80000"/>
              </a:lnSpc>
            </a:pPr>
            <a:r>
              <a:rPr lang="en-US" sz="2400" smtClean="0"/>
              <a:t>Lệnh Load </a:t>
            </a:r>
            <a:r>
              <a:rPr lang="en-US" sz="2400"/>
              <a:t>&amp; stores </a:t>
            </a:r>
            <a:r>
              <a:rPr lang="en-US" sz="2400" smtClean="0"/>
              <a:t>chiếm </a:t>
            </a:r>
            <a:r>
              <a:rPr lang="en-US" sz="2400"/>
              <a:t>36% </a:t>
            </a:r>
            <a:r>
              <a:rPr lang="en-US" sz="2400" smtClean="0"/>
              <a:t>của c/trình</a:t>
            </a:r>
          </a:p>
          <a:p>
            <a:pPr>
              <a:lnSpc>
                <a:spcPct val="80000"/>
              </a:lnSpc>
            </a:pPr>
            <a:r>
              <a:rPr lang="en-US" smtClean="0"/>
              <a:t>Số chu kỳ “trượt” /lệnh sẽ là</a:t>
            </a:r>
          </a:p>
          <a:p>
            <a:pPr lvl="1">
              <a:lnSpc>
                <a:spcPct val="80000"/>
              </a:lnSpc>
            </a:pPr>
            <a:r>
              <a:rPr lang="en-US" sz="2400" smtClean="0"/>
              <a:t>I-cache</a:t>
            </a:r>
            <a:r>
              <a:rPr lang="en-US" sz="2400"/>
              <a:t>: 0.02 × 100 = 2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D-cache: 0.36 × 0.04 × 100 = 1.44</a:t>
            </a:r>
          </a:p>
          <a:p>
            <a:pPr>
              <a:lnSpc>
                <a:spcPct val="80000"/>
              </a:lnSpc>
            </a:pPr>
            <a:r>
              <a:rPr lang="en-US" smtClean="0"/>
              <a:t> CPI (thực tế) = </a:t>
            </a:r>
            <a:r>
              <a:rPr lang="en-US"/>
              <a:t>2 + 2 + 1.44 = 5.44</a:t>
            </a:r>
          </a:p>
          <a:p>
            <a:pPr lvl="1">
              <a:lnSpc>
                <a:spcPct val="80000"/>
              </a:lnSpc>
            </a:pPr>
            <a:r>
              <a:rPr lang="en-US" sz="2400" i="1" smtClean="0">
                <a:solidFill>
                  <a:srgbClr val="FF0000"/>
                </a:solidFill>
              </a:rPr>
              <a:t>Chậm hơn với hệ thống CPU với bộ nhớ lý tưởng: 2.72 lần (5.44/2)</a:t>
            </a:r>
            <a:endParaRPr lang="en-AU" sz="2400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66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b="1" smtClean="0">
                <a:solidFill>
                  <a:srgbClr val="0039A6"/>
                </a:solidFill>
                <a:latin typeface="Arial"/>
              </a:rPr>
              <a:t>Thời gian truy cập trung bình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29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75509"/>
            <a:ext cx="8382000" cy="4661521"/>
          </a:xfrm>
        </p:spPr>
        <p:txBody>
          <a:bodyPr/>
          <a:lstStyle/>
          <a:p>
            <a:r>
              <a:rPr lang="en-AU" smtClean="0"/>
              <a:t>Thời gian truy cập trong trường hợp thông tin tồn tại trong cache cũng rất quan trọng</a:t>
            </a:r>
            <a:endParaRPr lang="en-AU" dirty="0"/>
          </a:p>
          <a:p>
            <a:r>
              <a:rPr lang="en-AU" smtClean="0"/>
              <a:t>Thời gian truy cập bộ nhớ trung bình (AMAT): </a:t>
            </a:r>
            <a:r>
              <a:rPr lang="en-AU" sz="2400" smtClean="0">
                <a:solidFill>
                  <a:srgbClr val="FF0000"/>
                </a:solidFill>
              </a:rPr>
              <a:t>AMAT </a:t>
            </a:r>
            <a:r>
              <a:rPr lang="en-AU" sz="2400" dirty="0">
                <a:solidFill>
                  <a:srgbClr val="FF0000"/>
                </a:solidFill>
              </a:rPr>
              <a:t>= Hit time + Miss rate 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× Miss penalty</a:t>
            </a:r>
          </a:p>
          <a:p>
            <a:r>
              <a:rPr lang="en-US" smtClean="0">
                <a:cs typeface="Arial" charset="0"/>
              </a:rPr>
              <a:t>Ví dụ:</a:t>
            </a:r>
            <a:endParaRPr lang="en-US" dirty="0">
              <a:cs typeface="Arial" charset="0"/>
            </a:endParaRPr>
          </a:p>
          <a:p>
            <a:pPr lvl="1"/>
            <a:r>
              <a:rPr lang="en-US">
                <a:cs typeface="Arial" charset="0"/>
              </a:rPr>
              <a:t>CPU </a:t>
            </a:r>
            <a:r>
              <a:rPr lang="en-US" smtClean="0">
                <a:cs typeface="Arial" charset="0"/>
              </a:rPr>
              <a:t>với </a:t>
            </a:r>
            <a:r>
              <a:rPr lang="en-US" dirty="0">
                <a:cs typeface="Arial" charset="0"/>
              </a:rPr>
              <a:t>1ns clock, hit time = 1 cycle, miss penalty = 20 cycles, I-cache miss rate = 5%</a:t>
            </a:r>
          </a:p>
          <a:p>
            <a:pPr lvl="1"/>
            <a:r>
              <a:rPr lang="en-US" dirty="0">
                <a:cs typeface="Arial" charset="0"/>
              </a:rPr>
              <a:t>AMAT = 1 + 0.05 × 20 = 2ns</a:t>
            </a:r>
          </a:p>
          <a:p>
            <a:pPr lvl="2"/>
            <a:r>
              <a:rPr lang="en-US">
                <a:cs typeface="Arial" charset="0"/>
              </a:rPr>
              <a:t>2 </a:t>
            </a:r>
            <a:r>
              <a:rPr lang="en-US" smtClean="0">
                <a:cs typeface="Arial" charset="0"/>
              </a:rPr>
              <a:t>chu kỳ cho mỗi lệnh</a:t>
            </a: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5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Kết luận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30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143000" y="1295400"/>
            <a:ext cx="7772400" cy="48768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mtClean="0"/>
              <a:t>Khi hiệu suất CPU tăng</a:t>
            </a:r>
            <a:endParaRPr lang="en-US"/>
          </a:p>
          <a:p>
            <a:pPr lvl="1">
              <a:spcBef>
                <a:spcPts val="0"/>
              </a:spcBef>
            </a:pPr>
            <a:r>
              <a:rPr lang="en-US" smtClean="0"/>
              <a:t>Miss </a:t>
            </a:r>
            <a:r>
              <a:rPr lang="en-US"/>
              <a:t>penalty </a:t>
            </a:r>
            <a:r>
              <a:rPr lang="en-US" smtClean="0"/>
              <a:t>trở nên yếu tố quan trọng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smtClean="0"/>
              <a:t>Giảm CPI</a:t>
            </a:r>
            <a:endParaRPr lang="en-US"/>
          </a:p>
          <a:p>
            <a:pPr lvl="1">
              <a:spcBef>
                <a:spcPts val="0"/>
              </a:spcBef>
            </a:pPr>
            <a:r>
              <a:rPr lang="en-US" smtClean="0"/>
              <a:t>Phần lớn thời gian sẽ tiêu tốn do đợi truy xuất bộ nhớ</a:t>
            </a:r>
          </a:p>
          <a:p>
            <a:pPr>
              <a:spcBef>
                <a:spcPts val="0"/>
              </a:spcBef>
            </a:pPr>
            <a:r>
              <a:rPr lang="en-US" smtClean="0"/>
              <a:t>Tăng tần số xung Clock</a:t>
            </a:r>
          </a:p>
          <a:p>
            <a:pPr lvl="1">
              <a:spcBef>
                <a:spcPts val="0"/>
              </a:spcBef>
            </a:pPr>
            <a:r>
              <a:rPr lang="en-US" smtClean="0"/>
              <a:t>Khựng do truy cập bộ nhớ </a:t>
            </a:r>
            <a:r>
              <a:rPr lang="en-US" smtClean="0">
                <a:sym typeface="Wingdings" pitchFamily="2" charset="2"/>
              </a:rPr>
              <a:t> tăng chu kỳ CPU</a:t>
            </a:r>
            <a:endParaRPr lang="en-US" smtClean="0"/>
          </a:p>
          <a:p>
            <a:pPr>
              <a:spcBef>
                <a:spcPts val="0"/>
              </a:spcBef>
            </a:pPr>
            <a:r>
              <a:rPr lang="en-US" smtClean="0"/>
              <a:t>Không thể bỏ qua hành vi cache khi đánh giá hiệu suất hệ thống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147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Kiểm tra 15 phút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31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143000" y="1295400"/>
            <a:ext cx="7772400" cy="48768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AU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AU" dirty="0" err="1">
                <a:solidFill>
                  <a:srgbClr val="000000"/>
                </a:solidFill>
              </a:rPr>
              <a:t>Giả</a:t>
            </a:r>
            <a:r>
              <a:rPr lang="en-AU" dirty="0">
                <a:solidFill>
                  <a:srgbClr val="000000"/>
                </a:solidFill>
              </a:rPr>
              <a:t> </a:t>
            </a:r>
            <a:r>
              <a:rPr lang="en-AU" dirty="0" err="1">
                <a:solidFill>
                  <a:srgbClr val="000000"/>
                </a:solidFill>
              </a:rPr>
              <a:t>sử</a:t>
            </a:r>
            <a:r>
              <a:rPr lang="en-AU" dirty="0">
                <a:solidFill>
                  <a:srgbClr val="000000"/>
                </a:solidFill>
              </a:rPr>
              <a:t> </a:t>
            </a:r>
            <a:r>
              <a:rPr lang="en-AU" dirty="0" err="1">
                <a:solidFill>
                  <a:srgbClr val="000000"/>
                </a:solidFill>
              </a:rPr>
              <a:t>dùng</a:t>
            </a:r>
            <a:r>
              <a:rPr lang="en-AU" dirty="0">
                <a:solidFill>
                  <a:srgbClr val="000000"/>
                </a:solidFill>
              </a:rPr>
              <a:t> cache </a:t>
            </a:r>
            <a:r>
              <a:rPr lang="en-AU" dirty="0" err="1">
                <a:solidFill>
                  <a:srgbClr val="000000"/>
                </a:solidFill>
              </a:rPr>
              <a:t>ánh</a:t>
            </a:r>
            <a:r>
              <a:rPr lang="en-AU" dirty="0">
                <a:solidFill>
                  <a:srgbClr val="000000"/>
                </a:solidFill>
              </a:rPr>
              <a:t> </a:t>
            </a:r>
            <a:r>
              <a:rPr lang="en-AU" dirty="0" err="1">
                <a:solidFill>
                  <a:srgbClr val="000000"/>
                </a:solidFill>
              </a:rPr>
              <a:t>xạ</a:t>
            </a:r>
            <a:r>
              <a:rPr lang="en-AU" dirty="0">
                <a:solidFill>
                  <a:srgbClr val="000000"/>
                </a:solidFill>
              </a:rPr>
              <a:t> </a:t>
            </a:r>
            <a:r>
              <a:rPr lang="en-AU" dirty="0" err="1">
                <a:solidFill>
                  <a:srgbClr val="000000"/>
                </a:solidFill>
              </a:rPr>
              <a:t>trực</a:t>
            </a:r>
            <a:r>
              <a:rPr lang="en-AU" dirty="0">
                <a:solidFill>
                  <a:srgbClr val="000000"/>
                </a:solidFill>
              </a:rPr>
              <a:t> </a:t>
            </a:r>
            <a:r>
              <a:rPr lang="en-AU" dirty="0" err="1">
                <a:solidFill>
                  <a:srgbClr val="000000"/>
                </a:solidFill>
              </a:rPr>
              <a:t>tiếp</a:t>
            </a:r>
            <a:r>
              <a:rPr lang="en-AU" dirty="0">
                <a:solidFill>
                  <a:srgbClr val="000000"/>
                </a:solidFill>
              </a:rPr>
              <a:t> </a:t>
            </a:r>
            <a:r>
              <a:rPr lang="en-AU" dirty="0" err="1">
                <a:solidFill>
                  <a:srgbClr val="000000"/>
                </a:solidFill>
              </a:rPr>
              <a:t>và</a:t>
            </a:r>
            <a:r>
              <a:rPr lang="en-AU" dirty="0">
                <a:solidFill>
                  <a:srgbClr val="000000"/>
                </a:solidFill>
              </a:rPr>
              <a:t> </a:t>
            </a:r>
            <a:r>
              <a:rPr lang="en-AU" dirty="0" err="1">
                <a:solidFill>
                  <a:srgbClr val="000000"/>
                </a:solidFill>
              </a:rPr>
              <a:t>tuyến</a:t>
            </a:r>
            <a:r>
              <a:rPr lang="en-AU" dirty="0">
                <a:solidFill>
                  <a:srgbClr val="000000"/>
                </a:solidFill>
              </a:rPr>
              <a:t> </a:t>
            </a:r>
            <a:r>
              <a:rPr lang="en-AU" dirty="0" err="1">
                <a:solidFill>
                  <a:srgbClr val="000000"/>
                </a:solidFill>
              </a:rPr>
              <a:t>địa</a:t>
            </a:r>
            <a:r>
              <a:rPr lang="en-AU" dirty="0">
                <a:solidFill>
                  <a:srgbClr val="000000"/>
                </a:solidFill>
              </a:rPr>
              <a:t> </a:t>
            </a:r>
            <a:r>
              <a:rPr lang="en-AU" dirty="0" err="1">
                <a:solidFill>
                  <a:srgbClr val="000000"/>
                </a:solidFill>
              </a:rPr>
              <a:t>chỉ</a:t>
            </a:r>
            <a:r>
              <a:rPr lang="en-AU" dirty="0">
                <a:solidFill>
                  <a:srgbClr val="000000"/>
                </a:solidFill>
              </a:rPr>
              <a:t> </a:t>
            </a:r>
            <a:r>
              <a:rPr lang="en-AU" dirty="0" err="1">
                <a:solidFill>
                  <a:srgbClr val="000000"/>
                </a:solidFill>
              </a:rPr>
              <a:t>là</a:t>
            </a:r>
            <a:r>
              <a:rPr lang="en-AU" dirty="0">
                <a:solidFill>
                  <a:srgbClr val="000000"/>
                </a:solidFill>
              </a:rPr>
              <a:t> 32 </a:t>
            </a:r>
            <a:r>
              <a:rPr lang="en-AU" dirty="0" smtClean="0">
                <a:solidFill>
                  <a:srgbClr val="000000"/>
                </a:solidFill>
              </a:rPr>
              <a:t>bits. </a:t>
            </a:r>
            <a:r>
              <a:rPr lang="en-AU" dirty="0" err="1" smtClean="0"/>
              <a:t>Cần</a:t>
            </a:r>
            <a:r>
              <a:rPr lang="en-AU" dirty="0" smtClean="0"/>
              <a:t> </a:t>
            </a:r>
            <a:r>
              <a:rPr lang="en-AU" dirty="0" err="1" smtClean="0"/>
              <a:t>tất</a:t>
            </a:r>
            <a:r>
              <a:rPr lang="en-AU" dirty="0" smtClean="0"/>
              <a:t> </a:t>
            </a:r>
            <a:r>
              <a:rPr lang="en-AU" dirty="0" err="1" smtClean="0"/>
              <a:t>cả</a:t>
            </a:r>
            <a:r>
              <a:rPr lang="en-AU" dirty="0" smtClean="0"/>
              <a:t> </a:t>
            </a:r>
            <a:r>
              <a:rPr lang="en-AU" dirty="0" err="1" smtClean="0"/>
              <a:t>bao</a:t>
            </a:r>
            <a:r>
              <a:rPr lang="en-AU" dirty="0" smtClean="0"/>
              <a:t> </a:t>
            </a:r>
            <a:r>
              <a:rPr lang="en-AU" dirty="0" err="1" smtClean="0"/>
              <a:t>nhiêu</a:t>
            </a:r>
            <a:r>
              <a:rPr lang="en-AU" dirty="0" smtClean="0"/>
              <a:t> bits </a:t>
            </a:r>
            <a:r>
              <a:rPr lang="en-AU" dirty="0" err="1" smtClean="0"/>
              <a:t>nhớ</a:t>
            </a:r>
            <a:r>
              <a:rPr lang="en-AU" dirty="0" smtClean="0"/>
              <a:t> </a:t>
            </a:r>
            <a:r>
              <a:rPr lang="en-AU" dirty="0" err="1" smtClean="0"/>
              <a:t>khi</a:t>
            </a:r>
            <a:r>
              <a:rPr lang="en-AU" dirty="0" smtClean="0"/>
              <a:t> </a:t>
            </a:r>
            <a:r>
              <a:rPr lang="en-AU" dirty="0" err="1" smtClean="0"/>
              <a:t>xây</a:t>
            </a:r>
            <a:r>
              <a:rPr lang="en-AU" dirty="0" smtClean="0"/>
              <a:t> </a:t>
            </a:r>
            <a:r>
              <a:rPr lang="en-AU" dirty="0" err="1" smtClean="0"/>
              <a:t>dựng</a:t>
            </a:r>
            <a:r>
              <a:rPr lang="en-AU" dirty="0" smtClean="0"/>
              <a:t> </a:t>
            </a:r>
            <a:r>
              <a:rPr lang="en-AU" dirty="0" err="1" smtClean="0"/>
              <a:t>bộ</a:t>
            </a:r>
            <a:r>
              <a:rPr lang="en-AU" dirty="0" smtClean="0"/>
              <a:t> </a:t>
            </a:r>
            <a:r>
              <a:rPr lang="en-AU" dirty="0" err="1" smtClean="0"/>
              <a:t>nhớ</a:t>
            </a:r>
            <a:r>
              <a:rPr lang="en-AU" dirty="0" smtClean="0"/>
              <a:t> cache </a:t>
            </a:r>
            <a:r>
              <a:rPr lang="en-AU" dirty="0" err="1" smtClean="0"/>
              <a:t>với</a:t>
            </a:r>
            <a:r>
              <a:rPr lang="en-AU" dirty="0" smtClean="0"/>
              <a:t> 32 KB </a:t>
            </a:r>
            <a:r>
              <a:rPr lang="en-AU" dirty="0" err="1" smtClean="0"/>
              <a:t>dữ</a:t>
            </a:r>
            <a:r>
              <a:rPr lang="en-AU" dirty="0" smtClean="0"/>
              <a:t> </a:t>
            </a:r>
            <a:r>
              <a:rPr lang="en-AU" dirty="0" err="1" smtClean="0"/>
              <a:t>liệu</a:t>
            </a:r>
            <a:r>
              <a:rPr lang="en-AU" dirty="0" smtClean="0"/>
              <a:t>, </a:t>
            </a:r>
            <a:r>
              <a:rPr lang="en-AU" dirty="0" err="1" smtClean="0"/>
              <a:t>mỗi</a:t>
            </a:r>
            <a:r>
              <a:rPr lang="en-AU" dirty="0" smtClean="0"/>
              <a:t> </a:t>
            </a:r>
            <a:r>
              <a:rPr lang="en-AU" dirty="0" err="1" smtClean="0"/>
              <a:t>khối</a:t>
            </a:r>
            <a:r>
              <a:rPr lang="en-AU" dirty="0" smtClean="0"/>
              <a:t> (block) </a:t>
            </a:r>
            <a:r>
              <a:rPr lang="en-AU" dirty="0" err="1" smtClean="0"/>
              <a:t>gồm</a:t>
            </a:r>
            <a:r>
              <a:rPr lang="en-AU" dirty="0" smtClean="0"/>
              <a:t> 16 </a:t>
            </a:r>
            <a:r>
              <a:rPr lang="en-AU" dirty="0" err="1" smtClean="0"/>
              <a:t>từ</a:t>
            </a:r>
            <a:r>
              <a:rPr lang="en-AU" dirty="0" smtClean="0"/>
              <a:t> (words); Tỷ </a:t>
            </a:r>
            <a:r>
              <a:rPr lang="en-AU" dirty="0" err="1" smtClean="0"/>
              <a:t>lệ</a:t>
            </a:r>
            <a:r>
              <a:rPr lang="en-AU" dirty="0" smtClean="0"/>
              <a:t> </a:t>
            </a:r>
            <a:r>
              <a:rPr lang="en-AU" dirty="0" err="1" smtClean="0"/>
              <a:t>số</a:t>
            </a:r>
            <a:r>
              <a:rPr lang="en-AU" dirty="0" smtClean="0"/>
              <a:t> bits </a:t>
            </a:r>
            <a:r>
              <a:rPr lang="en-AU" dirty="0" err="1" smtClean="0"/>
              <a:t>dư</a:t>
            </a:r>
            <a:r>
              <a:rPr lang="en-AU" dirty="0" smtClean="0"/>
              <a:t>̃ </a:t>
            </a:r>
            <a:r>
              <a:rPr lang="en-AU" dirty="0" err="1" smtClean="0"/>
              <a:t>liệu</a:t>
            </a:r>
            <a:r>
              <a:rPr lang="en-AU" dirty="0" smtClean="0"/>
              <a:t> </a:t>
            </a:r>
            <a:r>
              <a:rPr lang="en-AU" dirty="0" err="1" smtClean="0"/>
              <a:t>trong</a:t>
            </a:r>
            <a:r>
              <a:rPr lang="en-AU" dirty="0" smtClean="0"/>
              <a:t> </a:t>
            </a:r>
            <a:r>
              <a:rPr lang="en-AU" dirty="0" smtClean="0"/>
              <a:t>cache </a:t>
            </a:r>
            <a:r>
              <a:rPr lang="en-AU" dirty="0" err="1" smtClean="0"/>
              <a:t>và</a:t>
            </a:r>
            <a:r>
              <a:rPr lang="en-AU" dirty="0" smtClean="0"/>
              <a:t> </a:t>
            </a:r>
            <a:r>
              <a:rPr lang="en-AU" dirty="0" err="1" smtClean="0"/>
              <a:t>số</a:t>
            </a:r>
            <a:r>
              <a:rPr lang="en-AU" dirty="0" smtClean="0"/>
              <a:t> bit </a:t>
            </a:r>
            <a:r>
              <a:rPr lang="en-AU" dirty="0" err="1" smtClean="0"/>
              <a:t>quản</a:t>
            </a:r>
            <a:r>
              <a:rPr lang="en-AU" dirty="0" smtClean="0"/>
              <a:t> </a:t>
            </a:r>
            <a:r>
              <a:rPr lang="en-AU" dirty="0" err="1" smtClean="0"/>
              <a:t>lý</a:t>
            </a:r>
            <a:r>
              <a:rPr lang="en-AU" dirty="0" smtClean="0"/>
              <a:t> </a:t>
            </a:r>
            <a:r>
              <a:rPr lang="en-AU" dirty="0" err="1" smtClean="0"/>
              <a:t>trong</a:t>
            </a:r>
            <a:r>
              <a:rPr lang="en-AU" dirty="0" smtClean="0"/>
              <a:t> cache?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653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Bộ nhớ Caches quan hệ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32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609601" y="1295400"/>
            <a:ext cx="8229600" cy="50292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800" smtClean="0"/>
              <a:t>Associative cache: Đa ánh xạ (≠ ánh xạ trực tiếp</a:t>
            </a:r>
            <a:endParaRPr lang="en-US" sz="2800" dirty="0"/>
          </a:p>
          <a:p>
            <a:pPr lvl="1">
              <a:spcBef>
                <a:spcPts val="0"/>
              </a:spcBef>
            </a:pPr>
            <a:r>
              <a:rPr lang="en-US" sz="2400" smtClean="0"/>
              <a:t>Cho phép 1 khối bộ nhớ ánh xạ vào bất cứ phần tử nào của cache</a:t>
            </a:r>
            <a:endParaRPr lang="en-US" sz="2400" dirty="0"/>
          </a:p>
          <a:p>
            <a:pPr lvl="1">
              <a:spcBef>
                <a:spcPts val="0"/>
              </a:spcBef>
            </a:pPr>
            <a:r>
              <a:rPr lang="en-US" sz="2400" smtClean="0"/>
              <a:t>Yêu cầu phải dò tìm tất cả trong cache để truy cập 1 khối nào đó</a:t>
            </a:r>
            <a:endParaRPr lang="en-US" sz="2400" dirty="0"/>
          </a:p>
          <a:p>
            <a:pPr lvl="1">
              <a:spcBef>
                <a:spcPts val="0"/>
              </a:spcBef>
            </a:pPr>
            <a:r>
              <a:rPr lang="en-US" sz="2400" smtClean="0"/>
              <a:t>Bộ so sánh cho mỗi phần tử cache (giá thành sẽ cao)</a:t>
            </a:r>
            <a:endParaRPr lang="en-US" sz="2400" dirty="0"/>
          </a:p>
          <a:p>
            <a:pPr>
              <a:spcBef>
                <a:spcPts val="0"/>
              </a:spcBef>
            </a:pPr>
            <a:r>
              <a:rPr lang="en-US" sz="2800" i="1" smtClean="0"/>
              <a:t>Tập quan hệ n</a:t>
            </a:r>
            <a:r>
              <a:rPr lang="en-US" sz="2800" smtClean="0"/>
              <a:t>-chiều (</a:t>
            </a:r>
            <a:r>
              <a:rPr lang="en-US" sz="2800" i="1" smtClean="0"/>
              <a:t>n-ways</a:t>
            </a:r>
            <a:r>
              <a:rPr lang="en-US" sz="2800" smtClean="0"/>
              <a:t>)</a:t>
            </a:r>
            <a:endParaRPr lang="en-US" sz="2800" dirty="0"/>
          </a:p>
          <a:p>
            <a:pPr lvl="1">
              <a:spcBef>
                <a:spcPts val="0"/>
              </a:spcBef>
            </a:pPr>
            <a:r>
              <a:rPr lang="en-US" sz="2400" smtClean="0"/>
              <a:t>Mỗi tập chứa  </a:t>
            </a:r>
            <a:r>
              <a:rPr lang="en-US" sz="2400" i="1"/>
              <a:t>n</a:t>
            </a:r>
            <a:r>
              <a:rPr lang="en-US" sz="2400"/>
              <a:t> </a:t>
            </a:r>
            <a:r>
              <a:rPr lang="en-US" sz="2400" smtClean="0"/>
              <a:t>phần tử</a:t>
            </a:r>
            <a:endParaRPr lang="en-AU" sz="2400" dirty="0"/>
          </a:p>
          <a:p>
            <a:pPr lvl="1">
              <a:spcBef>
                <a:spcPts val="0"/>
              </a:spcBef>
            </a:pPr>
            <a:r>
              <a:rPr lang="en-US" sz="2400" smtClean="0"/>
              <a:t>Chỉ số khối xác định tập (set)</a:t>
            </a:r>
            <a:endParaRPr lang="en-US" sz="2400" dirty="0"/>
          </a:p>
          <a:p>
            <a:pPr lvl="2">
              <a:spcBef>
                <a:spcPts val="0"/>
              </a:spcBef>
            </a:pPr>
            <a:r>
              <a:rPr lang="en-US" dirty="0"/>
              <a:t>(Block number) modulo (#Sets in cache)</a:t>
            </a:r>
          </a:p>
          <a:p>
            <a:pPr lvl="1">
              <a:spcBef>
                <a:spcPts val="0"/>
              </a:spcBef>
            </a:pPr>
            <a:r>
              <a:rPr lang="en-US" sz="2400" smtClean="0"/>
              <a:t>Dò tìm các phần tử trong tập để truy cập khối</a:t>
            </a:r>
            <a:endParaRPr lang="en-US" sz="2400" dirty="0"/>
          </a:p>
          <a:p>
            <a:pPr lvl="1">
              <a:spcBef>
                <a:spcPts val="0"/>
              </a:spcBef>
            </a:pPr>
            <a:r>
              <a:rPr lang="en-US" sz="2400" i="1"/>
              <a:t>n</a:t>
            </a:r>
            <a:r>
              <a:rPr lang="en-US" sz="2400"/>
              <a:t> </a:t>
            </a:r>
            <a:r>
              <a:rPr lang="en-US" sz="2400" smtClean="0"/>
              <a:t>bộ so sánh (giá thành sẽ thấp hơn)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106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dụ: Cache quan hệ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33</a:t>
            </a:fld>
            <a:endParaRPr lang="vi-V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09800"/>
            <a:ext cx="7730398" cy="3194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440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Các tập quan hệ (</a:t>
            </a:r>
            <a:r>
              <a:rPr lang="en-US" b="1" i="1" smtClean="0">
                <a:solidFill>
                  <a:srgbClr val="0039A6"/>
                </a:solidFill>
                <a:latin typeface="Arial"/>
              </a:rPr>
              <a:t>n-ways</a:t>
            </a:r>
            <a:r>
              <a:rPr lang="en-US" b="1" smtClean="0">
                <a:solidFill>
                  <a:srgbClr val="0039A6"/>
                </a:solidFill>
                <a:latin typeface="Arial"/>
              </a:rPr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95400"/>
            <a:ext cx="7772400" cy="5029200"/>
          </a:xfrm>
        </p:spPr>
        <p:txBody>
          <a:bodyPr/>
          <a:lstStyle/>
          <a:p>
            <a:r>
              <a:rPr lang="en-US" smtClean="0"/>
              <a:t>cache có </a:t>
            </a:r>
            <a:r>
              <a:rPr lang="en-US"/>
              <a:t>8 </a:t>
            </a:r>
            <a:r>
              <a:rPr lang="en-US" smtClean="0"/>
              <a:t>phần tử</a:t>
            </a:r>
            <a:endParaRPr lang="en-AU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34</a:t>
            </a:fld>
            <a:endParaRPr lang="vi-VN"/>
          </a:p>
        </p:txBody>
      </p:sp>
      <p:pic>
        <p:nvPicPr>
          <p:cNvPr id="7" name="Picture 7" descr="f05-14-P37449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844675"/>
            <a:ext cx="5513387" cy="431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16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 cụ thể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35</a:t>
            </a:fld>
            <a:endParaRPr lang="vi-VN"/>
          </a:p>
        </p:txBody>
      </p:sp>
      <p:sp>
        <p:nvSpPr>
          <p:cNvPr id="7" name="Rectangle 65"/>
          <p:cNvSpPr>
            <a:spLocks noGrp="1" noChangeArrowheads="1"/>
          </p:cNvSpPr>
          <p:nvPr>
            <p:ph idx="1"/>
          </p:nvPr>
        </p:nvSpPr>
        <p:spPr>
          <a:xfrm>
            <a:off x="1219200" y="1295400"/>
            <a:ext cx="7772400" cy="4953000"/>
          </a:xfrm>
        </p:spPr>
        <p:txBody>
          <a:bodyPr/>
          <a:lstStyle/>
          <a:p>
            <a:r>
              <a:rPr lang="en-US" smtClean="0"/>
              <a:t>Giả sử có 4-block </a:t>
            </a:r>
            <a:r>
              <a:rPr lang="en-US" dirty="0"/>
              <a:t>caches</a:t>
            </a:r>
          </a:p>
          <a:p>
            <a:pPr lvl="1"/>
            <a:r>
              <a:rPr lang="en-US" smtClean="0"/>
              <a:t>(1) ánh xạ trực tiếp; (2) ánh xạ quan hệ tệp 2 (2-way), (3) quan hệ toàn phần</a:t>
            </a:r>
            <a:endParaRPr lang="en-US" dirty="0"/>
          </a:p>
          <a:p>
            <a:pPr lvl="1"/>
            <a:r>
              <a:rPr lang="en-US" smtClean="0"/>
              <a:t>Chuỗi các khối truy cập: </a:t>
            </a:r>
            <a:r>
              <a:rPr lang="en-US" dirty="0"/>
              <a:t>0, 8, 0, 6, 8</a:t>
            </a:r>
          </a:p>
          <a:p>
            <a:pPr>
              <a:spcBef>
                <a:spcPct val="50000"/>
              </a:spcBef>
            </a:pPr>
            <a:r>
              <a:rPr lang="en-US" smtClean="0"/>
              <a:t>(1) Ánh xạ trực tiếp (1-way)</a:t>
            </a:r>
            <a:endParaRPr lang="en-US" dirty="0"/>
          </a:p>
        </p:txBody>
      </p:sp>
      <p:graphicFrame>
        <p:nvGraphicFramePr>
          <p:cNvPr id="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948593"/>
              </p:ext>
            </p:extLst>
          </p:nvPr>
        </p:nvGraphicFramePr>
        <p:xfrm>
          <a:off x="1295400" y="4343400"/>
          <a:ext cx="6985000" cy="1655766"/>
        </p:xfrm>
        <a:graphic>
          <a:graphicData uri="http://schemas.openxmlformats.org/drawingml/2006/table">
            <a:tbl>
              <a:tblPr/>
              <a:tblGrid>
                <a:gridCol w="996950"/>
                <a:gridCol w="1000125"/>
                <a:gridCol w="996950"/>
                <a:gridCol w="996950"/>
                <a:gridCol w="998537"/>
                <a:gridCol w="998538"/>
                <a:gridCol w="996950"/>
              </a:tblGrid>
              <a:tr h="23653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365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41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dụ: (tt.)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36</a:t>
            </a:fld>
            <a:endParaRPr lang="vi-VN"/>
          </a:p>
        </p:txBody>
      </p:sp>
      <p:sp>
        <p:nvSpPr>
          <p:cNvPr id="7" name="Rectangle 119"/>
          <p:cNvSpPr>
            <a:spLocks noGrp="1" noChangeArrowheads="1"/>
          </p:cNvSpPr>
          <p:nvPr>
            <p:ph idx="1"/>
          </p:nvPr>
        </p:nvSpPr>
        <p:spPr>
          <a:xfrm>
            <a:off x="1066800" y="1219200"/>
            <a:ext cx="7772400" cy="5029200"/>
          </a:xfrm>
        </p:spPr>
        <p:txBody>
          <a:bodyPr/>
          <a:lstStyle/>
          <a:p>
            <a:r>
              <a:rPr lang="en-US" dirty="0"/>
              <a:t>2-way set associative</a:t>
            </a:r>
          </a:p>
        </p:txBody>
      </p:sp>
      <p:graphicFrame>
        <p:nvGraphicFramePr>
          <p:cNvPr id="8" name="Group 4"/>
          <p:cNvGraphicFramePr>
            <a:graphicFrameLocks noGrp="1"/>
          </p:cNvGraphicFramePr>
          <p:nvPr/>
        </p:nvGraphicFramePr>
        <p:xfrm>
          <a:off x="1258888" y="1844675"/>
          <a:ext cx="6985000" cy="1655766"/>
        </p:xfrm>
        <a:graphic>
          <a:graphicData uri="http://schemas.openxmlformats.org/drawingml/2006/table">
            <a:tbl>
              <a:tblPr/>
              <a:tblGrid>
                <a:gridCol w="996950"/>
                <a:gridCol w="1000125"/>
                <a:gridCol w="996950"/>
                <a:gridCol w="996950"/>
                <a:gridCol w="998537"/>
                <a:gridCol w="998538"/>
                <a:gridCol w="996950"/>
              </a:tblGrid>
              <a:tr h="23653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365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1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62"/>
          <p:cNvSpPr>
            <a:spLocks noChangeArrowheads="1"/>
          </p:cNvSpPr>
          <p:nvPr/>
        </p:nvSpPr>
        <p:spPr bwMode="auto">
          <a:xfrm>
            <a:off x="1066800" y="3867727"/>
            <a:ext cx="7772400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3200" dirty="0"/>
              <a:t>Fully associative</a:t>
            </a:r>
          </a:p>
        </p:txBody>
      </p:sp>
      <p:graphicFrame>
        <p:nvGraphicFramePr>
          <p:cNvPr id="10" name="Group 63"/>
          <p:cNvGraphicFramePr>
            <a:graphicFrameLocks noGrp="1"/>
          </p:cNvGraphicFramePr>
          <p:nvPr/>
        </p:nvGraphicFramePr>
        <p:xfrm>
          <a:off x="1258888" y="4508500"/>
          <a:ext cx="6985000" cy="1609410"/>
        </p:xfrm>
        <a:graphic>
          <a:graphicData uri="http://schemas.openxmlformats.org/drawingml/2006/table">
            <a:tbl>
              <a:tblPr/>
              <a:tblGrid>
                <a:gridCol w="996950"/>
                <a:gridCol w="1000125"/>
                <a:gridCol w="996950"/>
                <a:gridCol w="996950"/>
                <a:gridCol w="998537"/>
                <a:gridCol w="998538"/>
                <a:gridCol w="996950"/>
              </a:tblGrid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12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Tác dụng của Cache quan hệ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37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Tăng “quan hệ” </a:t>
            </a:r>
            <a:r>
              <a:rPr lang="en-US" smtClean="0">
                <a:sym typeface="Wingdings" pitchFamily="2" charset="2"/>
              </a:rPr>
              <a:t> giảm </a:t>
            </a:r>
            <a:r>
              <a:rPr lang="en-US" smtClean="0"/>
              <a:t>miss </a:t>
            </a:r>
            <a:r>
              <a:rPr lang="en-US" dirty="0"/>
              <a:t>rate</a:t>
            </a:r>
          </a:p>
          <a:p>
            <a:pPr lvl="1"/>
            <a:r>
              <a:rPr lang="en-US" smtClean="0"/>
              <a:t>Bù lại: tăng thời gian xử lý và mạch so sánh.</a:t>
            </a:r>
            <a:endParaRPr lang="en-US" dirty="0"/>
          </a:p>
          <a:p>
            <a:r>
              <a:rPr lang="en-US" smtClean="0"/>
              <a:t>Mô phỏng 1 hệ thống 64KB</a:t>
            </a:r>
            <a:r>
              <a:rPr lang="en-US"/>
              <a:t> </a:t>
            </a:r>
            <a:r>
              <a:rPr lang="en-US" smtClean="0"/>
              <a:t>cache dữ liệu, 16-word/khối với </a:t>
            </a:r>
            <a:r>
              <a:rPr lang="en-US" dirty="0"/>
              <a:t>SPEC2000</a:t>
            </a:r>
          </a:p>
          <a:p>
            <a:pPr lvl="1"/>
            <a:r>
              <a:rPr lang="en-US" dirty="0"/>
              <a:t>1-way: 10.3%</a:t>
            </a:r>
          </a:p>
          <a:p>
            <a:pPr lvl="1"/>
            <a:r>
              <a:rPr lang="en-US" dirty="0"/>
              <a:t>2-way: 8.6%</a:t>
            </a:r>
          </a:p>
          <a:p>
            <a:pPr lvl="1"/>
            <a:r>
              <a:rPr lang="en-US" dirty="0"/>
              <a:t>4-way: 8.3%</a:t>
            </a:r>
          </a:p>
          <a:p>
            <a:pPr lvl="1"/>
            <a:r>
              <a:rPr lang="en-US" dirty="0"/>
              <a:t>8-way: 8.1%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66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28687"/>
          </a:xfrm>
        </p:spPr>
        <p:txBody>
          <a:bodyPr/>
          <a:lstStyle/>
          <a:p>
            <a:r>
              <a:rPr lang="en-US" sz="3200" b="1" smtClean="0">
                <a:solidFill>
                  <a:srgbClr val="0039A6"/>
                </a:solidFill>
                <a:latin typeface="Arial"/>
              </a:rPr>
              <a:t>Tổ chức hiện thực </a:t>
            </a:r>
            <a:br>
              <a:rPr lang="en-US" sz="3200" b="1" smtClean="0">
                <a:solidFill>
                  <a:srgbClr val="0039A6"/>
                </a:solidFill>
                <a:latin typeface="Arial"/>
              </a:rPr>
            </a:br>
            <a:r>
              <a:rPr lang="en-US" sz="3200" b="1" smtClean="0">
                <a:solidFill>
                  <a:srgbClr val="0039A6"/>
                </a:solidFill>
                <a:latin typeface="Arial"/>
              </a:rPr>
              <a:t>“		Set </a:t>
            </a:r>
            <a:r>
              <a:rPr lang="en-US" sz="3200" b="1">
                <a:solidFill>
                  <a:srgbClr val="0039A6"/>
                </a:solidFill>
                <a:latin typeface="Arial"/>
              </a:rPr>
              <a:t>Associative </a:t>
            </a:r>
            <a:r>
              <a:rPr lang="en-US" sz="3200" b="1" smtClean="0">
                <a:solidFill>
                  <a:srgbClr val="0039A6"/>
                </a:solidFill>
                <a:latin typeface="Arial"/>
              </a:rPr>
              <a:t>Cache”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38</a:t>
            </a:fld>
            <a:endParaRPr lang="vi-V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1" y="1471613"/>
            <a:ext cx="6424954" cy="466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63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Chính sách thay thế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39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914400" y="1295400"/>
            <a:ext cx="8077200" cy="495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mtClean="0"/>
              <a:t>Ánh xạ trực tiếp: không có lựa chọn ≠</a:t>
            </a:r>
            <a:endParaRPr lang="en-US"/>
          </a:p>
          <a:p>
            <a:pPr>
              <a:lnSpc>
                <a:spcPct val="80000"/>
              </a:lnSpc>
            </a:pPr>
            <a:r>
              <a:rPr lang="en-US" smtClean="0"/>
              <a:t>Ánh xạ quan hệ tệp </a:t>
            </a:r>
            <a:r>
              <a:rPr lang="en-US" i="1" smtClean="0"/>
              <a:t>n</a:t>
            </a:r>
            <a:r>
              <a:rPr lang="en-US" smtClean="0"/>
              <a:t>-chiều</a:t>
            </a:r>
            <a:endParaRPr lang="en-US"/>
          </a:p>
          <a:p>
            <a:pPr lvl="1">
              <a:lnSpc>
                <a:spcPct val="80000"/>
              </a:lnSpc>
            </a:pPr>
            <a:r>
              <a:rPr lang="en-US" smtClean="0"/>
              <a:t>Chọn phần tử (v=0), nếu có </a:t>
            </a:r>
            <a:endParaRPr lang="en-US"/>
          </a:p>
          <a:p>
            <a:pPr lvl="1">
              <a:lnSpc>
                <a:spcPct val="80000"/>
              </a:lnSpc>
            </a:pPr>
            <a:r>
              <a:rPr lang="en-US" smtClean="0"/>
              <a:t>Nếu không, chọn giữa các phần tử trong tệp</a:t>
            </a:r>
            <a:endParaRPr lang="en-US"/>
          </a:p>
          <a:p>
            <a:pPr>
              <a:lnSpc>
                <a:spcPct val="80000"/>
              </a:lnSpc>
            </a:pPr>
            <a:r>
              <a:rPr lang="en-US" smtClean="0"/>
              <a:t>Chọn “ít dùng nhất” (LRU</a:t>
            </a:r>
            <a:r>
              <a:rPr lang="en-US"/>
              <a:t>)</a:t>
            </a:r>
          </a:p>
          <a:p>
            <a:pPr lvl="1">
              <a:lnSpc>
                <a:spcPct val="80000"/>
              </a:lnSpc>
            </a:pPr>
            <a:r>
              <a:rPr lang="en-US" smtClean="0"/>
              <a:t>Chọn phần tử nào ít dùng nhất</a:t>
            </a:r>
          </a:p>
          <a:p>
            <a:pPr lvl="2">
              <a:lnSpc>
                <a:spcPct val="80000"/>
              </a:lnSpc>
            </a:pPr>
            <a:r>
              <a:rPr lang="en-US" smtClean="0"/>
              <a:t>Đơn giản với </a:t>
            </a:r>
            <a:r>
              <a:rPr lang="en-US"/>
              <a:t>2-way, </a:t>
            </a:r>
            <a:r>
              <a:rPr lang="en-US" smtClean="0"/>
              <a:t>phức tạp hơn với </a:t>
            </a:r>
            <a:r>
              <a:rPr lang="en-US"/>
              <a:t>4-way</a:t>
            </a:r>
            <a:r>
              <a:rPr lang="en-US" smtClean="0"/>
              <a:t>, phức tạp cho những tệp &gt; 4</a:t>
            </a:r>
            <a:endParaRPr lang="en-US"/>
          </a:p>
          <a:p>
            <a:pPr>
              <a:lnSpc>
                <a:spcPct val="80000"/>
              </a:lnSpc>
            </a:pPr>
            <a:r>
              <a:rPr lang="en-US" smtClean="0"/>
              <a:t>Chọn ngẫu nhiên</a:t>
            </a:r>
            <a:endParaRPr lang="en-US"/>
          </a:p>
          <a:p>
            <a:pPr lvl="1">
              <a:lnSpc>
                <a:spcPct val="80000"/>
              </a:lnSpc>
            </a:pPr>
            <a:r>
              <a:rPr lang="en-US" smtClean="0"/>
              <a:t>Cho kết quả giống LRU đối với tệp quan hệ lớn.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957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Cache đa cấp (multilevel)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40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182688" y="1295401"/>
            <a:ext cx="7772400" cy="483711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mtClean="0"/>
              <a:t>Cache sơ cấp (cấp 1) gắn trực tiếp với CPU</a:t>
            </a:r>
            <a:endParaRPr lang="en-US"/>
          </a:p>
          <a:p>
            <a:pPr lvl="1">
              <a:spcBef>
                <a:spcPts val="0"/>
              </a:spcBef>
            </a:pPr>
            <a:r>
              <a:rPr lang="en-US" smtClean="0"/>
              <a:t>Dung lượng nhỏ nhưng nhanh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smtClean="0"/>
              <a:t>Cache cấp 2: giải quyết khi thông tin không có ở cấp 1</a:t>
            </a:r>
            <a:endParaRPr lang="en-US"/>
          </a:p>
          <a:p>
            <a:pPr lvl="1">
              <a:spcBef>
                <a:spcPts val="0"/>
              </a:spcBef>
            </a:pPr>
            <a:r>
              <a:rPr lang="en-US" smtClean="0"/>
              <a:t>Dung lượng lớn hơn, chậm hơn, nhưng vẫn nhanh hơn bộ nhớ chính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smtClean="0"/>
              <a:t>Bộ nhớ chính giải quyết khi thông tin không có ở cấp 2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smtClean="0"/>
              <a:t>Một số hệ thống: cấp 3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70725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dụ: Cache đa cấp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41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Giả sử</a:t>
            </a:r>
            <a:endParaRPr lang="en-US"/>
          </a:p>
          <a:p>
            <a:pPr lvl="1"/>
            <a:r>
              <a:rPr lang="en-US"/>
              <a:t>CPU </a:t>
            </a:r>
            <a:r>
              <a:rPr lang="en-US" smtClean="0"/>
              <a:t>có </a:t>
            </a:r>
            <a:r>
              <a:rPr lang="en-US"/>
              <a:t>CPI = 1, clock rate = 4GHz</a:t>
            </a:r>
          </a:p>
          <a:p>
            <a:pPr lvl="1"/>
            <a:r>
              <a:rPr lang="en-US"/>
              <a:t>Miss rate/instruction = 2%</a:t>
            </a:r>
          </a:p>
          <a:p>
            <a:pPr lvl="1"/>
            <a:r>
              <a:rPr lang="en-US" smtClean="0"/>
              <a:t>Thời gian truy suất bộ nhớ chính </a:t>
            </a:r>
            <a:r>
              <a:rPr lang="en-US"/>
              <a:t>= 100ns</a:t>
            </a:r>
          </a:p>
          <a:p>
            <a:r>
              <a:rPr lang="en-US" smtClean="0"/>
              <a:t>Nếu chỉ có cache sơ cấp (cấp 1)</a:t>
            </a:r>
            <a:endParaRPr lang="en-US"/>
          </a:p>
          <a:p>
            <a:pPr lvl="1"/>
            <a:r>
              <a:rPr lang="en-US"/>
              <a:t>Miss penalty = 100ns/0.25ns = 400 cycles</a:t>
            </a:r>
          </a:p>
          <a:p>
            <a:pPr lvl="1"/>
            <a:r>
              <a:rPr lang="en-US"/>
              <a:t>Effective CPI = 1 + 0.02 × 400 = 9</a:t>
            </a:r>
          </a:p>
        </p:txBody>
      </p:sp>
    </p:spTree>
    <p:extLst>
      <p:ext uri="{BB962C8B-B14F-4D97-AF65-F5344CB8AC3E}">
        <p14:creationId xmlns:p14="http://schemas.microsoft.com/office/powerpoint/2010/main" val="26832108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dụ: Cache đa cấp (tt.)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42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1295400"/>
            <a:ext cx="8262361" cy="4953000"/>
          </a:xfrm>
        </p:spPr>
        <p:txBody>
          <a:bodyPr/>
          <a:lstStyle/>
          <a:p>
            <a:r>
              <a:rPr lang="en-US" smtClean="0"/>
              <a:t>Giả sử thêm cache cấp 2</a:t>
            </a:r>
            <a:endParaRPr lang="en-US"/>
          </a:p>
          <a:p>
            <a:pPr lvl="1"/>
            <a:r>
              <a:rPr lang="en-US" smtClean="0"/>
              <a:t>Thời gian truy xuất = </a:t>
            </a:r>
            <a:r>
              <a:rPr lang="en-US"/>
              <a:t>5ns</a:t>
            </a:r>
          </a:p>
          <a:p>
            <a:pPr lvl="1"/>
            <a:r>
              <a:rPr lang="en-US" smtClean="0"/>
              <a:t>Miss rate toàn cục (to </a:t>
            </a:r>
            <a:r>
              <a:rPr lang="en-US"/>
              <a:t>main </a:t>
            </a:r>
            <a:r>
              <a:rPr lang="en-US" smtClean="0"/>
              <a:t>memory) </a:t>
            </a:r>
            <a:r>
              <a:rPr lang="en-US"/>
              <a:t>= 0.5%</a:t>
            </a:r>
          </a:p>
          <a:p>
            <a:r>
              <a:rPr lang="en-US"/>
              <a:t>Primary miss </a:t>
            </a:r>
            <a:r>
              <a:rPr lang="en-US" smtClean="0"/>
              <a:t>trong trường hợp </a:t>
            </a:r>
            <a:r>
              <a:rPr lang="en-US"/>
              <a:t>L-2 hit</a:t>
            </a:r>
          </a:p>
          <a:p>
            <a:pPr lvl="1"/>
            <a:r>
              <a:rPr lang="en-US"/>
              <a:t>Penalty = 5ns/0.25ns = 20 cycles</a:t>
            </a:r>
          </a:p>
          <a:p>
            <a:r>
              <a:rPr lang="en-US"/>
              <a:t>Primary miss </a:t>
            </a:r>
            <a:r>
              <a:rPr lang="en-US" smtClean="0"/>
              <a:t>trong trường hợp </a:t>
            </a:r>
            <a:r>
              <a:rPr lang="en-US"/>
              <a:t>L-2 miss</a:t>
            </a:r>
          </a:p>
          <a:p>
            <a:pPr lvl="1"/>
            <a:r>
              <a:rPr lang="en-US"/>
              <a:t>Extra penalty = </a:t>
            </a:r>
            <a:r>
              <a:rPr lang="en-US" smtClean="0"/>
              <a:t>0.5% của 400 </a:t>
            </a:r>
            <a:r>
              <a:rPr lang="en-US"/>
              <a:t>cycles</a:t>
            </a:r>
          </a:p>
          <a:p>
            <a:r>
              <a:rPr lang="en-US"/>
              <a:t>CPI = 1 + 0.02 × 20 + 0.005 × 400 = 3.4</a:t>
            </a:r>
          </a:p>
          <a:p>
            <a:r>
              <a:rPr lang="en-US" smtClean="0"/>
              <a:t>Tỷ số hiệu năng </a:t>
            </a:r>
            <a:r>
              <a:rPr lang="en-US"/>
              <a:t>= 9/3.4 = 2.6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60465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Nhận xét về cache đa cấp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43</a:t>
            </a:fld>
            <a:endParaRPr lang="vi-VN"/>
          </a:p>
        </p:txBody>
      </p:sp>
      <p:sp>
        <p:nvSpPr>
          <p:cNvPr id="7" name="Rectangle 7"/>
          <p:cNvSpPr>
            <a:spLocks noGrp="1" noChangeArrowheads="1"/>
          </p:cNvSpPr>
          <p:nvPr>
            <p:ph idx="1"/>
          </p:nvPr>
        </p:nvSpPr>
        <p:spPr>
          <a:xfrm>
            <a:off x="646112" y="1371600"/>
            <a:ext cx="8497888" cy="4661521"/>
          </a:xfrm>
        </p:spPr>
        <p:txBody>
          <a:bodyPr/>
          <a:lstStyle/>
          <a:p>
            <a:r>
              <a:rPr lang="en-US" smtClean="0"/>
              <a:t>Cache sơ cấp (Primary cache)</a:t>
            </a:r>
            <a:endParaRPr lang="en-US"/>
          </a:p>
          <a:p>
            <a:pPr lvl="1"/>
            <a:r>
              <a:rPr lang="en-US" smtClean="0"/>
              <a:t>Tập trung vào giảm thời gian hit</a:t>
            </a:r>
            <a:endParaRPr lang="en-US"/>
          </a:p>
          <a:p>
            <a:r>
              <a:rPr lang="en-US" smtClean="0"/>
              <a:t>Cache cấp 2 (L-2 cache)</a:t>
            </a:r>
            <a:endParaRPr lang="en-US"/>
          </a:p>
          <a:p>
            <a:pPr lvl="1"/>
            <a:r>
              <a:rPr lang="en-US" smtClean="0"/>
              <a:t>Tập trung vào giảm tỷ lệ mis, tránh truy xuất bộ nhớ chính</a:t>
            </a:r>
            <a:endParaRPr lang="en-US"/>
          </a:p>
          <a:p>
            <a:pPr lvl="1"/>
            <a:r>
              <a:rPr lang="en-US"/>
              <a:t>Hit time </a:t>
            </a:r>
            <a:r>
              <a:rPr lang="en-US" smtClean="0"/>
              <a:t>không tác dụng nhiều ở cấp này</a:t>
            </a:r>
            <a:endParaRPr lang="en-US"/>
          </a:p>
          <a:p>
            <a:r>
              <a:rPr lang="en-US" smtClean="0"/>
              <a:t>Kết quả</a:t>
            </a:r>
            <a:endParaRPr lang="en-US"/>
          </a:p>
          <a:p>
            <a:pPr lvl="1"/>
            <a:r>
              <a:rPr lang="en-US"/>
              <a:t>L-1 cache </a:t>
            </a:r>
            <a:r>
              <a:rPr lang="en-US" smtClean="0"/>
              <a:t>thường nhỏ ơn Cache cấp 2</a:t>
            </a:r>
            <a:endParaRPr lang="en-US"/>
          </a:p>
          <a:p>
            <a:pPr lvl="1"/>
            <a:r>
              <a:rPr lang="en-US"/>
              <a:t>L-1 block size </a:t>
            </a:r>
            <a:r>
              <a:rPr lang="en-US" smtClean="0"/>
              <a:t>nhỏ hơn </a:t>
            </a:r>
            <a:r>
              <a:rPr lang="en-US"/>
              <a:t>L-2 block size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25369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Bộ nhớ ảo (Virtual Memory)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44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421688" cy="5105399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smtClean="0"/>
              <a:t>Bộ nhớ chính được sử dụng như “cache” của bộ nhớ đại trà (Đĩa từ)</a:t>
            </a: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en-US" sz="2400" smtClean="0"/>
              <a:t>Quản lý với sự kết hợp phần cứng CPU và hệ điều hành (OS)</a:t>
            </a: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800" smtClean="0"/>
              <a:t>Bộ nhớ chính được sử dụng chung cho nhiều chương trình đồng thời</a:t>
            </a: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en-US" sz="2400" smtClean="0"/>
              <a:t>Mỗi chương trình chiếm 1 không gian bộ nhớ riêng &amp; chỉ những phần được dùng thường xuyên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smtClean="0"/>
              <a:t>Không gian của mỗi chương trình được bảo vệ, trách sự xâm lấn giữa chúng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CPU và OS chuyển đổi từ địa chỉ ảo sang địa chỉ vật lý</a:t>
            </a:r>
          </a:p>
          <a:p>
            <a:pPr lvl="1">
              <a:lnSpc>
                <a:spcPct val="80000"/>
              </a:lnSpc>
            </a:pPr>
            <a:r>
              <a:rPr lang="en-US" sz="2400" smtClean="0"/>
              <a:t>Khối “bộ nhớ ảo” được gọi là trang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smtClean="0"/>
              <a:t>Khi 1 khối ảo không tồn tại trong bộ nhớ </a:t>
            </a:r>
            <a:r>
              <a:rPr lang="en-US" sz="2400" smtClean="0">
                <a:sym typeface="Wingdings" pitchFamily="2" charset="2"/>
              </a:rPr>
              <a:t> lỗi trang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1226544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Chuyển đổi địa chỉ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4356721"/>
          </a:xfrm>
        </p:spPr>
        <p:txBody>
          <a:bodyPr/>
          <a:lstStyle/>
          <a:p>
            <a:r>
              <a:rPr lang="en-US" smtClean="0"/>
              <a:t>Trang có dung lượng cố định (e.g</a:t>
            </a:r>
            <a:r>
              <a:rPr lang="en-US" dirty="0"/>
              <a:t>., 4K)</a:t>
            </a:r>
            <a:endParaRPr lang="en-AU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45</a:t>
            </a:fld>
            <a:endParaRPr lang="vi-VN"/>
          </a:p>
        </p:txBody>
      </p:sp>
      <p:pic>
        <p:nvPicPr>
          <p:cNvPr id="7" name="Picture 9" descr="f05-19-P37449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71800"/>
            <a:ext cx="3448050" cy="2347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05-20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38400"/>
            <a:ext cx="4318000" cy="309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8638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 </a:t>
            </a:r>
            <a:r>
              <a:rPr lang="en-US" b="1">
                <a:solidFill>
                  <a:srgbClr val="0039A6"/>
                </a:solidFill>
                <a:latin typeface="Arial"/>
              </a:rPr>
              <a:t>L</a:t>
            </a:r>
            <a:r>
              <a:rPr lang="en-US" b="1" smtClean="0">
                <a:solidFill>
                  <a:srgbClr val="0039A6"/>
                </a:solidFill>
                <a:latin typeface="Arial"/>
              </a:rPr>
              <a:t>ỗi trang (Page fault)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46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Khi xuất hiện lỗi trang, trang yêu cầu được nạp từ đĩa vào bộ nhớ</a:t>
            </a:r>
            <a:endParaRPr lang="en-US"/>
          </a:p>
          <a:p>
            <a:pPr lvl="1"/>
            <a:r>
              <a:rPr lang="en-US" smtClean="0"/>
              <a:t>Thời gian: hàng triệu chu kỳ clock</a:t>
            </a:r>
            <a:endParaRPr lang="en-US"/>
          </a:p>
          <a:p>
            <a:pPr lvl="1"/>
            <a:r>
              <a:rPr lang="en-US" smtClean="0"/>
              <a:t>OS sẽ xử lý</a:t>
            </a:r>
            <a:endParaRPr lang="en-US"/>
          </a:p>
          <a:p>
            <a:r>
              <a:rPr lang="en-US" smtClean="0"/>
              <a:t>Tiêu chí: tối thiểu số lỗi trang</a:t>
            </a:r>
            <a:endParaRPr lang="en-US"/>
          </a:p>
          <a:p>
            <a:pPr lvl="1"/>
            <a:r>
              <a:rPr lang="en-US" smtClean="0"/>
              <a:t>Sắp xếp theo quan hệ toàn phần</a:t>
            </a:r>
          </a:p>
          <a:p>
            <a:pPr lvl="1"/>
            <a:r>
              <a:rPr lang="en-US" smtClean="0"/>
              <a:t>Sử dụng các giải thuật thông minh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611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Bảng phân trang (Page Tables)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47</a:t>
            </a:fld>
            <a:endParaRPr lang="vi-VN"/>
          </a:p>
        </p:txBody>
      </p:sp>
      <p:sp>
        <p:nvSpPr>
          <p:cNvPr id="7" name="Rectangle 9"/>
          <p:cNvSpPr>
            <a:spLocks noGrp="1" noChangeArrowheads="1"/>
          </p:cNvSpPr>
          <p:nvPr>
            <p:ph idx="1"/>
          </p:nvPr>
        </p:nvSpPr>
        <p:spPr>
          <a:xfrm>
            <a:off x="457200" y="1470991"/>
            <a:ext cx="8497888" cy="466152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Lưu trữ thông tin sắp xếp trang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mtClean="0"/>
              <a:t>Bảng ánh xạ trang 2 chiều, đánh chỉ số theo trang ảo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mtClean="0"/>
              <a:t>Thanh ghi ánh xạ trong CPU sẽ chỉ đến bảng ánh xạ trong bộ nhớ vật lý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mtClean="0"/>
              <a:t>Nếu trang tồn tại trong bộ nhớ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/>
              <a:t>PTE </a:t>
            </a:r>
            <a:r>
              <a:rPr lang="en-US" smtClean="0"/>
              <a:t>chứa chỉ số trang vật lý tương ứng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mtClean="0"/>
              <a:t>Cùng với bit trạng thái (đã tham chiếu, </a:t>
            </a:r>
            <a:r>
              <a:rPr lang="en-US"/>
              <a:t>dirty</a:t>
            </a:r>
            <a:r>
              <a:rPr lang="en-US" smtClean="0"/>
              <a:t>,…)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mtClean="0"/>
              <a:t>Nếu trang không tồn tại trong bộ nhớ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/>
              <a:t>PTE </a:t>
            </a:r>
            <a:r>
              <a:rPr lang="en-US" smtClean="0"/>
              <a:t>tham chiếu đến vùng swap trên đĩa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9335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7793037" cy="776287"/>
          </a:xfrm>
        </p:spPr>
        <p:txBody>
          <a:bodyPr/>
          <a:lstStyle/>
          <a:p>
            <a:r>
              <a:rPr lang="en-US" sz="3600" b="1" smtClean="0">
                <a:solidFill>
                  <a:srgbClr val="0039A6"/>
                </a:solidFill>
                <a:latin typeface="Arial"/>
              </a:rPr>
              <a:t>Chuyển đổi với bảng phân trang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48</a:t>
            </a:fld>
            <a:endParaRPr lang="vi-VN"/>
          </a:p>
        </p:txBody>
      </p:sp>
      <p:pic>
        <p:nvPicPr>
          <p:cNvPr id="7" name="Picture 4" descr="f05-21-P37449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412875"/>
            <a:ext cx="5513388" cy="4757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4681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Ánh xạ trang (pages) lên đĩa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49</a:t>
            </a:fld>
            <a:endParaRPr lang="vi-VN"/>
          </a:p>
        </p:txBody>
      </p:sp>
      <p:pic>
        <p:nvPicPr>
          <p:cNvPr id="8" name="Picture 4" descr="f05-22-P37449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493856"/>
            <a:ext cx="6162061" cy="472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6794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Thay thế &amp; cập nhật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50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1470991"/>
            <a:ext cx="8193088" cy="4661521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smtClean="0"/>
              <a:t>Để giảm lỗi trang, việc thay thế thường chọn trang ít sử dụng nhất </a:t>
            </a:r>
            <a:r>
              <a:rPr lang="en-US" sz="2800"/>
              <a:t>(</a:t>
            </a:r>
            <a:r>
              <a:rPr lang="en-US" sz="2800" smtClean="0"/>
              <a:t>LRU)</a:t>
            </a: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en-US" sz="2400" smtClean="0"/>
              <a:t>Bit tham chiếu trong bảng phân trang </a:t>
            </a:r>
            <a:r>
              <a:rPr lang="en-US" sz="2400"/>
              <a:t>PTE </a:t>
            </a:r>
            <a:r>
              <a:rPr lang="en-US" sz="2400" smtClean="0"/>
              <a:t>gán lên </a:t>
            </a:r>
            <a:r>
              <a:rPr lang="en-US" sz="2400"/>
              <a:t>1 </a:t>
            </a:r>
            <a:r>
              <a:rPr lang="en-US" sz="2400" smtClean="0"/>
              <a:t>mỗi khi trang được tham chiếu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smtClean="0"/>
              <a:t>Hệ điều hành sẽ định kỳ xóa về 0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smtClean="0"/>
              <a:t>Trang có bit tham chiếu bằng 0: chưa được dùng</a:t>
            </a: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800" smtClean="0"/>
              <a:t>Cập nhật trở lại đĩa: thời gian lên tới hàng triệu chu kỳ (phụ thuộc vào loại đĩa)</a:t>
            </a: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en-US" sz="2400" smtClean="0"/>
              <a:t>Cập nhật nguyên khối, không cập nhật từng từ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smtClean="0"/>
              <a:t>“Write through” không thực tế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smtClean="0"/>
              <a:t>Sử dụng “write-back”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smtClean="0"/>
              <a:t>“Dirty bit” trong bảng </a:t>
            </a:r>
            <a:r>
              <a:rPr lang="en-US" sz="2400"/>
              <a:t>PTE </a:t>
            </a:r>
            <a:r>
              <a:rPr lang="en-US" sz="2400" smtClean="0"/>
              <a:t>= 1, khi trang thay đổi nội dung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062855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Chuyển đổi nhanh với TLB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51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295401"/>
            <a:ext cx="8269288" cy="5029200"/>
          </a:xfrm>
        </p:spPr>
        <p:txBody>
          <a:bodyPr/>
          <a:lstStyle/>
          <a:p>
            <a:r>
              <a:rPr lang="en-US" sz="2800" smtClean="0"/>
              <a:t>TLB = Translation-lookaside buffer</a:t>
            </a:r>
          </a:p>
          <a:p>
            <a:r>
              <a:rPr lang="en-US" sz="2800" smtClean="0"/>
              <a:t>Việc chuyển đổi địa chỉ: truy xuất xảy ra 2 lần truy cập bộ nhớ</a:t>
            </a:r>
            <a:endParaRPr lang="en-US" sz="2800"/>
          </a:p>
          <a:p>
            <a:pPr lvl="1"/>
            <a:r>
              <a:rPr lang="en-US" sz="2400" smtClean="0"/>
              <a:t>Truy cập để lấy được địa chỉ vật lý tương ứng PTE</a:t>
            </a:r>
            <a:endParaRPr lang="en-US" sz="2400"/>
          </a:p>
          <a:p>
            <a:pPr lvl="1"/>
            <a:r>
              <a:rPr lang="en-US" sz="2400" smtClean="0"/>
              <a:t>Sau đó mới truy cập để lấy thông tin bộ nhớ</a:t>
            </a:r>
            <a:endParaRPr lang="en-US" sz="2400"/>
          </a:p>
          <a:p>
            <a:r>
              <a:rPr lang="en-US" sz="2800" smtClean="0"/>
              <a:t>Tuy nhiên truy cập bảng trang: tính cục bộ</a:t>
            </a:r>
            <a:endParaRPr lang="en-US" sz="2800"/>
          </a:p>
          <a:p>
            <a:pPr lvl="1"/>
            <a:r>
              <a:rPr lang="en-US" sz="2400" smtClean="0"/>
              <a:t>Sử dụng bộ nhớ cache nhanh PTE trong CPU</a:t>
            </a:r>
          </a:p>
          <a:p>
            <a:pPr lvl="1"/>
            <a:r>
              <a:rPr lang="en-US" sz="2400" smtClean="0"/>
              <a:t>Translation Look-aside Buffer (TLB)</a:t>
            </a:r>
          </a:p>
          <a:p>
            <a:pPr lvl="1"/>
            <a:r>
              <a:rPr lang="en-US" sz="2400" smtClean="0"/>
              <a:t>Thường thì: </a:t>
            </a:r>
            <a:r>
              <a:rPr lang="en-US" sz="2400"/>
              <a:t>16–512 PTEs, 0.5–1 </a:t>
            </a:r>
            <a:r>
              <a:rPr lang="en-US" sz="2400" smtClean="0"/>
              <a:t>chu kỳ với </a:t>
            </a:r>
            <a:r>
              <a:rPr lang="en-US" sz="2400"/>
              <a:t>hit, 10–100 </a:t>
            </a:r>
            <a:r>
              <a:rPr lang="en-US" sz="2400" smtClean="0"/>
              <a:t>chu kỳ với miss</a:t>
            </a:r>
            <a:r>
              <a:rPr lang="en-US" sz="2400"/>
              <a:t>, 0.01%–1% miss rate</a:t>
            </a:r>
          </a:p>
          <a:p>
            <a:pPr lvl="1"/>
            <a:r>
              <a:rPr lang="en-US" sz="2400"/>
              <a:t>Misses </a:t>
            </a:r>
            <a:r>
              <a:rPr lang="en-US" sz="2400" smtClean="0"/>
              <a:t>có thể giải quyết bằng phần cứng hoặc mềm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735820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solidFill>
                  <a:srgbClr val="0039A6"/>
                </a:solidFill>
                <a:latin typeface="Arial"/>
              </a:rPr>
              <a:t>Chuyển đổi nhanh với </a:t>
            </a:r>
            <a:r>
              <a:rPr lang="en-US" sz="4000" b="1" smtClean="0">
                <a:solidFill>
                  <a:srgbClr val="0039A6"/>
                </a:solidFill>
                <a:latin typeface="Arial"/>
              </a:rPr>
              <a:t>TLB (tt.)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52</a:t>
            </a:fld>
            <a:endParaRPr lang="vi-VN"/>
          </a:p>
        </p:txBody>
      </p:sp>
      <p:pic>
        <p:nvPicPr>
          <p:cNvPr id="7" name="Picture 5" descr="f05-23-P37449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268413"/>
            <a:ext cx="6535738" cy="460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2785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Xử lý TLB </a:t>
            </a:r>
            <a:r>
              <a:rPr lang="en-US" b="1" dirty="0">
                <a:solidFill>
                  <a:srgbClr val="0039A6"/>
                </a:solidFill>
                <a:latin typeface="Arial"/>
              </a:rPr>
              <a:t>Misses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53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066800" y="1470991"/>
            <a:ext cx="7888288" cy="477740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smtClean="0"/>
              <a:t>Nếu trang yêu cầu có trong bộ nhớ chính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Nạp </a:t>
            </a:r>
            <a:r>
              <a:rPr lang="en-US" sz="2400"/>
              <a:t>PTE </a:t>
            </a:r>
            <a:r>
              <a:rPr lang="en-US" sz="2400" smtClean="0"/>
              <a:t>từ bộ nhớ chính &amp; thử lại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Có thể thực hiện bằng phần cứng</a:t>
            </a:r>
            <a:endParaRPr lang="en-US" sz="2400" dirty="0"/>
          </a:p>
          <a:p>
            <a:pPr lvl="2">
              <a:lnSpc>
                <a:spcPct val="90000"/>
              </a:lnSpc>
            </a:pPr>
            <a:r>
              <a:rPr lang="en-US" sz="2000" smtClean="0"/>
              <a:t>Trở nên phức tạp với các cấu trúc bảng ánh xạ trang phức tạp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Hoặc bằng phần mềm</a:t>
            </a:r>
            <a:endParaRPr lang="en-US" sz="2400" dirty="0"/>
          </a:p>
          <a:p>
            <a:pPr lvl="2">
              <a:lnSpc>
                <a:spcPct val="90000"/>
              </a:lnSpc>
            </a:pPr>
            <a:r>
              <a:rPr lang="en-US" sz="2000" smtClean="0"/>
              <a:t>Xử dụng cơ chế ngoại lệ đặc biệt, xử lý chuyên dụng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800" smtClean="0"/>
              <a:t>Nếu trang yêu cầu không có trong bộ nhớ chính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OS sẽ nạp trang yêu cầu từ đĩa và cập nhật bảng ánh xạ trang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Sau đó khởi động lại lệnh bị lỗi trang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1876573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Bộ xử lý (handler) TLB Miss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54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219200"/>
            <a:ext cx="8193088" cy="51054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AU"/>
              <a:t>TLB miss </a:t>
            </a:r>
            <a:r>
              <a:rPr lang="en-AU" smtClean="0"/>
              <a:t>xuất hiện </a:t>
            </a:r>
            <a:r>
              <a:rPr lang="en-AU" smtClean="0">
                <a:sym typeface="Wingdings" pitchFamily="2" charset="2"/>
              </a:rPr>
              <a:t> 2 trường hợp</a:t>
            </a:r>
            <a:endParaRPr lang="en-AU"/>
          </a:p>
          <a:p>
            <a:pPr lvl="1">
              <a:spcBef>
                <a:spcPts val="0"/>
              </a:spcBef>
            </a:pPr>
            <a:r>
              <a:rPr lang="en-AU" smtClean="0"/>
              <a:t>Trang hiện hữu, nhưng PTE không có trong TLB</a:t>
            </a:r>
            <a:endParaRPr lang="en-AU"/>
          </a:p>
          <a:p>
            <a:pPr lvl="1">
              <a:spcBef>
                <a:spcPts val="0"/>
              </a:spcBef>
            </a:pPr>
            <a:r>
              <a:rPr lang="en-AU" smtClean="0"/>
              <a:t>Trang không tồn tại trong bộ nhớ chính</a:t>
            </a:r>
            <a:endParaRPr lang="en-AU"/>
          </a:p>
          <a:p>
            <a:pPr>
              <a:spcBef>
                <a:spcPts val="0"/>
              </a:spcBef>
            </a:pPr>
            <a:r>
              <a:rPr lang="en-AU" smtClean="0"/>
              <a:t>TLB mis cần nhận biết trước khi thanh ghi đích được cập nhật</a:t>
            </a:r>
            <a:endParaRPr lang="en-AU"/>
          </a:p>
          <a:p>
            <a:pPr lvl="1">
              <a:spcBef>
                <a:spcPts val="0"/>
              </a:spcBef>
            </a:pPr>
            <a:r>
              <a:rPr lang="en-AU" smtClean="0"/>
              <a:t>Xuất hiện ngoại lệ</a:t>
            </a:r>
            <a:endParaRPr lang="en-AU"/>
          </a:p>
          <a:p>
            <a:pPr>
              <a:spcBef>
                <a:spcPts val="0"/>
              </a:spcBef>
            </a:pPr>
            <a:r>
              <a:rPr lang="en-AU" smtClean="0"/>
              <a:t>Bộ xử lý sẽ sao chép PTE từ bộ nhớ vào TLB</a:t>
            </a:r>
            <a:endParaRPr lang="en-AU"/>
          </a:p>
          <a:p>
            <a:pPr lvl="1">
              <a:spcBef>
                <a:spcPts val="0"/>
              </a:spcBef>
            </a:pPr>
            <a:r>
              <a:rPr lang="en-AU" smtClean="0"/>
              <a:t>Sau đó lệnh được khởi đọng lại</a:t>
            </a:r>
            <a:endParaRPr lang="en-AU"/>
          </a:p>
          <a:p>
            <a:pPr lvl="1">
              <a:spcBef>
                <a:spcPts val="0"/>
              </a:spcBef>
            </a:pPr>
            <a:r>
              <a:rPr lang="en-AU" smtClean="0"/>
              <a:t>Nếu trang không có, lỗi trang xảy ra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90695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Khi có lỗi trang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55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295401"/>
            <a:ext cx="8193088" cy="4837112"/>
          </a:xfrm>
        </p:spPr>
        <p:txBody>
          <a:bodyPr/>
          <a:lstStyle/>
          <a:p>
            <a:r>
              <a:rPr lang="en-AU" smtClean="0"/>
              <a:t>Sử dụng địa chỉ bị lỗi để tìm phần tử PTE trang tương ứng</a:t>
            </a:r>
            <a:endParaRPr lang="en-AU"/>
          </a:p>
          <a:p>
            <a:r>
              <a:rPr lang="en-AU" smtClean="0"/>
              <a:t>Xác định vị trí trên đĩa </a:t>
            </a:r>
          </a:p>
          <a:p>
            <a:r>
              <a:rPr lang="en-AU" smtClean="0"/>
              <a:t>Chọn trang trong bảng ánh xạ để thay thế</a:t>
            </a:r>
          </a:p>
          <a:p>
            <a:pPr lvl="1"/>
            <a:r>
              <a:rPr lang="en-AU" smtClean="0"/>
              <a:t>Nếu bị sửa đổi nhiều: cập nhật lên đĩa</a:t>
            </a:r>
            <a:endParaRPr lang="en-AU"/>
          </a:p>
          <a:p>
            <a:r>
              <a:rPr lang="en-AU" smtClean="0"/>
              <a:t>Đọc trang yêu cầu từ đĩa &amp; Cập nhật bảng ánh xạ trang</a:t>
            </a:r>
            <a:endParaRPr lang="en-AU"/>
          </a:p>
          <a:p>
            <a:r>
              <a:rPr lang="en-AU" smtClean="0"/>
              <a:t>Khởi động quá trình chậy lại</a:t>
            </a:r>
            <a:endParaRPr lang="en-AU"/>
          </a:p>
          <a:p>
            <a:pPr lvl="1"/>
            <a:r>
              <a:rPr lang="en-AU" smtClean="0"/>
              <a:t>Khởi động lại lệnh gây lỗi trang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99007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Giao tiếp TLB &amp; Cache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56</a:t>
            </a:fld>
            <a:endParaRPr lang="vi-VN"/>
          </a:p>
        </p:txBody>
      </p:sp>
      <p:pic>
        <p:nvPicPr>
          <p:cNvPr id="7" name="Picture 5" descr="f05-24-P37449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295400"/>
            <a:ext cx="4956175" cy="508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5565774" y="1470991"/>
            <a:ext cx="3389313" cy="4661521"/>
          </a:xfrm>
        </p:spPr>
        <p:txBody>
          <a:bodyPr/>
          <a:lstStyle/>
          <a:p>
            <a:r>
              <a:rPr lang="en-US" sz="2400" dirty="0"/>
              <a:t>If cache tag uses physical address</a:t>
            </a:r>
          </a:p>
          <a:p>
            <a:pPr lvl="1"/>
            <a:r>
              <a:rPr lang="en-US" sz="2000" dirty="0"/>
              <a:t>Need to translate before cache lookup</a:t>
            </a:r>
          </a:p>
          <a:p>
            <a:r>
              <a:rPr lang="en-US" sz="2400" dirty="0"/>
              <a:t>Alternative: use virtual address tag</a:t>
            </a:r>
          </a:p>
          <a:p>
            <a:pPr lvl="1"/>
            <a:r>
              <a:rPr lang="en-US" sz="2000" dirty="0"/>
              <a:t>Complications due to aliasing</a:t>
            </a:r>
          </a:p>
          <a:p>
            <a:pPr lvl="2"/>
            <a:r>
              <a:rPr lang="en-US" sz="1800" dirty="0"/>
              <a:t>Different virtual addresses for shared physical address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0023474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Thực hiện bảo vệ bộ nhớ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57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838200" y="1295400"/>
            <a:ext cx="8165379" cy="4876800"/>
          </a:xfrm>
        </p:spPr>
        <p:txBody>
          <a:bodyPr/>
          <a:lstStyle/>
          <a:p>
            <a:r>
              <a:rPr lang="en-US" sz="2800" smtClean="0"/>
              <a:t>Các chương trình chạy đồng thời chia sẻ chung không gian địa chỉ ảo</a:t>
            </a:r>
            <a:endParaRPr lang="en-US" sz="2800" dirty="0"/>
          </a:p>
          <a:p>
            <a:pPr lvl="1"/>
            <a:r>
              <a:rPr lang="en-US" sz="2400" smtClean="0"/>
              <a:t>Nhưng cần được bảo vệ, tránh truy cập lẫn nhau</a:t>
            </a:r>
            <a:endParaRPr lang="en-US" sz="2400" dirty="0"/>
          </a:p>
          <a:p>
            <a:pPr lvl="1"/>
            <a:r>
              <a:rPr lang="en-US" sz="2400" smtClean="0"/>
              <a:t>Cần sự tham gia của hệ điều hành</a:t>
            </a:r>
            <a:endParaRPr lang="en-US" sz="2400" dirty="0"/>
          </a:p>
          <a:p>
            <a:r>
              <a:rPr lang="en-US" sz="2800" smtClean="0"/>
              <a:t>Phần cứng hỗ trợ hệ điều hành</a:t>
            </a:r>
            <a:endParaRPr lang="en-US" sz="2800" dirty="0"/>
          </a:p>
          <a:p>
            <a:pPr lvl="1"/>
            <a:r>
              <a:rPr lang="en-US" sz="2400" smtClean="0"/>
              <a:t>Chế độ đặc quyền (Privileged </a:t>
            </a:r>
            <a:r>
              <a:rPr lang="en-US" sz="2400"/>
              <a:t>supervisor </a:t>
            </a:r>
            <a:r>
              <a:rPr lang="en-US" sz="2400" smtClean="0"/>
              <a:t>mode)</a:t>
            </a:r>
          </a:p>
          <a:p>
            <a:pPr lvl="1"/>
            <a:r>
              <a:rPr lang="en-US" sz="2400" smtClean="0"/>
              <a:t>Lệnh đặc quyền</a:t>
            </a:r>
          </a:p>
          <a:p>
            <a:pPr lvl="1"/>
            <a:r>
              <a:rPr lang="en-US" sz="2400" smtClean="0"/>
              <a:t>Bảng ánh xạ trang và các thông tin trạng thái khác chỉ được truy cập bằng chế độ đặc quyền</a:t>
            </a:r>
            <a:endParaRPr lang="en-US" sz="2400" dirty="0"/>
          </a:p>
          <a:p>
            <a:pPr lvl="1"/>
            <a:r>
              <a:rPr lang="en-US" sz="2400" smtClean="0"/>
              <a:t>Ngoại lệ “gọi hệ thống” (System </a:t>
            </a:r>
            <a:r>
              <a:rPr lang="en-US" sz="2400"/>
              <a:t>call </a:t>
            </a:r>
            <a:r>
              <a:rPr lang="en-US" sz="2400" smtClean="0"/>
              <a:t>exception) (ví dụ: </a:t>
            </a:r>
            <a:r>
              <a:rPr lang="en-US" sz="2400" dirty="0" err="1"/>
              <a:t>syscall</a:t>
            </a:r>
            <a:r>
              <a:rPr lang="en-US" sz="2400" dirty="0"/>
              <a:t> in MIPS)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992144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Cấu trúc phân tầng bộ nhớ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58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Nguyên tắc chung được áp dụng cho tất cả các tầng (lớp) trong cầu trúc phân tầng bộ nhớ</a:t>
            </a:r>
            <a:endParaRPr lang="en-US"/>
          </a:p>
          <a:p>
            <a:pPr lvl="1"/>
            <a:r>
              <a:rPr lang="en-US" smtClean="0"/>
              <a:t>Sử dụng thuật ngữ “cache”</a:t>
            </a:r>
          </a:p>
          <a:p>
            <a:r>
              <a:rPr lang="en-US" smtClean="0"/>
              <a:t>Các hoạt động tại mỗi tầng</a:t>
            </a:r>
          </a:p>
          <a:p>
            <a:pPr lvl="1"/>
            <a:r>
              <a:rPr lang="en-US" smtClean="0"/>
              <a:t>Sắp đặt khối khối (Block placement)</a:t>
            </a:r>
            <a:endParaRPr lang="en-US"/>
          </a:p>
          <a:p>
            <a:pPr lvl="1"/>
            <a:r>
              <a:rPr lang="en-US" smtClean="0"/>
              <a:t>Tìm kiếm khối (Finding </a:t>
            </a:r>
            <a:r>
              <a:rPr lang="en-US"/>
              <a:t>a </a:t>
            </a:r>
            <a:r>
              <a:rPr lang="en-US" smtClean="0"/>
              <a:t>block)</a:t>
            </a:r>
            <a:endParaRPr lang="en-US"/>
          </a:p>
          <a:p>
            <a:pPr lvl="1"/>
            <a:r>
              <a:rPr lang="en-US" smtClean="0"/>
              <a:t>Thay thế khối trong tường hợp miss</a:t>
            </a:r>
            <a:endParaRPr lang="en-US"/>
          </a:p>
          <a:p>
            <a:pPr lvl="1"/>
            <a:r>
              <a:rPr lang="en-US" smtClean="0"/>
              <a:t>Chính sách cập nhật (Write policy)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36022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Sắp đặt khối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59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066800" y="1295400"/>
            <a:ext cx="7888288" cy="510539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mtClean="0"/>
              <a:t>Xác định bởi hàm ánh xạ quan hệ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smtClean="0"/>
              <a:t>Ánh xạ trực tiếp </a:t>
            </a:r>
            <a:r>
              <a:rPr lang="en-US" dirty="0"/>
              <a:t>(1-way associative)</a:t>
            </a:r>
          </a:p>
          <a:p>
            <a:pPr lvl="2">
              <a:spcBef>
                <a:spcPts val="0"/>
              </a:spcBef>
            </a:pPr>
            <a:r>
              <a:rPr lang="en-US" smtClean="0"/>
              <a:t>Chỉ có 1 phương án duy nhất 1:1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smtClean="0"/>
              <a:t>Ánh xạ tệp </a:t>
            </a:r>
            <a:r>
              <a:rPr lang="en-US" i="1" smtClean="0"/>
              <a:t>n</a:t>
            </a:r>
            <a:r>
              <a:rPr lang="en-US" smtClean="0"/>
              <a:t> (n-way associative)</a:t>
            </a:r>
            <a:endParaRPr lang="en-US" dirty="0"/>
          </a:p>
          <a:p>
            <a:pPr lvl="2">
              <a:spcBef>
                <a:spcPts val="0"/>
              </a:spcBef>
            </a:pPr>
            <a:r>
              <a:rPr lang="en-US" smtClean="0"/>
              <a:t>Có n cách ánh xạ (1:n)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smtClean="0"/>
              <a:t>Ánh xạ toàn phần (Fully associative)</a:t>
            </a:r>
            <a:endParaRPr lang="en-US" dirty="0"/>
          </a:p>
          <a:p>
            <a:pPr lvl="2">
              <a:spcBef>
                <a:spcPts val="0"/>
              </a:spcBef>
            </a:pPr>
            <a:r>
              <a:rPr lang="en-US" smtClean="0"/>
              <a:t>Bất cứ trang nào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smtClean="0"/>
              <a:t>Mối quan hệ càng cao:</a:t>
            </a:r>
            <a:r>
              <a:rPr lang="en-US" smtClean="0">
                <a:sym typeface="Wingdings" pitchFamily="2" charset="2"/>
              </a:rPr>
              <a:t> càng giảm lỗi trang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smtClean="0"/>
              <a:t>Gia tăng phức tạp, giá thành &amp; thời gian truy xuất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04779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Tìm kiếm khối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60</a:t>
            </a:fld>
            <a:endParaRPr lang="vi-VN"/>
          </a:p>
        </p:txBody>
      </p:sp>
      <p:graphicFrame>
        <p:nvGraphicFramePr>
          <p:cNvPr id="7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381559"/>
              </p:ext>
            </p:extLst>
          </p:nvPr>
        </p:nvGraphicFramePr>
        <p:xfrm>
          <a:off x="533400" y="1371600"/>
          <a:ext cx="8247063" cy="3224784"/>
        </p:xfrm>
        <a:graphic>
          <a:graphicData uri="http://schemas.openxmlformats.org/drawingml/2006/table">
            <a:tbl>
              <a:tblPr/>
              <a:tblGrid>
                <a:gridCol w="2749598"/>
                <a:gridCol w="3109747"/>
                <a:gridCol w="2387718"/>
              </a:tblGrid>
              <a:tr h="339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Cách ánh xạ (associativity)</a:t>
                      </a:r>
                      <a:endParaRPr kumimoji="0" lang="en-A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Phương pháp định vị (Location method)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 sánh nhãn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(Tag comparisons)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Trực tiếp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Chỉ số (index)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5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Tệp quan hệ n (n-way)</a:t>
                      </a:r>
                      <a:endParaRPr kumimoji="0" lang="en-A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Tệp chỉ số (Set index), sau đó tìm từng thành phần trong tệp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 hệ toàn phần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(Fully Associative)</a:t>
                      </a:r>
                      <a:endParaRPr kumimoji="0" lang="en-A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Tìm toàn bộ (Search all entries)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Ánh xạ tương ứng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Full lookup table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30"/>
          <p:cNvSpPr txBox="1">
            <a:spLocks noChangeArrowheads="1"/>
          </p:cNvSpPr>
          <p:nvPr/>
        </p:nvSpPr>
        <p:spPr bwMode="auto">
          <a:xfrm>
            <a:off x="781483" y="4648200"/>
            <a:ext cx="8270875" cy="15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400" smtClean="0"/>
              <a:t>Caches phần cứng</a:t>
            </a:r>
            <a:endParaRPr lang="en-US" sz="2400" dirty="0" smtClean="0"/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sz="2000" smtClean="0"/>
              <a:t>Giảm thiểu so sánh </a:t>
            </a:r>
            <a:r>
              <a:rPr lang="en-US" sz="2000" smtClean="0">
                <a:sym typeface="Wingdings" pitchFamily="2" charset="2"/>
              </a:rPr>
              <a:t> giảm giá thành</a:t>
            </a:r>
            <a:endParaRPr lang="en-US" sz="2000" dirty="0" smtClean="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400" smtClean="0"/>
              <a:t>Bộ nhớ ảo</a:t>
            </a:r>
            <a:endParaRPr lang="en-US" sz="2400" dirty="0" smtClean="0"/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sz="2000" dirty="0" smtClean="0"/>
              <a:t>Full table lookup makes full associativity feasible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sz="2000" dirty="0" smtClean="0"/>
              <a:t>Benefit in reduced miss rate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9807196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Thay thế khối (Replacement)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61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Lựa chọn trang thay thế khi có lỗi trang</a:t>
            </a:r>
            <a:endParaRPr lang="en-US" dirty="0"/>
          </a:p>
          <a:p>
            <a:pPr lvl="1"/>
            <a:r>
              <a:rPr lang="en-US" smtClean="0"/>
              <a:t>Trang ít sử dụng nhất (LRU</a:t>
            </a:r>
            <a:r>
              <a:rPr lang="en-US" dirty="0"/>
              <a:t>)</a:t>
            </a:r>
          </a:p>
          <a:p>
            <a:pPr lvl="2"/>
            <a:r>
              <a:rPr lang="en-US" smtClean="0"/>
              <a:t>Tương đối phức tạp &amp; phí tổn phần cứng khi mối quan hệ ánh xạ cao</a:t>
            </a:r>
            <a:endParaRPr lang="en-US" dirty="0"/>
          </a:p>
          <a:p>
            <a:pPr lvl="1"/>
            <a:r>
              <a:rPr lang="en-US" smtClean="0"/>
              <a:t>Ngẫu nhiên</a:t>
            </a:r>
            <a:endParaRPr lang="en-US" dirty="0"/>
          </a:p>
          <a:p>
            <a:pPr lvl="2"/>
            <a:r>
              <a:rPr lang="en-US" smtClean="0"/>
              <a:t>Gần với LRU</a:t>
            </a:r>
            <a:r>
              <a:rPr lang="en-US"/>
              <a:t>, </a:t>
            </a:r>
            <a:r>
              <a:rPr lang="en-US" smtClean="0"/>
              <a:t>dễ thực hiện hơn</a:t>
            </a:r>
            <a:endParaRPr lang="en-US" dirty="0"/>
          </a:p>
          <a:p>
            <a:r>
              <a:rPr lang="en-US" smtClean="0"/>
              <a:t>Bộ nhớ ảo</a:t>
            </a:r>
            <a:endParaRPr lang="en-US" dirty="0"/>
          </a:p>
          <a:p>
            <a:pPr lvl="1"/>
            <a:r>
              <a:rPr lang="en-US"/>
              <a:t>LRU </a:t>
            </a:r>
            <a:r>
              <a:rPr lang="en-US" smtClean="0"/>
              <a:t>xấp xỉ với hỗ trợ bằng phần cứng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80978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Phương thức cập nhật đĩa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62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182688" y="1295400"/>
            <a:ext cx="7772400" cy="5105399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mtClean="0"/>
              <a:t>“Write-through”</a:t>
            </a:r>
            <a:endParaRPr lang="en-US"/>
          </a:p>
          <a:p>
            <a:pPr lvl="1">
              <a:lnSpc>
                <a:spcPct val="80000"/>
              </a:lnSpc>
            </a:pPr>
            <a:r>
              <a:rPr lang="en-US" smtClean="0"/>
              <a:t>Cập nhật cả tầng trên &amp; dưới</a:t>
            </a:r>
            <a:endParaRPr lang="en-US"/>
          </a:p>
          <a:p>
            <a:pPr lvl="1">
              <a:lnSpc>
                <a:spcPct val="80000"/>
              </a:lnSpc>
            </a:pPr>
            <a:r>
              <a:rPr lang="en-US" smtClean="0"/>
              <a:t>Đơn giản việc thay thế, nhưng yêu cầu có </a:t>
            </a:r>
            <a:r>
              <a:rPr lang="en-US"/>
              <a:t>write buffer</a:t>
            </a:r>
          </a:p>
          <a:p>
            <a:pPr>
              <a:lnSpc>
                <a:spcPct val="80000"/>
              </a:lnSpc>
            </a:pPr>
            <a:r>
              <a:rPr lang="en-US" smtClean="0"/>
              <a:t>“Write-back”</a:t>
            </a:r>
            <a:endParaRPr lang="en-US"/>
          </a:p>
          <a:p>
            <a:pPr lvl="1">
              <a:lnSpc>
                <a:spcPct val="80000"/>
              </a:lnSpc>
            </a:pPr>
            <a:r>
              <a:rPr lang="en-US" smtClean="0"/>
              <a:t>Chỉ cập nhật tầng trên</a:t>
            </a:r>
            <a:endParaRPr lang="en-US"/>
          </a:p>
          <a:p>
            <a:pPr lvl="1">
              <a:lnSpc>
                <a:spcPct val="80000"/>
              </a:lnSpc>
            </a:pPr>
            <a:r>
              <a:rPr lang="en-US" smtClean="0"/>
              <a:t>Cập nhật tầng thấp khi có nhu cầu thay thê</a:t>
            </a:r>
            <a:endParaRPr lang="en-US"/>
          </a:p>
          <a:p>
            <a:pPr lvl="1">
              <a:lnSpc>
                <a:spcPct val="80000"/>
              </a:lnSpc>
            </a:pPr>
            <a:r>
              <a:rPr lang="en-US" smtClean="0"/>
              <a:t>Cần lưu trữ nhiều trạng thái</a:t>
            </a:r>
            <a:endParaRPr lang="en-US"/>
          </a:p>
          <a:p>
            <a:pPr>
              <a:lnSpc>
                <a:spcPct val="80000"/>
              </a:lnSpc>
            </a:pPr>
            <a:r>
              <a:rPr lang="en-US" smtClean="0"/>
              <a:t>Bộ nhớ ảo</a:t>
            </a:r>
            <a:endParaRPr lang="en-US"/>
          </a:p>
          <a:p>
            <a:pPr lvl="1">
              <a:lnSpc>
                <a:spcPct val="80000"/>
              </a:lnSpc>
            </a:pPr>
            <a:r>
              <a:rPr lang="en-US" smtClean="0"/>
              <a:t>Chỉ “write-back” là khả thi với thời gian ghi đĩa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93748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Nguồn gốc của “Misses”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63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990600" y="1600200"/>
            <a:ext cx="80010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smtClean="0"/>
              <a:t>Misses bắt buộc (lúc khởi động)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Lần đầu tiên truy cập khối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smtClean="0"/>
              <a:t>Miss do dung lượng (Capacity)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Do hạn chế dung lượng cache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Một khối vừa thay ra lại bị truy cập ngay sau đó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smtClean="0"/>
              <a:t>Miss do đụng độ (aka </a:t>
            </a:r>
            <a:r>
              <a:rPr lang="en-US" sz="2800" dirty="0"/>
              <a:t>collision misses)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Trong trường hợp cache quan hệ không toàn phần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Tranh chấp các khối trong cùng 1 tệp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Sẽ không xảy ra đối với cache quan hệ toàn phần vớii dung lượng tổng như nhau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28484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Tối ưu thiết kế cache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64</a:t>
            </a:fld>
            <a:endParaRPr lang="vi-VN"/>
          </a:p>
        </p:txBody>
      </p:sp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492982"/>
              </p:ext>
            </p:extLst>
          </p:nvPr>
        </p:nvGraphicFramePr>
        <p:xfrm>
          <a:off x="838200" y="1828800"/>
          <a:ext cx="8135937" cy="3832226"/>
        </p:xfrm>
        <a:graphic>
          <a:graphicData uri="http://schemas.openxmlformats.org/drawingml/2006/table">
            <a:tbl>
              <a:tblPr/>
              <a:tblGrid>
                <a:gridCol w="2711450"/>
                <a:gridCol w="2713037"/>
                <a:gridCol w="2711450"/>
              </a:tblGrid>
              <a:tr h="736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Thay đổi thiết kế</a:t>
                      </a:r>
                      <a:endParaRPr kumimoji="0" lang="en-A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Ảnh hưởng miss rate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Hiệu ứng ngược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9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Tăng dung lượng cache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Giảm capacity misses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Có thể tăng thời gian truy xuất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Tăng quan hệ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Giảm conflict misses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+mn-ea"/>
                          <a:cs typeface="+mn-cs"/>
                        </a:rPr>
                        <a:t>Có thể tăng thời gian truy xuất</a:t>
                      </a:r>
                      <a:endParaRPr kumimoji="0" lang="en-AU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57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Tăng dung lượng khối</a:t>
                      </a:r>
                      <a:endParaRPr kumimoji="0" lang="en-A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Giảm compulsory misses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Tăng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 penalty. For very large block size, may increase miss rate due to pollution.</a:t>
                      </a:r>
                      <a:endParaRPr kumimoji="0" lang="en-A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6628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Hỗ trợ tập lệnh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65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8305800" cy="4572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AU" smtClean="0"/>
              <a:t>Chế độ người dùng &amp; hệ thống</a:t>
            </a:r>
            <a:endParaRPr lang="en-AU" dirty="0"/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AU" smtClean="0"/>
              <a:t>Các lệnh đặc dụng (privileged instructions) chỉ có ở chế độ hệ thống</a:t>
            </a:r>
            <a:endParaRPr lang="en-AU" dirty="0"/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AU" smtClean="0"/>
              <a:t>Bẫy hệ thống khi có sự chuyển từ chế độ người dùng sang hệ thống</a:t>
            </a:r>
            <a:endParaRPr lang="en-AU" dirty="0"/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AU" smtClean="0"/>
              <a:t>Các tài nguyên vật lý chỉ truy cập được với những lệnh đặc dụng</a:t>
            </a:r>
            <a:endParaRPr lang="en-AU" dirty="0"/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AU" smtClean="0"/>
              <a:t>Kể cả bảng ánh xạ trang, đ/khiển ngắt quãng, Thanh ghi I/O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48967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Điều khiển Cache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66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AU" sz="2800" smtClean="0"/>
              <a:t>Ví dụ đặc tính cache</a:t>
            </a:r>
            <a:endParaRPr lang="en-AU" sz="2800" dirty="0"/>
          </a:p>
          <a:p>
            <a:pPr lvl="1"/>
            <a:r>
              <a:rPr lang="en-AU" sz="2400" smtClean="0"/>
              <a:t>Ánh xạ trực tiếp, </a:t>
            </a:r>
            <a:r>
              <a:rPr lang="en-AU" sz="2400" dirty="0"/>
              <a:t>write-back, write allocate</a:t>
            </a:r>
          </a:p>
          <a:p>
            <a:pPr lvl="1"/>
            <a:r>
              <a:rPr lang="en-AU" sz="2400" smtClean="0"/>
              <a:t>Kích thước khối: </a:t>
            </a:r>
            <a:r>
              <a:rPr lang="en-AU" sz="2400"/>
              <a:t>4 </a:t>
            </a:r>
            <a:r>
              <a:rPr lang="en-AU" sz="2400" smtClean="0"/>
              <a:t>từ (words) = </a:t>
            </a:r>
            <a:r>
              <a:rPr lang="en-AU" sz="2400" dirty="0"/>
              <a:t>(16 bytes)</a:t>
            </a:r>
          </a:p>
          <a:p>
            <a:pPr lvl="1"/>
            <a:r>
              <a:rPr lang="en-AU" sz="2400" smtClean="0"/>
              <a:t>Kích thước cache: </a:t>
            </a:r>
            <a:r>
              <a:rPr lang="en-AU" sz="2400" dirty="0"/>
              <a:t>16 KB (1024 blocks)</a:t>
            </a:r>
          </a:p>
          <a:p>
            <a:pPr lvl="1"/>
            <a:r>
              <a:rPr lang="en-AU" sz="2400" smtClean="0"/>
              <a:t>Địa chỉ 32-bit byte</a:t>
            </a:r>
            <a:endParaRPr lang="en-AU" sz="2400" dirty="0"/>
          </a:p>
          <a:p>
            <a:pPr lvl="1"/>
            <a:r>
              <a:rPr lang="en-AU" sz="2400" dirty="0"/>
              <a:t>Valid </a:t>
            </a:r>
            <a:r>
              <a:rPr lang="en-AU" sz="2400"/>
              <a:t>bit &amp;</a:t>
            </a:r>
            <a:r>
              <a:rPr lang="en-AU" sz="2400" smtClean="0"/>
              <a:t> </a:t>
            </a:r>
            <a:r>
              <a:rPr lang="en-AU" sz="2400" dirty="0"/>
              <a:t>dirty </a:t>
            </a:r>
            <a:r>
              <a:rPr lang="en-AU" sz="2400"/>
              <a:t>bit </a:t>
            </a:r>
            <a:r>
              <a:rPr lang="en-AU" sz="2400" smtClean="0"/>
              <a:t>cho mỗi khối</a:t>
            </a:r>
            <a:endParaRPr lang="en-AU" sz="2400" dirty="0"/>
          </a:p>
          <a:p>
            <a:pPr lvl="1"/>
            <a:r>
              <a:rPr lang="en-AU" sz="2400" dirty="0"/>
              <a:t>Blocking cache</a:t>
            </a:r>
          </a:p>
          <a:p>
            <a:pPr lvl="2"/>
            <a:r>
              <a:rPr lang="en-AU" sz="2000" dirty="0"/>
              <a:t>CPU waits until access is complete</a:t>
            </a: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1619250" y="4941888"/>
            <a:ext cx="5226050" cy="1104900"/>
            <a:chOff x="1020" y="3113"/>
            <a:chExt cx="3292" cy="696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1039" y="3334"/>
              <a:ext cx="1569" cy="27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Tag</a:t>
              </a:r>
              <a:endParaRPr kumimoji="0" lang="en-AU" sz="2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2608" y="3334"/>
              <a:ext cx="1017" cy="27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Index</a:t>
              </a:r>
              <a:endParaRPr kumimoji="0" lang="en-AU" sz="2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3625" y="3334"/>
              <a:ext cx="635" cy="27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Offset</a:t>
              </a:r>
              <a:endParaRPr kumimoji="0" lang="en-AU" sz="2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4116" y="311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0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3617" y="311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3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3394" y="311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4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2604" y="311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9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2381" y="3113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10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1020" y="3113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31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3711" y="3578"/>
              <a:ext cx="4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4 bits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2835" y="3578"/>
              <a:ext cx="5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10 bits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1565" y="3578"/>
              <a:ext cx="5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18 bits</a:t>
              </a:r>
              <a:endPara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07623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Các tín hiệu giao tiếp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67</a:t>
            </a:fld>
            <a:endParaRPr lang="vi-VN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211638" y="1916113"/>
            <a:ext cx="1152525" cy="295275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Cache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28675" y="1987550"/>
            <a:ext cx="1152525" cy="295275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CPU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7596188" y="1916113"/>
            <a:ext cx="1152525" cy="295275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Memory</a:t>
            </a: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1979613" y="2347913"/>
            <a:ext cx="2232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1979613" y="2706688"/>
            <a:ext cx="2232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2195513" y="2058988"/>
            <a:ext cx="1327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Read/Write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2195513" y="2419350"/>
            <a:ext cx="692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Valid</a:t>
            </a: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1979613" y="3140075"/>
            <a:ext cx="22320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2195513" y="2852738"/>
            <a:ext cx="1022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Address</a:t>
            </a: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1979613" y="3571875"/>
            <a:ext cx="22320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2195513" y="3284538"/>
            <a:ext cx="1263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Write Data</a:t>
            </a: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1979613" y="4003675"/>
            <a:ext cx="22320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2195513" y="3716338"/>
            <a:ext cx="1276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Read Data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1979613" y="4435475"/>
            <a:ext cx="2232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2195513" y="4148138"/>
            <a:ext cx="844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Ready</a:t>
            </a: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 flipV="1">
            <a:off x="3756025" y="3067050"/>
            <a:ext cx="144463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 flipV="1">
            <a:off x="3756025" y="3498850"/>
            <a:ext cx="144463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 flipV="1">
            <a:off x="3756025" y="3932238"/>
            <a:ext cx="144463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3636963" y="2778125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32</a:t>
            </a:r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3636963" y="3211513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32</a:t>
            </a: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3636963" y="36449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32</a:t>
            </a:r>
          </a:p>
        </p:txBody>
      </p:sp>
      <p:sp>
        <p:nvSpPr>
          <p:cNvPr id="28" name="Line 25"/>
          <p:cNvSpPr>
            <a:spLocks noChangeShapeType="1"/>
          </p:cNvSpPr>
          <p:nvPr/>
        </p:nvSpPr>
        <p:spPr bwMode="auto">
          <a:xfrm>
            <a:off x="5364163" y="2347913"/>
            <a:ext cx="2232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5364163" y="2706688"/>
            <a:ext cx="2232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5580063" y="2058988"/>
            <a:ext cx="1327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Read/Write</a:t>
            </a:r>
          </a:p>
        </p:txBody>
      </p:sp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5580063" y="2419350"/>
            <a:ext cx="692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Valid</a:t>
            </a:r>
          </a:p>
        </p:txBody>
      </p:sp>
      <p:sp>
        <p:nvSpPr>
          <p:cNvPr id="32" name="Line 29"/>
          <p:cNvSpPr>
            <a:spLocks noChangeShapeType="1"/>
          </p:cNvSpPr>
          <p:nvPr/>
        </p:nvSpPr>
        <p:spPr bwMode="auto">
          <a:xfrm>
            <a:off x="5364163" y="3140075"/>
            <a:ext cx="22320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Text Box 30"/>
          <p:cNvSpPr txBox="1">
            <a:spLocks noChangeArrowheads="1"/>
          </p:cNvSpPr>
          <p:nvPr/>
        </p:nvSpPr>
        <p:spPr bwMode="auto">
          <a:xfrm>
            <a:off x="5580063" y="2852738"/>
            <a:ext cx="1022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Address</a:t>
            </a:r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>
            <a:off x="5364163" y="3571875"/>
            <a:ext cx="22320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5580063" y="3284538"/>
            <a:ext cx="1263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Write Data</a:t>
            </a:r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5364163" y="4003675"/>
            <a:ext cx="22320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5580063" y="3716338"/>
            <a:ext cx="1276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Read Data</a:t>
            </a:r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>
            <a:off x="5364163" y="4435475"/>
            <a:ext cx="2232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5580063" y="4148138"/>
            <a:ext cx="844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Ready</a:t>
            </a:r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 flipV="1">
            <a:off x="7140575" y="3067050"/>
            <a:ext cx="144463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 flipV="1">
            <a:off x="7140575" y="3498850"/>
            <a:ext cx="144463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 flipV="1">
            <a:off x="7140575" y="3932238"/>
            <a:ext cx="144463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7021513" y="2778125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32</a:t>
            </a:r>
          </a:p>
        </p:txBody>
      </p:sp>
      <p:sp>
        <p:nvSpPr>
          <p:cNvPr id="44" name="Text Box 41"/>
          <p:cNvSpPr txBox="1">
            <a:spLocks noChangeArrowheads="1"/>
          </p:cNvSpPr>
          <p:nvPr/>
        </p:nvSpPr>
        <p:spPr bwMode="auto">
          <a:xfrm>
            <a:off x="6972300" y="3211513"/>
            <a:ext cx="479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128</a:t>
            </a:r>
          </a:p>
        </p:txBody>
      </p:sp>
      <p:sp>
        <p:nvSpPr>
          <p:cNvPr id="45" name="Text Box 42"/>
          <p:cNvSpPr txBox="1">
            <a:spLocks noChangeArrowheads="1"/>
          </p:cNvSpPr>
          <p:nvPr/>
        </p:nvSpPr>
        <p:spPr bwMode="auto">
          <a:xfrm>
            <a:off x="6972300" y="3644900"/>
            <a:ext cx="479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128</a:t>
            </a:r>
          </a:p>
        </p:txBody>
      </p:sp>
      <p:sp>
        <p:nvSpPr>
          <p:cNvPr id="46" name="AutoShape 43"/>
          <p:cNvSpPr>
            <a:spLocks/>
          </p:cNvSpPr>
          <p:nvPr/>
        </p:nvSpPr>
        <p:spPr bwMode="auto">
          <a:xfrm>
            <a:off x="4643438" y="5300663"/>
            <a:ext cx="1795462" cy="690562"/>
          </a:xfrm>
          <a:prstGeom prst="borderCallout1">
            <a:avLst>
              <a:gd name="adj1" fmla="val 16551"/>
              <a:gd name="adj2" fmla="val 104245"/>
              <a:gd name="adj3" fmla="val -95403"/>
              <a:gd name="adj4" fmla="val 131653"/>
            </a:avLst>
          </a:prstGeom>
          <a:solidFill>
            <a:srgbClr val="9FCAD3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Multiple cycles per access</a:t>
            </a:r>
          </a:p>
        </p:txBody>
      </p:sp>
    </p:spTree>
    <p:extLst>
      <p:ext uri="{BB962C8B-B14F-4D97-AF65-F5344CB8AC3E}">
        <p14:creationId xmlns:p14="http://schemas.microsoft.com/office/powerpoint/2010/main" val="9046420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Cache nhiều cấp on chip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68</a:t>
            </a:fld>
            <a:endParaRPr lang="vi-VN"/>
          </a:p>
        </p:txBody>
      </p:sp>
      <p:pic>
        <p:nvPicPr>
          <p:cNvPr id="7" name="Picture 5" descr="f05-37-P37449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552575"/>
            <a:ext cx="6264275" cy="410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023938" y="5799138"/>
            <a:ext cx="6584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Per core: 32KB L1 I-cache, 32KB L1 D-cache, 512KB L2 cache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023938" y="1125538"/>
            <a:ext cx="3371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Intel Nehalem 4-core processor</a:t>
            </a:r>
          </a:p>
        </p:txBody>
      </p:sp>
    </p:spTree>
    <p:extLst>
      <p:ext uri="{BB962C8B-B14F-4D97-AF65-F5344CB8AC3E}">
        <p14:creationId xmlns:p14="http://schemas.microsoft.com/office/powerpoint/2010/main" val="16229881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Tổ chức TLB cache cấp 2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69</a:t>
            </a:fld>
            <a:endParaRPr lang="vi-VN"/>
          </a:p>
        </p:txBody>
      </p:sp>
      <p:graphicFrame>
        <p:nvGraphicFramePr>
          <p:cNvPr id="7" name="Group 98"/>
          <p:cNvGraphicFramePr>
            <a:graphicFrameLocks noGrp="1"/>
          </p:cNvGraphicFramePr>
          <p:nvPr/>
        </p:nvGraphicFramePr>
        <p:xfrm>
          <a:off x="684213" y="1268413"/>
          <a:ext cx="8280400" cy="4700016"/>
        </p:xfrm>
        <a:graphic>
          <a:graphicData uri="http://schemas.openxmlformats.org/drawingml/2006/table">
            <a:tbl>
              <a:tblPr/>
              <a:tblGrid>
                <a:gridCol w="1655762"/>
                <a:gridCol w="3473450"/>
                <a:gridCol w="3151188"/>
              </a:tblGrid>
              <a:tr h="1809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Intel Nehalem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AMD Opteron X4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Virtual addr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48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48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6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Physical addr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48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Page size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4KB, 2/4MB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4KB, 2/4MB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09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L1 TLB</a:t>
                      </a:r>
                      <a:b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(per core)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L1 I-TLB: 128 entries for small pages, 7 per thread (2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×</a:t>
                      </a: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for large pages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L1 D-TLB: 64 entries for small pages, 32 for large pages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Both 4-way, LRU replacement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L1 I-TLB: 48 entries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L1 D-TLB: 48 entries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Both fully associative, LRU replacement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2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L2 TLB</a:t>
                      </a:r>
                      <a:b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(per core)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Single L2 TLB: 512 entries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4-way, LRU replacement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L2 I-TLB: 512 entries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L2 D-TLB: 512 entries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Both 4-way, round-robin LRU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TLB misses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Handled in hardware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Handled in hardware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91401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Tổ chức Cache 3 cấp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70</a:t>
            </a:fld>
            <a:endParaRPr lang="vi-VN"/>
          </a:p>
        </p:txBody>
      </p:sp>
      <p:graphicFrame>
        <p:nvGraphicFramePr>
          <p:cNvPr id="9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777217"/>
              </p:ext>
            </p:extLst>
          </p:nvPr>
        </p:nvGraphicFramePr>
        <p:xfrm>
          <a:off x="609600" y="1143000"/>
          <a:ext cx="8278812" cy="4901502"/>
        </p:xfrm>
        <a:graphic>
          <a:graphicData uri="http://schemas.openxmlformats.org/drawingml/2006/table">
            <a:tbl>
              <a:tblPr/>
              <a:tblGrid>
                <a:gridCol w="1439862"/>
                <a:gridCol w="3419475"/>
                <a:gridCol w="3419475"/>
              </a:tblGrid>
              <a:tr h="1809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Intel Nehalem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AMD Opteron X4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09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L1 caches</a:t>
                      </a:r>
                      <a:br>
                        <a:rPr kumimoji="0" lang="en-A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A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(per core)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L1 I-cache: 32KB, 64-byte blocks, 4-way, approx LRU replacement, hit time n/a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L1 D-cache: 32KB, 64-byte blocks, 8-way, approx LRU replacement, write-back/allocate, hit time n/a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L1 I-cache: 32KB, 64-byte blocks, 2-way, LRU replacement, hit time 3 cycles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L1 D-cache: 32KB, 64-byte blocks, 2-way, LRU replacement, write-back/allocate, hit time 9 cycles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2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L2 unified cache</a:t>
                      </a:r>
                      <a:b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(per core)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256KB, 64-byte blocks, 8-way, approx LRU replacement, write-back/allocate, hit time n/a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512KB, 64-byte blocks, 16-way, approx LRU replacement, write-back/allocate, hit time n/a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89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L3 unified cache (shared)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8MB, 64-byte blocks, 16-way, replacement n/a, write-back/allocate, hit time n/a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2MB, 64-byte blocks, 32-way, replace block shared by fewest cores, write-back/allocate, hit time 32 cycles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n/a: data not available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6405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b="1" smtClean="0">
                <a:solidFill>
                  <a:srgbClr val="0039A6"/>
                </a:solidFill>
                <a:latin typeface="Arial"/>
              </a:rPr>
              <a:t>Hạn chế phí tổn Mis (Penalty)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71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382000" cy="48768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AU" smtClean="0"/>
              <a:t>Trả về “từ” được yêu cầu trước tiên</a:t>
            </a:r>
            <a:endParaRPr lang="en-AU" dirty="0"/>
          </a:p>
          <a:p>
            <a:pPr lvl="1">
              <a:spcBef>
                <a:spcPts val="0"/>
              </a:spcBef>
            </a:pPr>
            <a:r>
              <a:rPr lang="en-AU" smtClean="0"/>
              <a:t>Sau đó nạp tiếp phần còn lại của khối</a:t>
            </a:r>
            <a:endParaRPr lang="en-AU" dirty="0"/>
          </a:p>
          <a:p>
            <a:pPr>
              <a:spcBef>
                <a:spcPts val="0"/>
              </a:spcBef>
            </a:pPr>
            <a:r>
              <a:rPr lang="en-AU" smtClean="0"/>
              <a:t>Xử lý Non-blocking miss</a:t>
            </a:r>
            <a:endParaRPr lang="en-AU" dirty="0"/>
          </a:p>
          <a:p>
            <a:pPr lvl="1">
              <a:spcBef>
                <a:spcPts val="0"/>
              </a:spcBef>
            </a:pPr>
            <a:r>
              <a:rPr lang="en-AU" dirty="0"/>
              <a:t>Hit under miss: allow hits to proceed</a:t>
            </a:r>
          </a:p>
          <a:p>
            <a:pPr lvl="1">
              <a:spcBef>
                <a:spcPts val="0"/>
              </a:spcBef>
            </a:pPr>
            <a:r>
              <a:rPr lang="en-AU" dirty="0" err="1"/>
              <a:t>Mis</a:t>
            </a:r>
            <a:r>
              <a:rPr lang="en-AU" dirty="0"/>
              <a:t> under miss: allow multiple outstanding misses</a:t>
            </a:r>
          </a:p>
          <a:p>
            <a:pPr>
              <a:spcBef>
                <a:spcPts val="0"/>
              </a:spcBef>
            </a:pPr>
            <a:r>
              <a:rPr lang="en-AU" smtClean="0"/>
              <a:t>Nạp trước bằng phần cứng: Lệnh &amp; Dữ liệu</a:t>
            </a:r>
            <a:endParaRPr lang="en-AU" dirty="0"/>
          </a:p>
          <a:p>
            <a:pPr>
              <a:spcBef>
                <a:spcPts val="0"/>
              </a:spcBef>
            </a:pPr>
            <a:r>
              <a:rPr lang="en-AU" dirty="0"/>
              <a:t>Opteron X4: bank interleaved L1 D-cache</a:t>
            </a:r>
          </a:p>
          <a:p>
            <a:pPr lvl="1">
              <a:spcBef>
                <a:spcPts val="0"/>
              </a:spcBef>
            </a:pPr>
            <a:r>
              <a:rPr lang="en-AU" dirty="0"/>
              <a:t>Two concurrent accesses per cycle</a:t>
            </a:r>
          </a:p>
        </p:txBody>
      </p:sp>
    </p:spTree>
    <p:extLst>
      <p:ext uri="{BB962C8B-B14F-4D97-AF65-F5344CB8AC3E}">
        <p14:creationId xmlns:p14="http://schemas.microsoft.com/office/powerpoint/2010/main" val="16262519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Kết luận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5/15/2017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72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idx="1"/>
          </p:nvPr>
        </p:nvSpPr>
        <p:spPr>
          <a:xfrm>
            <a:off x="1219200" y="1295400"/>
            <a:ext cx="77724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smtClean="0"/>
              <a:t>Bộ nhớ có tốc độ truy xuất nhanh </a:t>
            </a:r>
            <a:r>
              <a:rPr lang="en-US" sz="2800" smtClean="0">
                <a:sym typeface="Wingdings" pitchFamily="2" charset="2"/>
              </a:rPr>
              <a:t> Nhỏ ;  Bộ nhớ có chứa dung lượng lớn  Chậm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 smtClean="0"/>
              <a:t>Mục tiêu mong muốn: nhanh và lớn </a:t>
            </a:r>
            <a:r>
              <a:rPr lang="en-US" sz="2400">
                <a:sym typeface="Wingdings" pitchFamily="2" charset="2"/>
              </a:rPr>
              <a:t></a:t>
            </a:r>
          </a:p>
          <a:p>
            <a:pPr lvl="1">
              <a:lnSpc>
                <a:spcPct val="90000"/>
              </a:lnSpc>
            </a:pPr>
            <a:r>
              <a:rPr lang="en-US" sz="2400" smtClean="0">
                <a:sym typeface="Wingdings" pitchFamily="2" charset="2"/>
              </a:rPr>
              <a:t>Cơ chế Caching giải quyết vấn đề </a:t>
            </a:r>
            <a:r>
              <a:rPr lang="en-US" sz="2400">
                <a:sym typeface="Wingdings" pitchFamily="2" charset="2"/>
              </a:rPr>
              <a:t></a:t>
            </a:r>
          </a:p>
          <a:p>
            <a:pPr>
              <a:lnSpc>
                <a:spcPct val="90000"/>
              </a:lnSpc>
            </a:pPr>
            <a:r>
              <a:rPr lang="en-US" sz="2800" smtClean="0"/>
              <a:t>Nguyên tắc cục bộ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 smtClean="0"/>
              <a:t>Chương trình sử dụng 1 phần nhỏ không gian bộ nhớ</a:t>
            </a:r>
            <a:endParaRPr lang="en-US" sz="2400"/>
          </a:p>
          <a:p>
            <a:pPr>
              <a:lnSpc>
                <a:spcPct val="90000"/>
              </a:lnSpc>
            </a:pPr>
            <a:r>
              <a:rPr lang="en-US" sz="2800" smtClean="0"/>
              <a:t>Tổ chức bộ nhớ theo kiến trúc tầng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/>
              <a:t>L1 cache </a:t>
            </a:r>
            <a:r>
              <a:rPr lang="en-US" sz="2400">
                <a:sym typeface="Symbol" pitchFamily="18" charset="2"/>
              </a:rPr>
              <a:t> L2 cache  …  </a:t>
            </a:r>
            <a:r>
              <a:rPr lang="en-US" sz="2400" smtClean="0">
                <a:sym typeface="Symbol" pitchFamily="18" charset="2"/>
              </a:rPr>
              <a:t>DRAM (bộ nhớ)</a:t>
            </a:r>
            <a:r>
              <a:rPr lang="en-US" sz="2400">
                <a:sym typeface="Symbol" pitchFamily="18" charset="2"/>
              </a:rPr>
              <a:t/>
            </a:r>
            <a:br>
              <a:rPr lang="en-US" sz="2400">
                <a:sym typeface="Symbol" pitchFamily="18" charset="2"/>
              </a:rPr>
            </a:br>
            <a:r>
              <a:rPr lang="en-US" sz="2400">
                <a:sym typeface="Symbol" pitchFamily="18" charset="2"/>
              </a:rPr>
              <a:t> disk</a:t>
            </a:r>
          </a:p>
          <a:p>
            <a:pPr>
              <a:lnSpc>
                <a:spcPct val="90000"/>
              </a:lnSpc>
            </a:pPr>
            <a:r>
              <a:rPr lang="en-US" sz="2800" smtClean="0">
                <a:sym typeface="Symbol" pitchFamily="18" charset="2"/>
              </a:rPr>
              <a:t>Thiết kế hệ thống bộ nhớ rất quan trọng đối với đa xử lý</a:t>
            </a:r>
            <a:endParaRPr lang="en-US" sz="280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63042069"/>
      </p:ext>
    </p:extLst>
  </p:cSld>
  <p:clrMapOvr>
    <a:masterClrMapping/>
  </p:clrMapOvr>
</p:sld>
</file>

<file path=ppt/theme/theme1.xml><?xml version="1.0" encoding="utf-8"?>
<a:theme xmlns:a="http://schemas.openxmlformats.org/drawingml/2006/main" name="Architect_Course_Title">
  <a:themeElements>
    <a:clrScheme name="MySlides200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ySlides200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rgbClr val="6E797F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rgbClr val="6E797F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ySlides20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1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Architect_Course_Title</Template>
  <TotalTime>1992</TotalTime>
  <Words>5559</Words>
  <Application>Microsoft Office PowerPoint</Application>
  <PresentationFormat>On-screen Show (4:3)</PresentationFormat>
  <Paragraphs>1027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72</vt:i4>
      </vt:variant>
    </vt:vector>
  </HeadingPairs>
  <TitlesOfParts>
    <vt:vector size="83" baseType="lpstr">
      <vt:lpstr>Arial Unicode MS</vt:lpstr>
      <vt:lpstr>Arial</vt:lpstr>
      <vt:lpstr>Calibri</vt:lpstr>
      <vt:lpstr>Symbol</vt:lpstr>
      <vt:lpstr>Tahoma</vt:lpstr>
      <vt:lpstr>Times New Roman</vt:lpstr>
      <vt:lpstr>Verdana</vt:lpstr>
      <vt:lpstr>Wingdings</vt:lpstr>
      <vt:lpstr>Architect_Course_Title</vt:lpstr>
      <vt:lpstr>Custom Design</vt:lpstr>
      <vt:lpstr>Theme1</vt:lpstr>
      <vt:lpstr>Computer Architecture Computer Science &amp; Engineering</vt:lpstr>
      <vt:lpstr>Các loại Bộ nhớ (Công nghệ)</vt:lpstr>
      <vt:lpstr>Tính cục bộ (Locality)</vt:lpstr>
      <vt:lpstr>Tận dụng lợi thế về cục bộ</vt:lpstr>
      <vt:lpstr>Các lớp tổ chức của bộ nhớ</vt:lpstr>
      <vt:lpstr>Bộ nhớ đệm (Cache)</vt:lpstr>
      <vt:lpstr>Ánh xạ trực tiếp</vt:lpstr>
      <vt:lpstr>Nhãn (Tags) &amp; Bit hợp lệ</vt:lpstr>
      <vt:lpstr>Ví dụ Cache</vt:lpstr>
      <vt:lpstr>Ví dụ (tt.)</vt:lpstr>
      <vt:lpstr>Ví dụ (tt.)</vt:lpstr>
      <vt:lpstr>Ví dụ (tt.)</vt:lpstr>
      <vt:lpstr>Ví dụ (tt.)</vt:lpstr>
      <vt:lpstr>Ví dụ (tt.)</vt:lpstr>
      <vt:lpstr>Chia nhỏ không gian  địa chỉ</vt:lpstr>
      <vt:lpstr>Ví dụ: Khối có kích thước lớn</vt:lpstr>
      <vt:lpstr>Nhận xét về kích thước khối</vt:lpstr>
      <vt:lpstr>Xử lý Cache Misses</vt:lpstr>
      <vt:lpstr>Xử lý Cache Misses (tt.)</vt:lpstr>
      <vt:lpstr>“Write-Through”</vt:lpstr>
      <vt:lpstr>“Write-Back”</vt:lpstr>
      <vt:lpstr>Write Allocation</vt:lpstr>
      <vt:lpstr>Ví dụ: Intrinsity FastMATH</vt:lpstr>
      <vt:lpstr>Ví dụ: Intrinsity FastMATH (tt.)</vt:lpstr>
      <vt:lpstr>Thiết kế Bộ nhớ hỗ trợ cache</vt:lpstr>
      <vt:lpstr>Tăng băng thông Bộ nhớ</vt:lpstr>
      <vt:lpstr>Đo hiệu suất Cache</vt:lpstr>
      <vt:lpstr>Ví dụ: Hiệu suất Cache</vt:lpstr>
      <vt:lpstr>Thời gian truy cập trung bình</vt:lpstr>
      <vt:lpstr>Kết luận</vt:lpstr>
      <vt:lpstr>Kiểm tra 15 phút</vt:lpstr>
      <vt:lpstr>Bộ nhớ Caches quan hệ</vt:lpstr>
      <vt:lpstr>Ví dụ: Cache quan hệ</vt:lpstr>
      <vt:lpstr>Các tập quan hệ (n-ways)</vt:lpstr>
      <vt:lpstr>Ví dụ cụ thể</vt:lpstr>
      <vt:lpstr>Ví dụ: (tt.)</vt:lpstr>
      <vt:lpstr>Tác dụng của Cache quan hệ</vt:lpstr>
      <vt:lpstr>Tổ chức hiện thực  “  Set Associative Cache”</vt:lpstr>
      <vt:lpstr>Chính sách thay thế</vt:lpstr>
      <vt:lpstr>Cache đa cấp (multilevel)</vt:lpstr>
      <vt:lpstr>Ví dụ: Cache đa cấp</vt:lpstr>
      <vt:lpstr>Ví dụ: Cache đa cấp (tt.)</vt:lpstr>
      <vt:lpstr>Nhận xét về cache đa cấp</vt:lpstr>
      <vt:lpstr>Bộ nhớ ảo (Virtual Memory)</vt:lpstr>
      <vt:lpstr>Chuyển đổi địa chỉ</vt:lpstr>
      <vt:lpstr> Lỗi trang (Page fault)</vt:lpstr>
      <vt:lpstr>Bảng phân trang (Page Tables)</vt:lpstr>
      <vt:lpstr>Chuyển đổi với bảng phân trang</vt:lpstr>
      <vt:lpstr>Ánh xạ trang (pages) lên đĩa</vt:lpstr>
      <vt:lpstr>Thay thế &amp; cập nhật</vt:lpstr>
      <vt:lpstr>Chuyển đổi nhanh với TLB</vt:lpstr>
      <vt:lpstr>Chuyển đổi nhanh với TLB (tt.)</vt:lpstr>
      <vt:lpstr>Xử lý TLB Misses</vt:lpstr>
      <vt:lpstr>Bộ xử lý (handler) TLB Miss</vt:lpstr>
      <vt:lpstr>Khi có lỗi trang</vt:lpstr>
      <vt:lpstr>Giao tiếp TLB &amp; Cache</vt:lpstr>
      <vt:lpstr>Thực hiện bảo vệ bộ nhớ</vt:lpstr>
      <vt:lpstr>Cấu trúc phân tầng bộ nhớ</vt:lpstr>
      <vt:lpstr>Sắp đặt khối</vt:lpstr>
      <vt:lpstr>Tìm kiếm khối</vt:lpstr>
      <vt:lpstr>Thay thế khối (Replacement)</vt:lpstr>
      <vt:lpstr>Phương thức cập nhật đĩa</vt:lpstr>
      <vt:lpstr>Nguồn gốc của “Misses”</vt:lpstr>
      <vt:lpstr>Tối ưu thiết kế cache</vt:lpstr>
      <vt:lpstr>Hỗ trợ tập lệnh</vt:lpstr>
      <vt:lpstr>Điều khiển Cache</vt:lpstr>
      <vt:lpstr>Các tín hiệu giao tiếp</vt:lpstr>
      <vt:lpstr>Cache nhiều cấp on chip</vt:lpstr>
      <vt:lpstr>Tổ chức TLB cache cấp 2</vt:lpstr>
      <vt:lpstr>Tổ chức Cache 3 cấp</vt:lpstr>
      <vt:lpstr>Hạn chế phí tổn Mis (Penalty)</vt:lpstr>
      <vt:lpstr>Kết luận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</dc:title>
  <dc:creator>sonsys</dc:creator>
  <cp:lastModifiedBy>Cuong Pham-Quoc</cp:lastModifiedBy>
  <cp:revision>275</cp:revision>
  <dcterms:created xsi:type="dcterms:W3CDTF">2006-08-16T00:00:00Z</dcterms:created>
  <dcterms:modified xsi:type="dcterms:W3CDTF">2017-05-15T13:07:22Z</dcterms:modified>
</cp:coreProperties>
</file>