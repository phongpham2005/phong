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88" r:id="rId2"/>
    <p:sldMasterId id="2147483700" r:id="rId3"/>
  </p:sldMasterIdLst>
  <p:notesMasterIdLst>
    <p:notesMasterId r:id="rId73"/>
  </p:notesMasterIdLst>
  <p:sldIdLst>
    <p:sldId id="256" r:id="rId4"/>
    <p:sldId id="257" r:id="rId5"/>
    <p:sldId id="348" r:id="rId6"/>
    <p:sldId id="349" r:id="rId7"/>
    <p:sldId id="351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50" r:id="rId65"/>
    <p:sldId id="314" r:id="rId66"/>
    <p:sldId id="316" r:id="rId67"/>
    <p:sldId id="317" r:id="rId68"/>
    <p:sldId id="318" r:id="rId69"/>
    <p:sldId id="319" r:id="rId70"/>
    <p:sldId id="346" r:id="rId71"/>
    <p:sldId id="347" r:id="rId7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149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presProps" Target="presProp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theme" Target="theme/theme1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2D059D-A283-427F-92E5-8906E07E457E}" type="datetimeFigureOut">
              <a:rPr lang="vi-VN" smtClean="0"/>
              <a:t>10/12/2015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C50C-A260-474F-BA18-7E1AB7BD15A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21847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Bỏ</a:t>
            </a:r>
            <a:r>
              <a:rPr lang="en-US" baseline="0" smtClean="0"/>
              <a:t> qua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3DC50C-A260-474F-BA18-7E1AB7BD15A8}" type="slidenum">
              <a:rPr lang="vi-VN" smtClean="0"/>
              <a:t>27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92341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npo00000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8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943708" y="6525660"/>
            <a:ext cx="8191500" cy="333375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0099CC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defRPr/>
            </a:pPr>
            <a:endParaRPr lang="vi-VN"/>
          </a:p>
        </p:txBody>
      </p:sp>
      <p:sp>
        <p:nvSpPr>
          <p:cNvPr id="6" name="AutoShape 11"/>
          <p:cNvSpPr>
            <a:spLocks noChangeAspect="1" noChangeArrowheads="1"/>
          </p:cNvSpPr>
          <p:nvPr/>
        </p:nvSpPr>
        <p:spPr bwMode="auto">
          <a:xfrm>
            <a:off x="0" y="2420939"/>
            <a:ext cx="1043354" cy="103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defRPr/>
            </a:pPr>
            <a:endParaRPr lang="vi-VN"/>
          </a:p>
        </p:txBody>
      </p:sp>
      <p:grpSp>
        <p:nvGrpSpPr>
          <p:cNvPr id="7" name="Group 30"/>
          <p:cNvGrpSpPr>
            <a:grpSpLocks/>
          </p:cNvGrpSpPr>
          <p:nvPr/>
        </p:nvGrpSpPr>
        <p:grpSpPr bwMode="auto">
          <a:xfrm>
            <a:off x="171450" y="5303181"/>
            <a:ext cx="1034562" cy="1033463"/>
            <a:chOff x="125" y="2614"/>
            <a:chExt cx="706" cy="651"/>
          </a:xfrm>
        </p:grpSpPr>
        <p:sp>
          <p:nvSpPr>
            <p:cNvPr id="8" name="Freeform 15"/>
            <p:cNvSpPr>
              <a:spLocks/>
            </p:cNvSpPr>
            <p:nvPr/>
          </p:nvSpPr>
          <p:spPr bwMode="auto">
            <a:xfrm>
              <a:off x="299" y="2614"/>
              <a:ext cx="178" cy="283"/>
            </a:xfrm>
            <a:custGeom>
              <a:avLst/>
              <a:gdLst>
                <a:gd name="T0" fmla="*/ 0 w 1327"/>
                <a:gd name="T1" fmla="*/ 283 h 2290"/>
                <a:gd name="T2" fmla="*/ 0 w 1327"/>
                <a:gd name="T3" fmla="*/ 94 h 2290"/>
                <a:gd name="T4" fmla="*/ 178 w 1327"/>
                <a:gd name="T5" fmla="*/ 0 h 2290"/>
                <a:gd name="T6" fmla="*/ 178 w 1327"/>
                <a:gd name="T7" fmla="*/ 188 h 2290"/>
                <a:gd name="T8" fmla="*/ 0 w 1327"/>
                <a:gd name="T9" fmla="*/ 283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032B91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vi-VN"/>
            </a:p>
          </p:txBody>
        </p:sp>
        <p:sp>
          <p:nvSpPr>
            <p:cNvPr id="9" name="Freeform 16"/>
            <p:cNvSpPr>
              <a:spLocks/>
            </p:cNvSpPr>
            <p:nvPr/>
          </p:nvSpPr>
          <p:spPr bwMode="auto">
            <a:xfrm>
              <a:off x="477" y="2614"/>
              <a:ext cx="177" cy="285"/>
            </a:xfrm>
            <a:custGeom>
              <a:avLst/>
              <a:gdLst>
                <a:gd name="T0" fmla="*/ 177 w 1497"/>
                <a:gd name="T1" fmla="*/ 285 h 2589"/>
                <a:gd name="T2" fmla="*/ 177 w 1497"/>
                <a:gd name="T3" fmla="*/ 94 h 2589"/>
                <a:gd name="T4" fmla="*/ 0 w 1497"/>
                <a:gd name="T5" fmla="*/ 0 h 2589"/>
                <a:gd name="T6" fmla="*/ 0 w 1497"/>
                <a:gd name="T7" fmla="*/ 189 h 2589"/>
                <a:gd name="T8" fmla="*/ 177 w 1497"/>
                <a:gd name="T9" fmla="*/ 285 h 25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97" h="2589">
                  <a:moveTo>
                    <a:pt x="1496" y="2589"/>
                  </a:moveTo>
                  <a:lnTo>
                    <a:pt x="1497" y="856"/>
                  </a:lnTo>
                  <a:lnTo>
                    <a:pt x="0" y="0"/>
                  </a:lnTo>
                  <a:lnTo>
                    <a:pt x="0" y="1717"/>
                  </a:lnTo>
                  <a:lnTo>
                    <a:pt x="1496" y="2589"/>
                  </a:lnTo>
                  <a:close/>
                </a:path>
              </a:pathLst>
            </a:custGeom>
            <a:solidFill>
              <a:srgbClr val="1488DB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vi-VN"/>
            </a:p>
          </p:txBody>
        </p:sp>
        <p:sp>
          <p:nvSpPr>
            <p:cNvPr id="10" name="Freeform 17"/>
            <p:cNvSpPr>
              <a:spLocks/>
            </p:cNvSpPr>
            <p:nvPr/>
          </p:nvSpPr>
          <p:spPr bwMode="auto">
            <a:xfrm>
              <a:off x="125" y="2897"/>
              <a:ext cx="178" cy="284"/>
            </a:xfrm>
            <a:custGeom>
              <a:avLst/>
              <a:gdLst>
                <a:gd name="T0" fmla="*/ 0 w 1327"/>
                <a:gd name="T1" fmla="*/ 284 h 2290"/>
                <a:gd name="T2" fmla="*/ 0 w 1327"/>
                <a:gd name="T3" fmla="*/ 94 h 2290"/>
                <a:gd name="T4" fmla="*/ 178 w 1327"/>
                <a:gd name="T5" fmla="*/ 0 h 2290"/>
                <a:gd name="T6" fmla="*/ 178 w 1327"/>
                <a:gd name="T7" fmla="*/ 189 h 2290"/>
                <a:gd name="T8" fmla="*/ 0 w 1327"/>
                <a:gd name="T9" fmla="*/ 284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1488DB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vi-VN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auto">
            <a:xfrm flipH="1">
              <a:off x="652" y="2896"/>
              <a:ext cx="179" cy="284"/>
            </a:xfrm>
            <a:custGeom>
              <a:avLst/>
              <a:gdLst>
                <a:gd name="T0" fmla="*/ 0 w 1327"/>
                <a:gd name="T1" fmla="*/ 284 h 2290"/>
                <a:gd name="T2" fmla="*/ 0 w 1327"/>
                <a:gd name="T3" fmla="*/ 94 h 2290"/>
                <a:gd name="T4" fmla="*/ 179 w 1327"/>
                <a:gd name="T5" fmla="*/ 0 h 2290"/>
                <a:gd name="T6" fmla="*/ 179 w 1327"/>
                <a:gd name="T7" fmla="*/ 189 h 2290"/>
                <a:gd name="T8" fmla="*/ 0 w 1327"/>
                <a:gd name="T9" fmla="*/ 284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032B91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vi-VN"/>
            </a:p>
          </p:txBody>
        </p:sp>
        <p:sp>
          <p:nvSpPr>
            <p:cNvPr id="12" name="Freeform 19"/>
            <p:cNvSpPr>
              <a:spLocks/>
            </p:cNvSpPr>
            <p:nvPr/>
          </p:nvSpPr>
          <p:spPr bwMode="auto">
            <a:xfrm rot="3690139">
              <a:off x="216" y="3029"/>
              <a:ext cx="165" cy="307"/>
            </a:xfrm>
            <a:custGeom>
              <a:avLst/>
              <a:gdLst>
                <a:gd name="T0" fmla="*/ 0 w 1327"/>
                <a:gd name="T1" fmla="*/ 307 h 2290"/>
                <a:gd name="T2" fmla="*/ 0 w 1327"/>
                <a:gd name="T3" fmla="*/ 102 h 2290"/>
                <a:gd name="T4" fmla="*/ 165 w 1327"/>
                <a:gd name="T5" fmla="*/ 0 h 2290"/>
                <a:gd name="T6" fmla="*/ 165 w 1327"/>
                <a:gd name="T7" fmla="*/ 204 h 2290"/>
                <a:gd name="T8" fmla="*/ 0 w 1327"/>
                <a:gd name="T9" fmla="*/ 307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032B91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vi-VN"/>
            </a:p>
          </p:txBody>
        </p:sp>
        <p:sp>
          <p:nvSpPr>
            <p:cNvPr id="13" name="Freeform 20"/>
            <p:cNvSpPr>
              <a:spLocks/>
            </p:cNvSpPr>
            <p:nvPr/>
          </p:nvSpPr>
          <p:spPr bwMode="auto">
            <a:xfrm rot="3600000">
              <a:off x="570" y="3024"/>
              <a:ext cx="165" cy="306"/>
            </a:xfrm>
            <a:custGeom>
              <a:avLst/>
              <a:gdLst>
                <a:gd name="T0" fmla="*/ 0 w 1327"/>
                <a:gd name="T1" fmla="*/ 306 h 2290"/>
                <a:gd name="T2" fmla="*/ 0 w 1327"/>
                <a:gd name="T3" fmla="*/ 102 h 2290"/>
                <a:gd name="T4" fmla="*/ 165 w 1327"/>
                <a:gd name="T5" fmla="*/ 0 h 2290"/>
                <a:gd name="T6" fmla="*/ 165 w 1327"/>
                <a:gd name="T7" fmla="*/ 204 h 2290"/>
                <a:gd name="T8" fmla="*/ 0 w 1327"/>
                <a:gd name="T9" fmla="*/ 306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1488DB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vi-VN"/>
            </a:p>
          </p:txBody>
        </p:sp>
        <p:sp>
          <p:nvSpPr>
            <p:cNvPr id="14" name="Text Box 22"/>
            <p:cNvSpPr txBox="1">
              <a:spLocks noChangeArrowheads="1"/>
            </p:cNvSpPr>
            <p:nvPr/>
          </p:nvSpPr>
          <p:spPr bwMode="auto">
            <a:xfrm>
              <a:off x="274" y="2847"/>
              <a:ext cx="392" cy="25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66751" tIns="33376" rIns="66751" bIns="33376">
              <a:spAutoFit/>
            </a:bodyPr>
            <a:lstStyle>
              <a:lvl1pPr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1pPr>
              <a:lvl2pPr marL="742950" indent="-285750"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2pPr>
              <a:lvl3pPr marL="1143000" indent="-228600"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3pPr>
              <a:lvl4pPr marL="1600200" indent="-228600"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4pPr>
              <a:lvl5pPr marL="2057400" indent="-228600"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6E797F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6E797F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6E797F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6E797F"/>
                  </a:solidFill>
                  <a:latin typeface="Arial" charset="0"/>
                </a:defRPr>
              </a:lvl9pPr>
            </a:lstStyle>
            <a:p>
              <a:pPr algn="ctr" eaLnBrk="1" hangingPunct="1">
                <a:spcAft>
                  <a:spcPct val="10000"/>
                </a:spcAft>
                <a:defRPr/>
              </a:pPr>
              <a:r>
                <a:rPr lang="en-US" sz="1200" b="1" smtClean="0">
                  <a:solidFill>
                    <a:srgbClr val="032B91"/>
                  </a:solidFill>
                </a:rPr>
                <a:t>BK</a:t>
              </a:r>
            </a:p>
            <a:p>
              <a:pPr algn="ctr" eaLnBrk="1" hangingPunct="1">
                <a:defRPr/>
              </a:pPr>
              <a:r>
                <a:rPr lang="en-US" sz="900" b="1" smtClean="0">
                  <a:solidFill>
                    <a:srgbClr val="1488DB"/>
                  </a:solidFill>
                </a:rPr>
                <a:t>TP.HCM</a:t>
              </a:r>
              <a:endParaRPr lang="en-US" sz="900" smtClean="0">
                <a:solidFill>
                  <a:srgbClr val="1488DB"/>
                </a:solidFill>
              </a:endParaRPr>
            </a:p>
          </p:txBody>
        </p:sp>
      </p:grpSp>
      <p:sp>
        <p:nvSpPr>
          <p:cNvPr id="849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202753" y="6524625"/>
            <a:ext cx="3921369" cy="333375"/>
          </a:xfrm>
        </p:spPr>
        <p:txBody>
          <a:bodyPr/>
          <a:lstStyle/>
          <a:p>
            <a:fld id="{B32C4E71-0320-444D-BB53-E1E114645CC0}" type="datetime1">
              <a:rPr lang="en-US" smtClean="0"/>
              <a:t>12/10/2015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0882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005133-86D3-4436-97A3-5C846E966471}" type="datetime1">
              <a:rPr lang="en-US" smtClean="0"/>
              <a:t>12/10/2015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57976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435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435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A2C828-DA5C-4E2A-9EAE-DE8F2F4751B1}" type="datetime1">
              <a:rPr lang="en-US" smtClean="0"/>
              <a:t>12/10/2015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77772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6138" y="1125538"/>
            <a:ext cx="4044462" cy="51831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1277" y="1125538"/>
            <a:ext cx="4044462" cy="51831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B5617F-EBC3-4218-89B3-BFBE94EC7142}" type="datetime1">
              <a:rPr lang="en-US" smtClean="0"/>
              <a:t>12/10/2015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77017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" y="1"/>
            <a:ext cx="719504" cy="1484313"/>
          </a:xfrm>
          <a:prstGeom prst="rect">
            <a:avLst/>
          </a:prstGeom>
          <a:gradFill rotWithShape="1">
            <a:gsLst>
              <a:gs pos="0">
                <a:srgbClr val="0099CC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vi-VN" sz="1800">
              <a:solidFill>
                <a:schemeClr val="tx1"/>
              </a:solidFill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701920" y="808039"/>
            <a:ext cx="8442080" cy="2857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5490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pic>
        <p:nvPicPr>
          <p:cNvPr id="9" name="Picture 16" descr="New_BK_HC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8238"/>
            <a:ext cx="633046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06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06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270" y="1535113"/>
            <a:ext cx="40415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270" y="2174875"/>
            <a:ext cx="40415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E447F6D-E4A5-4994-93B9-229F3E97AD75}" type="datetime1">
              <a:rPr lang="en-US" smtClean="0"/>
              <a:t>12/10/2015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20261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41E00E-21B1-4425-85C0-3A697858EF33}" type="datetime1">
              <a:rPr lang="en-US" smtClean="0"/>
              <a:t>12/10/2015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792329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1" y="1"/>
            <a:ext cx="719504" cy="1484313"/>
          </a:xfrm>
          <a:prstGeom prst="rect">
            <a:avLst/>
          </a:prstGeom>
          <a:gradFill rotWithShape="1">
            <a:gsLst>
              <a:gs pos="0">
                <a:srgbClr val="0099CC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vi-VN" sz="1800">
              <a:solidFill>
                <a:schemeClr val="tx1"/>
              </a:solidFill>
            </a:endParaRP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701920" y="808039"/>
            <a:ext cx="8442080" cy="2857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5490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pic>
        <p:nvPicPr>
          <p:cNvPr id="4" name="Picture 16" descr="New_BK_HC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8238"/>
            <a:ext cx="633046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38C1F39-D717-4BF4-9A12-8AD96558B97C}" type="datetime1">
              <a:rPr lang="en-US" smtClean="0"/>
              <a:t>12/10/2015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6710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" y="1"/>
            <a:ext cx="719504" cy="1484313"/>
          </a:xfrm>
          <a:prstGeom prst="rect">
            <a:avLst/>
          </a:prstGeom>
          <a:gradFill rotWithShape="1">
            <a:gsLst>
              <a:gs pos="0">
                <a:srgbClr val="0099CC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vi-VN" sz="180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01920" y="808039"/>
            <a:ext cx="8442080" cy="2857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5490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pic>
        <p:nvPicPr>
          <p:cNvPr id="7" name="Picture 16" descr="New_BK_HC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8238"/>
            <a:ext cx="633046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435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538" y="273051"/>
            <a:ext cx="511126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435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291D5A-13F5-491C-986C-0C06621C7509}" type="datetime1">
              <a:rPr lang="en-US" smtClean="0"/>
              <a:t>12/10/2015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5532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" y="1"/>
            <a:ext cx="719504" cy="1484313"/>
          </a:xfrm>
          <a:prstGeom prst="rect">
            <a:avLst/>
          </a:prstGeom>
          <a:gradFill rotWithShape="1">
            <a:gsLst>
              <a:gs pos="0">
                <a:srgbClr val="0099CC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vi-VN" sz="180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01920" y="808039"/>
            <a:ext cx="8442080" cy="2857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5490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pic>
        <p:nvPicPr>
          <p:cNvPr id="7" name="Picture 16" descr="New_BK_HC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8238"/>
            <a:ext cx="633046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166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166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166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1DFF4AB-E355-45F3-855C-86042271CB7B}" type="datetime1">
              <a:rPr lang="en-US" smtClean="0"/>
              <a:t>12/10/2015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82474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" y="1"/>
            <a:ext cx="719504" cy="1484313"/>
          </a:xfrm>
          <a:prstGeom prst="rect">
            <a:avLst/>
          </a:prstGeom>
          <a:gradFill rotWithShape="1">
            <a:gsLst>
              <a:gs pos="0">
                <a:srgbClr val="0099CC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vi-VN" sz="1800">
              <a:solidFill>
                <a:schemeClr val="tx1"/>
              </a:solidFill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701920" y="808039"/>
            <a:ext cx="8442080" cy="2857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5490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pic>
        <p:nvPicPr>
          <p:cNvPr id="6" name="Picture 16" descr="New_BK_HC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8238"/>
            <a:ext cx="633046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D7E83C3-12F9-4A68-8925-886F378D96E4}" type="datetime1">
              <a:rPr lang="en-US" smtClean="0"/>
              <a:t>12/10/2015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1060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" y="1"/>
            <a:ext cx="719504" cy="1484313"/>
          </a:xfrm>
          <a:prstGeom prst="rect">
            <a:avLst/>
          </a:prstGeom>
          <a:gradFill rotWithShape="1">
            <a:gsLst>
              <a:gs pos="0">
                <a:srgbClr val="0099CC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vi-VN" sz="1800">
              <a:solidFill>
                <a:schemeClr val="tx1"/>
              </a:solidFill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701920" y="808039"/>
            <a:ext cx="8442080" cy="2857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5490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pic>
        <p:nvPicPr>
          <p:cNvPr id="6" name="Picture 16" descr="New_BK_HC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8238"/>
            <a:ext cx="633046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28338" y="44451"/>
            <a:ext cx="2057400" cy="62642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6139" y="44451"/>
            <a:ext cx="6031523" cy="62642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1BFE20-EB43-41B4-92B6-AE33679417E5}" type="datetime1">
              <a:rPr lang="en-US" smtClean="0"/>
              <a:t>12/10/2015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8585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" y="1"/>
            <a:ext cx="719504" cy="1484313"/>
          </a:xfrm>
          <a:prstGeom prst="rect">
            <a:avLst/>
          </a:prstGeom>
          <a:gradFill rotWithShape="1">
            <a:gsLst>
              <a:gs pos="0">
                <a:srgbClr val="0099CC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vi-VN" sz="180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01920" y="808039"/>
            <a:ext cx="8442080" cy="2857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5490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952500" y="6524626"/>
            <a:ext cx="8191500" cy="333375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0099CC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defRPr/>
            </a:pPr>
            <a:endParaRPr lang="vi-VN"/>
          </a:p>
        </p:txBody>
      </p:sp>
      <p:pic>
        <p:nvPicPr>
          <p:cNvPr id="8" name="Picture 16" descr="New_BK_HC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8238"/>
            <a:ext cx="633046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153400" cy="4222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914400"/>
            <a:ext cx="4000500" cy="23939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914400"/>
            <a:ext cx="4000500" cy="23939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2078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" y="1"/>
            <a:ext cx="719504" cy="1484313"/>
          </a:xfrm>
          <a:prstGeom prst="rect">
            <a:avLst/>
          </a:prstGeom>
          <a:gradFill rotWithShape="1">
            <a:gsLst>
              <a:gs pos="0">
                <a:srgbClr val="0099CC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vi-VN" sz="1800">
              <a:solidFill>
                <a:schemeClr val="tx1"/>
              </a:solidFill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701920" y="808039"/>
            <a:ext cx="8442080" cy="2857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5490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952500" y="6524626"/>
            <a:ext cx="8191500" cy="333375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0099CC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defRPr/>
            </a:pPr>
            <a:endParaRPr lang="vi-VN"/>
          </a:p>
        </p:txBody>
      </p:sp>
      <p:pic>
        <p:nvPicPr>
          <p:cNvPr id="7" name="Picture 16" descr="New_BK_HC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8238"/>
            <a:ext cx="633046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63525"/>
            <a:ext cx="7848600" cy="4222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914400"/>
            <a:ext cx="7848600" cy="2579688"/>
          </a:xfrm>
        </p:spPr>
        <p:txBody>
          <a:bodyPr/>
          <a:lstStyle/>
          <a:p>
            <a:pPr lvl="0"/>
            <a:r>
              <a:rPr lang="en-US" noProof="0" smtClean="0"/>
              <a:t>Click icon to add table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1002985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1_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138" y="44450"/>
            <a:ext cx="8229600" cy="863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756138" y="1125538"/>
            <a:ext cx="8229600" cy="5183187"/>
          </a:xfrm>
        </p:spPr>
        <p:txBody>
          <a:bodyPr/>
          <a:lstStyle/>
          <a:p>
            <a:pPr lvl="0"/>
            <a:r>
              <a:rPr lang="en-US" noProof="0" smtClean="0"/>
              <a:t>Click icon to add table</a:t>
            </a:r>
            <a:endParaRPr lang="en-US" noProof="0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7DDA3E-5AF4-4A9D-A3CC-2100593739B8}" type="datetime1">
              <a:rPr lang="en-US" smtClean="0"/>
              <a:t>12/10/2015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123377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1_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138" y="44450"/>
            <a:ext cx="8229600" cy="863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56138" y="1125538"/>
            <a:ext cx="4044462" cy="5183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1277" y="1125538"/>
            <a:ext cx="4044462" cy="5183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F6D811-83D8-4D73-90D5-744F4BD7BF03}" type="datetime1">
              <a:rPr lang="en-US" smtClean="0"/>
              <a:t>12/10/2015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916988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7CBE8-CEF3-4219-A274-D2988A83B44D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005289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87151-191A-4CD2-8208-60BAFA9CF6CF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601173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42ADB-6426-4479-B2C3-6AFA22B558F8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53027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53D32-59E3-4B0F-A35B-5A9EC9853C1E}" type="datetime1">
              <a:rPr lang="en-US" smtClean="0"/>
              <a:t>12/10/2015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644657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04DF4-E130-400D-9BC3-75A6AECD5558}" type="datetime1">
              <a:rPr lang="en-US" smtClean="0"/>
              <a:t>12/10/2015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202951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3098D-39AE-4124-8D19-2B676263992E}" type="datetime1">
              <a:rPr lang="en-US" smtClean="0"/>
              <a:t>12/10/2015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65414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A23EA-AF62-4986-9A00-59F67B3F553C}" type="datetime1">
              <a:rPr lang="en-US" smtClean="0"/>
              <a:t>12/10/2015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531630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4B14-D558-40A3-8A85-36A95A977BFB}" type="datetime1">
              <a:rPr lang="en-US" smtClean="0"/>
              <a:t>12/10/2015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09315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8EEAF-D0EC-45D0-B4E5-3776CE339FBA}" type="datetime1">
              <a:rPr lang="en-US" smtClean="0"/>
              <a:t>12/10/2015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428921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52EC8-AEB3-4692-B414-37816D1EA72F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119466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F390F-C740-4804-9878-837845F0B6A7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575546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123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5124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5125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vi-VN"/>
              </a:p>
            </p:txBody>
          </p:sp>
        </p:grpSp>
        <p:grpSp>
          <p:nvGrpSpPr>
            <p:cNvPr id="5126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5127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5128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vi-VN"/>
              </a:p>
            </p:txBody>
          </p:sp>
        </p:grpSp>
        <p:sp>
          <p:nvSpPr>
            <p:cNvPr id="5129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5130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5131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vi-VN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134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5334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316FD59-846A-474D-BF69-26FFD491CF94}" type="datetime1">
              <a:rPr lang="en-US" smtClean="0"/>
              <a:t>12/10/2015</a:t>
            </a:fld>
            <a:endParaRPr lang="vi-VN"/>
          </a:p>
        </p:txBody>
      </p:sp>
      <p:sp>
        <p:nvSpPr>
          <p:cNvPr id="5135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400800"/>
            <a:ext cx="4191000" cy="3048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391400" y="6248400"/>
            <a:ext cx="1371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447800" y="6248400"/>
            <a:ext cx="1295400" cy="457200"/>
          </a:xfrm>
        </p:spPr>
        <p:txBody>
          <a:bodyPr/>
          <a:lstStyle>
            <a:lvl1pPr>
              <a:defRPr/>
            </a:lvl1pPr>
          </a:lstStyle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19400" y="6400800"/>
            <a:ext cx="4419600" cy="304800"/>
          </a:xfrm>
        </p:spPr>
        <p:txBody>
          <a:bodyPr/>
          <a:lstStyle>
            <a:lvl1pPr>
              <a:defRPr b="1" i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0000" y="6243638"/>
            <a:ext cx="1327150" cy="457200"/>
          </a:xfrm>
        </p:spPr>
        <p:txBody>
          <a:bodyPr/>
          <a:lstStyle>
            <a:lvl1pPr>
              <a:defRPr/>
            </a:lvl1pPr>
          </a:lstStyle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  <p:grpSp>
        <p:nvGrpSpPr>
          <p:cNvPr id="7" name="Group 30"/>
          <p:cNvGrpSpPr>
            <a:grpSpLocks/>
          </p:cNvGrpSpPr>
          <p:nvPr userDrawn="1"/>
        </p:nvGrpSpPr>
        <p:grpSpPr bwMode="auto">
          <a:xfrm>
            <a:off x="63871" y="5673069"/>
            <a:ext cx="1034562" cy="1033463"/>
            <a:chOff x="125" y="2614"/>
            <a:chExt cx="706" cy="651"/>
          </a:xfrm>
        </p:grpSpPr>
        <p:sp>
          <p:nvSpPr>
            <p:cNvPr id="8" name="Freeform 15"/>
            <p:cNvSpPr>
              <a:spLocks/>
            </p:cNvSpPr>
            <p:nvPr/>
          </p:nvSpPr>
          <p:spPr bwMode="auto">
            <a:xfrm>
              <a:off x="299" y="2614"/>
              <a:ext cx="178" cy="283"/>
            </a:xfrm>
            <a:custGeom>
              <a:avLst/>
              <a:gdLst>
                <a:gd name="T0" fmla="*/ 0 w 1327"/>
                <a:gd name="T1" fmla="*/ 283 h 2290"/>
                <a:gd name="T2" fmla="*/ 0 w 1327"/>
                <a:gd name="T3" fmla="*/ 94 h 2290"/>
                <a:gd name="T4" fmla="*/ 178 w 1327"/>
                <a:gd name="T5" fmla="*/ 0 h 2290"/>
                <a:gd name="T6" fmla="*/ 178 w 1327"/>
                <a:gd name="T7" fmla="*/ 188 h 2290"/>
                <a:gd name="T8" fmla="*/ 0 w 1327"/>
                <a:gd name="T9" fmla="*/ 283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032B91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reeform 16"/>
            <p:cNvSpPr>
              <a:spLocks/>
            </p:cNvSpPr>
            <p:nvPr/>
          </p:nvSpPr>
          <p:spPr bwMode="auto">
            <a:xfrm>
              <a:off x="477" y="2614"/>
              <a:ext cx="177" cy="285"/>
            </a:xfrm>
            <a:custGeom>
              <a:avLst/>
              <a:gdLst>
                <a:gd name="T0" fmla="*/ 177 w 1497"/>
                <a:gd name="T1" fmla="*/ 285 h 2589"/>
                <a:gd name="T2" fmla="*/ 177 w 1497"/>
                <a:gd name="T3" fmla="*/ 94 h 2589"/>
                <a:gd name="T4" fmla="*/ 0 w 1497"/>
                <a:gd name="T5" fmla="*/ 0 h 2589"/>
                <a:gd name="T6" fmla="*/ 0 w 1497"/>
                <a:gd name="T7" fmla="*/ 189 h 2589"/>
                <a:gd name="T8" fmla="*/ 177 w 1497"/>
                <a:gd name="T9" fmla="*/ 285 h 25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97" h="2589">
                  <a:moveTo>
                    <a:pt x="1496" y="2589"/>
                  </a:moveTo>
                  <a:lnTo>
                    <a:pt x="1497" y="856"/>
                  </a:lnTo>
                  <a:lnTo>
                    <a:pt x="0" y="0"/>
                  </a:lnTo>
                  <a:lnTo>
                    <a:pt x="0" y="1717"/>
                  </a:lnTo>
                  <a:lnTo>
                    <a:pt x="1496" y="2589"/>
                  </a:lnTo>
                  <a:close/>
                </a:path>
              </a:pathLst>
            </a:custGeom>
            <a:solidFill>
              <a:srgbClr val="1488DB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Freeform 17"/>
            <p:cNvSpPr>
              <a:spLocks/>
            </p:cNvSpPr>
            <p:nvPr/>
          </p:nvSpPr>
          <p:spPr bwMode="auto">
            <a:xfrm>
              <a:off x="125" y="2897"/>
              <a:ext cx="178" cy="284"/>
            </a:xfrm>
            <a:custGeom>
              <a:avLst/>
              <a:gdLst>
                <a:gd name="T0" fmla="*/ 0 w 1327"/>
                <a:gd name="T1" fmla="*/ 284 h 2290"/>
                <a:gd name="T2" fmla="*/ 0 w 1327"/>
                <a:gd name="T3" fmla="*/ 94 h 2290"/>
                <a:gd name="T4" fmla="*/ 178 w 1327"/>
                <a:gd name="T5" fmla="*/ 0 h 2290"/>
                <a:gd name="T6" fmla="*/ 178 w 1327"/>
                <a:gd name="T7" fmla="*/ 189 h 2290"/>
                <a:gd name="T8" fmla="*/ 0 w 1327"/>
                <a:gd name="T9" fmla="*/ 284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1488DB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auto">
            <a:xfrm flipH="1">
              <a:off x="652" y="2896"/>
              <a:ext cx="179" cy="284"/>
            </a:xfrm>
            <a:custGeom>
              <a:avLst/>
              <a:gdLst>
                <a:gd name="T0" fmla="*/ 0 w 1327"/>
                <a:gd name="T1" fmla="*/ 284 h 2290"/>
                <a:gd name="T2" fmla="*/ 0 w 1327"/>
                <a:gd name="T3" fmla="*/ 94 h 2290"/>
                <a:gd name="T4" fmla="*/ 179 w 1327"/>
                <a:gd name="T5" fmla="*/ 0 h 2290"/>
                <a:gd name="T6" fmla="*/ 179 w 1327"/>
                <a:gd name="T7" fmla="*/ 189 h 2290"/>
                <a:gd name="T8" fmla="*/ 0 w 1327"/>
                <a:gd name="T9" fmla="*/ 284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032B91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Freeform 19"/>
            <p:cNvSpPr>
              <a:spLocks/>
            </p:cNvSpPr>
            <p:nvPr/>
          </p:nvSpPr>
          <p:spPr bwMode="auto">
            <a:xfrm rot="3690139">
              <a:off x="216" y="3029"/>
              <a:ext cx="165" cy="307"/>
            </a:xfrm>
            <a:custGeom>
              <a:avLst/>
              <a:gdLst>
                <a:gd name="T0" fmla="*/ 0 w 1327"/>
                <a:gd name="T1" fmla="*/ 307 h 2290"/>
                <a:gd name="T2" fmla="*/ 0 w 1327"/>
                <a:gd name="T3" fmla="*/ 102 h 2290"/>
                <a:gd name="T4" fmla="*/ 165 w 1327"/>
                <a:gd name="T5" fmla="*/ 0 h 2290"/>
                <a:gd name="T6" fmla="*/ 165 w 1327"/>
                <a:gd name="T7" fmla="*/ 204 h 2290"/>
                <a:gd name="T8" fmla="*/ 0 w 1327"/>
                <a:gd name="T9" fmla="*/ 307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032B91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Freeform 20"/>
            <p:cNvSpPr>
              <a:spLocks/>
            </p:cNvSpPr>
            <p:nvPr/>
          </p:nvSpPr>
          <p:spPr bwMode="auto">
            <a:xfrm rot="3600000">
              <a:off x="570" y="3024"/>
              <a:ext cx="165" cy="306"/>
            </a:xfrm>
            <a:custGeom>
              <a:avLst/>
              <a:gdLst>
                <a:gd name="T0" fmla="*/ 0 w 1327"/>
                <a:gd name="T1" fmla="*/ 306 h 2290"/>
                <a:gd name="T2" fmla="*/ 0 w 1327"/>
                <a:gd name="T3" fmla="*/ 102 h 2290"/>
                <a:gd name="T4" fmla="*/ 165 w 1327"/>
                <a:gd name="T5" fmla="*/ 0 h 2290"/>
                <a:gd name="T6" fmla="*/ 165 w 1327"/>
                <a:gd name="T7" fmla="*/ 204 h 2290"/>
                <a:gd name="T8" fmla="*/ 0 w 1327"/>
                <a:gd name="T9" fmla="*/ 306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1488DB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Text Box 22"/>
            <p:cNvSpPr txBox="1">
              <a:spLocks noChangeArrowheads="1"/>
            </p:cNvSpPr>
            <p:nvPr/>
          </p:nvSpPr>
          <p:spPr bwMode="auto">
            <a:xfrm>
              <a:off x="274" y="2847"/>
              <a:ext cx="392" cy="25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66751" tIns="33376" rIns="66751" bIns="33376">
              <a:spAutoFit/>
            </a:bodyPr>
            <a:lstStyle>
              <a:lvl1pPr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1pPr>
              <a:lvl2pPr marL="742950" indent="-285750"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2pPr>
              <a:lvl3pPr marL="1143000" indent="-228600"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3pPr>
              <a:lvl4pPr marL="1600200" indent="-228600"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4pPr>
              <a:lvl5pPr marL="2057400" indent="-228600"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6E797F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6E797F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6E797F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6E797F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10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smtClean="0">
                  <a:ln>
                    <a:noFill/>
                  </a:ln>
                  <a:solidFill>
                    <a:srgbClr val="032B91"/>
                  </a:solidFill>
                  <a:effectLst/>
                  <a:uLnTx/>
                  <a:uFillTx/>
                  <a:latin typeface="Arial" charset="0"/>
                </a:rPr>
                <a:t>BK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 smtClean="0">
                  <a:ln>
                    <a:noFill/>
                  </a:ln>
                  <a:solidFill>
                    <a:srgbClr val="1488DB"/>
                  </a:solidFill>
                  <a:effectLst/>
                  <a:uLnTx/>
                  <a:uFillTx/>
                  <a:latin typeface="Arial" charset="0"/>
                </a:rPr>
                <a:t>TP.HCM</a:t>
              </a:r>
              <a:endPara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rgbClr val="1488DB"/>
                </a:solidFill>
                <a:effectLst/>
                <a:uLnTx/>
                <a:uFillTx/>
                <a:latin typeface="Arial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4DD3D11-4679-4BBA-94D0-FA81EC253227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39F61F2-F646-43EE-8BD1-141902D7623F}" type="datetime1">
              <a:rPr lang="en-US" smtClean="0"/>
              <a:t>12/10/2015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6B0F908-AEDA-4564-A919-E5BA1C89C79C}" type="datetime1">
              <a:rPr lang="en-US" smtClean="0"/>
              <a:t>12/10/2015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162050" y="6243638"/>
            <a:ext cx="1504950" cy="457200"/>
          </a:xfrm>
        </p:spPr>
        <p:txBody>
          <a:bodyPr/>
          <a:lstStyle>
            <a:lvl1pPr>
              <a:defRPr/>
            </a:lvl1pPr>
          </a:lstStyle>
          <a:p>
            <a:fld id="{CB66236C-7858-436B-8318-18EF92B623B6}" type="datetime1">
              <a:rPr lang="en-US" smtClean="0"/>
              <a:t>12/10/2015</a:t>
            </a:fld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924800" y="6243638"/>
            <a:ext cx="1022350" cy="457200"/>
          </a:xfrm>
        </p:spPr>
        <p:txBody>
          <a:bodyPr/>
          <a:lstStyle>
            <a:lvl1pPr>
              <a:defRPr/>
            </a:lvl1pPr>
          </a:lstStyle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  <p:grpSp>
        <p:nvGrpSpPr>
          <p:cNvPr id="5" name="Group 30"/>
          <p:cNvGrpSpPr>
            <a:grpSpLocks/>
          </p:cNvGrpSpPr>
          <p:nvPr userDrawn="1"/>
        </p:nvGrpSpPr>
        <p:grpSpPr bwMode="auto">
          <a:xfrm>
            <a:off x="63871" y="5673069"/>
            <a:ext cx="1034562" cy="1033463"/>
            <a:chOff x="125" y="2614"/>
            <a:chExt cx="706" cy="651"/>
          </a:xfrm>
        </p:grpSpPr>
        <p:sp>
          <p:nvSpPr>
            <p:cNvPr id="6" name="Freeform 15"/>
            <p:cNvSpPr>
              <a:spLocks/>
            </p:cNvSpPr>
            <p:nvPr/>
          </p:nvSpPr>
          <p:spPr bwMode="auto">
            <a:xfrm>
              <a:off x="299" y="2614"/>
              <a:ext cx="178" cy="283"/>
            </a:xfrm>
            <a:custGeom>
              <a:avLst/>
              <a:gdLst>
                <a:gd name="T0" fmla="*/ 0 w 1327"/>
                <a:gd name="T1" fmla="*/ 283 h 2290"/>
                <a:gd name="T2" fmla="*/ 0 w 1327"/>
                <a:gd name="T3" fmla="*/ 94 h 2290"/>
                <a:gd name="T4" fmla="*/ 178 w 1327"/>
                <a:gd name="T5" fmla="*/ 0 h 2290"/>
                <a:gd name="T6" fmla="*/ 178 w 1327"/>
                <a:gd name="T7" fmla="*/ 188 h 2290"/>
                <a:gd name="T8" fmla="*/ 0 w 1327"/>
                <a:gd name="T9" fmla="*/ 283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032B91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 16"/>
            <p:cNvSpPr>
              <a:spLocks/>
            </p:cNvSpPr>
            <p:nvPr/>
          </p:nvSpPr>
          <p:spPr bwMode="auto">
            <a:xfrm>
              <a:off x="477" y="2614"/>
              <a:ext cx="177" cy="285"/>
            </a:xfrm>
            <a:custGeom>
              <a:avLst/>
              <a:gdLst>
                <a:gd name="T0" fmla="*/ 177 w 1497"/>
                <a:gd name="T1" fmla="*/ 285 h 2589"/>
                <a:gd name="T2" fmla="*/ 177 w 1497"/>
                <a:gd name="T3" fmla="*/ 94 h 2589"/>
                <a:gd name="T4" fmla="*/ 0 w 1497"/>
                <a:gd name="T5" fmla="*/ 0 h 2589"/>
                <a:gd name="T6" fmla="*/ 0 w 1497"/>
                <a:gd name="T7" fmla="*/ 189 h 2589"/>
                <a:gd name="T8" fmla="*/ 177 w 1497"/>
                <a:gd name="T9" fmla="*/ 285 h 25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97" h="2589">
                  <a:moveTo>
                    <a:pt x="1496" y="2589"/>
                  </a:moveTo>
                  <a:lnTo>
                    <a:pt x="1497" y="856"/>
                  </a:lnTo>
                  <a:lnTo>
                    <a:pt x="0" y="0"/>
                  </a:lnTo>
                  <a:lnTo>
                    <a:pt x="0" y="1717"/>
                  </a:lnTo>
                  <a:lnTo>
                    <a:pt x="1496" y="2589"/>
                  </a:lnTo>
                  <a:close/>
                </a:path>
              </a:pathLst>
            </a:custGeom>
            <a:solidFill>
              <a:srgbClr val="1488DB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 17"/>
            <p:cNvSpPr>
              <a:spLocks/>
            </p:cNvSpPr>
            <p:nvPr/>
          </p:nvSpPr>
          <p:spPr bwMode="auto">
            <a:xfrm>
              <a:off x="125" y="2897"/>
              <a:ext cx="178" cy="284"/>
            </a:xfrm>
            <a:custGeom>
              <a:avLst/>
              <a:gdLst>
                <a:gd name="T0" fmla="*/ 0 w 1327"/>
                <a:gd name="T1" fmla="*/ 284 h 2290"/>
                <a:gd name="T2" fmla="*/ 0 w 1327"/>
                <a:gd name="T3" fmla="*/ 94 h 2290"/>
                <a:gd name="T4" fmla="*/ 178 w 1327"/>
                <a:gd name="T5" fmla="*/ 0 h 2290"/>
                <a:gd name="T6" fmla="*/ 178 w 1327"/>
                <a:gd name="T7" fmla="*/ 189 h 2290"/>
                <a:gd name="T8" fmla="*/ 0 w 1327"/>
                <a:gd name="T9" fmla="*/ 284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1488DB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reeform 18"/>
            <p:cNvSpPr>
              <a:spLocks/>
            </p:cNvSpPr>
            <p:nvPr/>
          </p:nvSpPr>
          <p:spPr bwMode="auto">
            <a:xfrm flipH="1">
              <a:off x="652" y="2896"/>
              <a:ext cx="179" cy="284"/>
            </a:xfrm>
            <a:custGeom>
              <a:avLst/>
              <a:gdLst>
                <a:gd name="T0" fmla="*/ 0 w 1327"/>
                <a:gd name="T1" fmla="*/ 284 h 2290"/>
                <a:gd name="T2" fmla="*/ 0 w 1327"/>
                <a:gd name="T3" fmla="*/ 94 h 2290"/>
                <a:gd name="T4" fmla="*/ 179 w 1327"/>
                <a:gd name="T5" fmla="*/ 0 h 2290"/>
                <a:gd name="T6" fmla="*/ 179 w 1327"/>
                <a:gd name="T7" fmla="*/ 189 h 2290"/>
                <a:gd name="T8" fmla="*/ 0 w 1327"/>
                <a:gd name="T9" fmla="*/ 284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032B91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Freeform 19"/>
            <p:cNvSpPr>
              <a:spLocks/>
            </p:cNvSpPr>
            <p:nvPr/>
          </p:nvSpPr>
          <p:spPr bwMode="auto">
            <a:xfrm rot="3690139">
              <a:off x="216" y="3029"/>
              <a:ext cx="165" cy="307"/>
            </a:xfrm>
            <a:custGeom>
              <a:avLst/>
              <a:gdLst>
                <a:gd name="T0" fmla="*/ 0 w 1327"/>
                <a:gd name="T1" fmla="*/ 307 h 2290"/>
                <a:gd name="T2" fmla="*/ 0 w 1327"/>
                <a:gd name="T3" fmla="*/ 102 h 2290"/>
                <a:gd name="T4" fmla="*/ 165 w 1327"/>
                <a:gd name="T5" fmla="*/ 0 h 2290"/>
                <a:gd name="T6" fmla="*/ 165 w 1327"/>
                <a:gd name="T7" fmla="*/ 204 h 2290"/>
                <a:gd name="T8" fmla="*/ 0 w 1327"/>
                <a:gd name="T9" fmla="*/ 307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032B91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reeform 20"/>
            <p:cNvSpPr>
              <a:spLocks/>
            </p:cNvSpPr>
            <p:nvPr/>
          </p:nvSpPr>
          <p:spPr bwMode="auto">
            <a:xfrm rot="3600000">
              <a:off x="570" y="3024"/>
              <a:ext cx="165" cy="306"/>
            </a:xfrm>
            <a:custGeom>
              <a:avLst/>
              <a:gdLst>
                <a:gd name="T0" fmla="*/ 0 w 1327"/>
                <a:gd name="T1" fmla="*/ 306 h 2290"/>
                <a:gd name="T2" fmla="*/ 0 w 1327"/>
                <a:gd name="T3" fmla="*/ 102 h 2290"/>
                <a:gd name="T4" fmla="*/ 165 w 1327"/>
                <a:gd name="T5" fmla="*/ 0 h 2290"/>
                <a:gd name="T6" fmla="*/ 165 w 1327"/>
                <a:gd name="T7" fmla="*/ 204 h 2290"/>
                <a:gd name="T8" fmla="*/ 0 w 1327"/>
                <a:gd name="T9" fmla="*/ 306 h 2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7" h="2290">
                  <a:moveTo>
                    <a:pt x="0" y="2290"/>
                  </a:moveTo>
                  <a:lnTo>
                    <a:pt x="0" y="760"/>
                  </a:lnTo>
                  <a:lnTo>
                    <a:pt x="1327" y="0"/>
                  </a:lnTo>
                  <a:lnTo>
                    <a:pt x="1327" y="1525"/>
                  </a:lnTo>
                  <a:lnTo>
                    <a:pt x="0" y="2290"/>
                  </a:lnTo>
                  <a:close/>
                </a:path>
              </a:pathLst>
            </a:custGeom>
            <a:solidFill>
              <a:srgbClr val="1488DB"/>
            </a:solidFill>
            <a:ln w="6350" cmpd="sng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Text Box 22"/>
            <p:cNvSpPr txBox="1">
              <a:spLocks noChangeArrowheads="1"/>
            </p:cNvSpPr>
            <p:nvPr/>
          </p:nvSpPr>
          <p:spPr bwMode="auto">
            <a:xfrm>
              <a:off x="274" y="2847"/>
              <a:ext cx="392" cy="25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66751" tIns="33376" rIns="66751" bIns="33376">
              <a:spAutoFit/>
            </a:bodyPr>
            <a:lstStyle>
              <a:lvl1pPr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1pPr>
              <a:lvl2pPr marL="742950" indent="-285750"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2pPr>
              <a:lvl3pPr marL="1143000" indent="-228600"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3pPr>
              <a:lvl4pPr marL="1600200" indent="-228600"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4pPr>
              <a:lvl5pPr marL="2057400" indent="-228600" eaLnBrk="0" hangingPunct="0">
                <a:defRPr sz="4400">
                  <a:solidFill>
                    <a:srgbClr val="6E797F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6E797F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6E797F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6E797F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6E797F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10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smtClean="0">
                  <a:ln>
                    <a:noFill/>
                  </a:ln>
                  <a:solidFill>
                    <a:srgbClr val="032B91"/>
                  </a:solidFill>
                  <a:effectLst/>
                  <a:uLnTx/>
                  <a:uFillTx/>
                  <a:latin typeface="Arial" charset="0"/>
                </a:rPr>
                <a:t>BK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 smtClean="0">
                  <a:ln>
                    <a:noFill/>
                  </a:ln>
                  <a:solidFill>
                    <a:srgbClr val="1488DB"/>
                  </a:solidFill>
                  <a:effectLst/>
                  <a:uLnTx/>
                  <a:uFillTx/>
                  <a:latin typeface="Arial" charset="0"/>
                </a:rPr>
                <a:t>TP.HCM</a:t>
              </a:r>
              <a:endPara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rgbClr val="1488DB"/>
                </a:solidFill>
                <a:effectLst/>
                <a:uLnTx/>
                <a:uFillTx/>
                <a:latin typeface="Arial" charset="0"/>
              </a:endParaRPr>
            </a:p>
          </p:txBody>
        </p:sp>
      </p:grpSp>
      <p:sp>
        <p:nvSpPr>
          <p:cNvPr id="13" name="Footer Placeholder 4"/>
          <p:cNvSpPr txBox="1">
            <a:spLocks/>
          </p:cNvSpPr>
          <p:nvPr userDrawn="1"/>
        </p:nvSpPr>
        <p:spPr bwMode="auto">
          <a:xfrm>
            <a:off x="2819400" y="6400800"/>
            <a:ext cx="441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ctr" defTabSz="914400" rtl="0" eaLnBrk="1" latinLnBrk="0" hangingPunct="1">
              <a:defRPr sz="1400" b="1" i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mtClean="0"/>
              <a:t>Faculty of Computer Science &amp; Engineering</a:t>
            </a:r>
            <a:endParaRPr lang="vi-V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FE85455-BA30-46FF-B565-7E069C727F6A}" type="datetime1">
              <a:rPr lang="en-US" smtClean="0"/>
              <a:t>12/10/2015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D5C8676-16B1-4294-BE07-5E7402A6697A}" type="datetime1">
              <a:rPr lang="en-US" smtClean="0"/>
              <a:t>12/10/2015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ABE5E84-FE21-4D70-81CF-F5D8201565A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F0A0D2B-30AD-4CD2-AE1B-A5CF9E619AB0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56138" y="44450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6138" y="1125538"/>
            <a:ext cx="8229600" cy="518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1" y="1"/>
            <a:ext cx="719504" cy="1484313"/>
          </a:xfrm>
          <a:prstGeom prst="rect">
            <a:avLst/>
          </a:prstGeom>
          <a:gradFill rotWithShape="1">
            <a:gsLst>
              <a:gs pos="0">
                <a:srgbClr val="0099CC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endParaRPr lang="vi-VN" sz="1800">
              <a:solidFill>
                <a:schemeClr val="tx1"/>
              </a:solidFill>
            </a:endParaRPr>
          </a:p>
        </p:txBody>
      </p:sp>
      <p:sp>
        <p:nvSpPr>
          <p:cNvPr id="83973" name="Rectangle 5"/>
          <p:cNvSpPr>
            <a:spLocks noChangeArrowheads="1"/>
          </p:cNvSpPr>
          <p:nvPr/>
        </p:nvSpPr>
        <p:spPr bwMode="auto">
          <a:xfrm>
            <a:off x="701920" y="808039"/>
            <a:ext cx="8442080" cy="2857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5490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sp>
        <p:nvSpPr>
          <p:cNvPr id="83978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0631" y="6524626"/>
            <a:ext cx="3921369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1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fld id="{38C987D8-D02F-4AF3-9C2E-9BAD80FFA004}" type="datetime1">
              <a:rPr lang="en-US" smtClean="0"/>
              <a:t>12/10/2015</a:t>
            </a:fld>
            <a:endParaRPr lang="en-US"/>
          </a:p>
        </p:txBody>
      </p:sp>
      <p:pic>
        <p:nvPicPr>
          <p:cNvPr id="1031" name="Picture 16" descr="New_BK_HCM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8238"/>
            <a:ext cx="633046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3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3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0" grpId="0"/>
      <p:bldP spid="83971" grpId="0" build="p">
        <p:tmplLst>
          <p:tmpl lvl="1">
            <p:tnLst>
              <p:par>
                <p:cTn presetID="1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9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9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9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9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9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6E797F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6E797F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6E797F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6E797F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6E797F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6E797F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6E797F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6E797F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6E797F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C7D50-BCA0-44D4-A383-9E3EAC24EB2F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Faculty of Computer Science &amp; Engineering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A07923-D547-466D-8151-D5B6058EAB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47111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ltGray">
          <a:xfrm>
            <a:off x="381794" y="497991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vi-VN" sz="2400"/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ltGray">
          <a:xfrm>
            <a:off x="764381" y="49799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vi-VN" sz="2400"/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ltGray">
          <a:xfrm>
            <a:off x="505619" y="920266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vi-VN" sz="2400"/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ltGray">
          <a:xfrm>
            <a:off x="875506" y="92026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vi-VN" sz="2400"/>
          </a:p>
        </p:txBody>
      </p:sp>
      <p:sp>
        <p:nvSpPr>
          <p:cNvPr id="4102" name="Rectangle 6"/>
          <p:cNvSpPr>
            <a:spLocks noChangeArrowheads="1"/>
          </p:cNvSpPr>
          <p:nvPr/>
        </p:nvSpPr>
        <p:spPr bwMode="ltGray">
          <a:xfrm>
            <a:off x="91281" y="84724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vi-VN" sz="2400"/>
          </a:p>
        </p:txBody>
      </p:sp>
      <p:sp>
        <p:nvSpPr>
          <p:cNvPr id="4103" name="Rectangle 7"/>
          <p:cNvSpPr>
            <a:spLocks noChangeArrowheads="1"/>
          </p:cNvSpPr>
          <p:nvPr/>
        </p:nvSpPr>
        <p:spPr bwMode="gray">
          <a:xfrm>
            <a:off x="726281" y="390041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vi-VN" sz="2400"/>
          </a:p>
        </p:txBody>
      </p:sp>
      <p:sp>
        <p:nvSpPr>
          <p:cNvPr id="4104" name="Rectangle 8"/>
          <p:cNvSpPr>
            <a:spLocks noChangeArrowheads="1"/>
          </p:cNvSpPr>
          <p:nvPr/>
        </p:nvSpPr>
        <p:spPr bwMode="gray">
          <a:xfrm>
            <a:off x="407194" y="1180616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vi-VN" sz="2400"/>
          </a:p>
        </p:txBody>
      </p:sp>
      <p:sp>
        <p:nvSpPr>
          <p:cNvPr id="410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776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106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1470991"/>
            <a:ext cx="7772400" cy="46615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10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fld id="{66E5EC74-80AE-4664-B0A9-12FFF0B3DC1F}" type="datetime1">
              <a:rPr lang="en-US" smtClean="0"/>
              <a:t>12/10/2015</a:t>
            </a:fld>
            <a:endParaRPr lang="en-US"/>
          </a:p>
        </p:txBody>
      </p:sp>
      <p:sp>
        <p:nvSpPr>
          <p:cNvPr id="410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r>
              <a:rPr lang="en-US" smtClean="0"/>
              <a:t>Faculty of Computer Science &amp; Engineering</a:t>
            </a:r>
            <a:endParaRPr lang="en-US"/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750E144F-35F2-4001-89DB-4F67F07C56F0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ips.com/" TargetMode="Externa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8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52400"/>
            <a:ext cx="7772400" cy="1470025"/>
          </a:xfrm>
        </p:spPr>
        <p:txBody>
          <a:bodyPr/>
          <a:lstStyle/>
          <a:p>
            <a:pPr algn="ctr"/>
            <a:r>
              <a:rPr lang="en-US" b="1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Kiến trúc Máy tính</a:t>
            </a:r>
            <a:br>
              <a:rPr lang="en-US" b="1" smtClean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i="1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Khoa học &amp; Kỹ thuật Máy tính</a:t>
            </a:r>
            <a:endParaRPr lang="vi-VN" sz="2400" b="1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1109" y="2396836"/>
            <a:ext cx="6400800" cy="914400"/>
          </a:xfrm>
        </p:spPr>
        <p:txBody>
          <a:bodyPr/>
          <a:lstStyle/>
          <a:p>
            <a:pPr algn="l"/>
            <a:r>
              <a:rPr lang="en-US" sz="4400" b="1" smtClean="0">
                <a:solidFill>
                  <a:schemeClr val="accent6">
                    <a:lumMod val="75000"/>
                  </a:schemeClr>
                </a:solidFill>
              </a:rPr>
              <a:t>Chương 2</a:t>
            </a:r>
            <a:endParaRPr lang="vi-VN" sz="4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 bwMode="auto">
          <a:xfrm>
            <a:off x="990600" y="3429000"/>
            <a:ext cx="73152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buClr>
                <a:srgbClr val="ECEAAC"/>
              </a:buClr>
              <a:buSzPct val="60000"/>
            </a:pPr>
            <a:r>
              <a:rPr lang="en-AU" sz="4400" b="1" kern="0" smtClean="0">
                <a:solidFill>
                  <a:schemeClr val="accent5">
                    <a:lumMod val="25000"/>
                  </a:schemeClr>
                </a:solidFill>
                <a:latin typeface="Arial Black" pitchFamily="34" charset="0"/>
              </a:rPr>
              <a:t>Ngôn ngữ Máy:</a:t>
            </a:r>
          </a:p>
          <a:p>
            <a:pPr lvl="0">
              <a:buClr>
                <a:srgbClr val="ECEAAC"/>
              </a:buClr>
              <a:buSzPct val="60000"/>
            </a:pPr>
            <a:r>
              <a:rPr lang="en-AU" sz="4400" b="1" kern="0" smtClean="0">
                <a:solidFill>
                  <a:schemeClr val="accent5">
                    <a:lumMod val="25000"/>
                  </a:schemeClr>
                </a:solidFill>
                <a:latin typeface="Arial Black" pitchFamily="34" charset="0"/>
              </a:rPr>
              <a:t>Tập lệnh</a:t>
            </a:r>
            <a:endParaRPr lang="en-AU" sz="4400" b="1" kern="0" dirty="0">
              <a:solidFill>
                <a:schemeClr val="accent5">
                  <a:lumMod val="25000"/>
                </a:schemeClr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0379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94490-03D1-48F8-9A39-3781A1BC9816}" type="datetime1">
              <a:rPr lang="en-US" smtClean="0"/>
              <a:t>12/10/2015</a:t>
            </a:fld>
            <a:endParaRPr lang="vi-V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971800" y="6400800"/>
            <a:ext cx="4419600" cy="304800"/>
          </a:xfrm>
        </p:spPr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2</a:t>
            </a:fld>
            <a:endParaRPr lang="vi-V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Các thành phần &amp; Cấu trúc</a:t>
            </a:r>
            <a:endParaRPr lang="en-US" b="1" dirty="0">
              <a:latin typeface="+mn-lt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295400"/>
            <a:ext cx="6095999" cy="4792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7696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94490-03D1-48F8-9A39-3781A1BC9816}" type="datetime1">
              <a:rPr lang="en-US" smtClean="0"/>
              <a:t>12/10/2015</a:t>
            </a:fld>
            <a:endParaRPr lang="vi-V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971800" y="6400800"/>
            <a:ext cx="4419600" cy="304800"/>
          </a:xfrm>
        </p:spPr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3</a:t>
            </a:fld>
            <a:endParaRPr lang="vi-V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Các bước thực hiện lệnh</a:t>
            </a:r>
            <a:endParaRPr lang="en-US" b="1" dirty="0">
              <a:latin typeface="+mn-lt"/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295400"/>
            <a:ext cx="6268035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955964" y="4191000"/>
            <a:ext cx="79248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spcAft>
                <a:spcPct val="0"/>
              </a:spcAft>
              <a:buClr>
                <a:srgbClr val="FB5B5B"/>
              </a:buClr>
              <a:buFont typeface="Wingdings" pitchFamily="2" charset="2"/>
              <a:buChar char="§"/>
            </a:pPr>
            <a:r>
              <a:rPr lang="en-US" sz="2800" kern="0" smtClean="0">
                <a:solidFill>
                  <a:srgbClr val="000000"/>
                </a:solidFill>
                <a:latin typeface="Times New Roman"/>
              </a:rPr>
              <a:t>Nạp lệnh: từ bộ nhớ</a:t>
            </a:r>
          </a:p>
          <a:p>
            <a:pPr marL="1371600" lvl="2" indent="-457200" eaLnBrk="0" fontAlgn="base" hangingPunct="0">
              <a:spcAft>
                <a:spcPct val="0"/>
              </a:spcAft>
              <a:buClr>
                <a:srgbClr val="FB5B5B"/>
              </a:buClr>
              <a:buFont typeface="Wingdings" pitchFamily="2" charset="2"/>
              <a:buChar char="§"/>
            </a:pPr>
            <a:r>
              <a:rPr lang="en-US" sz="2800" kern="0" smtClean="0">
                <a:solidFill>
                  <a:srgbClr val="000000"/>
                </a:solidFill>
                <a:latin typeface="Times New Roman"/>
              </a:rPr>
              <a:t>PC tăng lên sau mỗi lần nạp lệnh</a:t>
            </a:r>
          </a:p>
          <a:p>
            <a:pPr marL="1371600" lvl="2" indent="-457200" eaLnBrk="0" fontAlgn="base" hangingPunct="0">
              <a:spcAft>
                <a:spcPct val="0"/>
              </a:spcAft>
              <a:buClr>
                <a:srgbClr val="FB5B5B"/>
              </a:buClr>
              <a:buFont typeface="Wingdings" pitchFamily="2" charset="2"/>
              <a:buChar char="§"/>
            </a:pPr>
            <a:r>
              <a:rPr lang="en-US" sz="2800" kern="0" smtClean="0">
                <a:solidFill>
                  <a:srgbClr val="000000"/>
                </a:solidFill>
                <a:latin typeface="Times New Roman"/>
              </a:rPr>
              <a:t>PC lưu địa chỉ lệnh kế tiếp</a:t>
            </a:r>
          </a:p>
          <a:p>
            <a:pPr marL="457200" lvl="0" indent="-457200" eaLnBrk="0" fontAlgn="base" hangingPunct="0">
              <a:spcAft>
                <a:spcPct val="0"/>
              </a:spcAft>
              <a:buClr>
                <a:srgbClr val="FB5B5B"/>
              </a:buClr>
              <a:buFont typeface="Wingdings" pitchFamily="2" charset="2"/>
              <a:buChar char="§"/>
            </a:pPr>
            <a:r>
              <a:rPr lang="en-US" sz="2800" kern="0" smtClean="0">
                <a:solidFill>
                  <a:srgbClr val="000000"/>
                </a:solidFill>
                <a:latin typeface="Times New Roman"/>
              </a:rPr>
              <a:t>Thực hiện lệnh: giải mã &amp; thực hiện lệnh</a:t>
            </a:r>
            <a:endParaRPr lang="en-US" sz="2800" kern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29083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94490-03D1-48F8-9A39-3781A1BC9816}" type="datetime1">
              <a:rPr lang="en-US" smtClean="0"/>
              <a:t>12/10/2015</a:t>
            </a:fld>
            <a:endParaRPr lang="vi-V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971800" y="6400800"/>
            <a:ext cx="4419600" cy="304800"/>
          </a:xfrm>
        </p:spPr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4</a:t>
            </a:fld>
            <a:endParaRPr lang="vi-VN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143000" y="1524000"/>
            <a:ext cx="7772400" cy="461356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mtClean="0"/>
              <a:t>Tập các lệnh của 1 máy tính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smtClean="0"/>
              <a:t>Máy tính khác nhau có các tập lệnh khác nhau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smtClean="0"/>
              <a:t>Tuy vậy, có thể có nhiều điểm giống nhau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smtClean="0"/>
              <a:t>Máy tính ở các thế hệ trước thường có tập lệnh rất đơn giản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smtClean="0"/>
              <a:t>Lý do: dễ thực hiện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smtClean="0"/>
              <a:t>Một số máy tính hiện nay cũng có tập lệnh đơn giản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Tập lệnh (Instruction Set)</a:t>
            </a:r>
            <a:endParaRPr lang="en-US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16599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9" y="214313"/>
            <a:ext cx="6697662" cy="776287"/>
          </a:xfrm>
        </p:spPr>
        <p:txBody>
          <a:bodyPr/>
          <a:lstStyle/>
          <a:p>
            <a:pPr algn="ctr"/>
            <a:r>
              <a:rPr lang="en-US" sz="4000" b="1" smtClean="0"/>
              <a:t>Các nguyên tắc thiết kế</a:t>
            </a:r>
            <a:endParaRPr lang="en-US" sz="40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470991"/>
            <a:ext cx="8193088" cy="4661521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u="sng" smtClean="0">
                <a:solidFill>
                  <a:srgbClr val="FF0000"/>
                </a:solidFill>
              </a:rPr>
              <a:t>Nguyên tắc thiết kế 1</a:t>
            </a:r>
            <a:r>
              <a:rPr lang="en-US" smtClean="0"/>
              <a:t>: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en-US" sz="2800" smtClean="0"/>
              <a:t>“</a:t>
            </a:r>
            <a:r>
              <a:rPr lang="en-US" sz="2800" smtClean="0">
                <a:solidFill>
                  <a:srgbClr val="0070C0"/>
                </a:solidFill>
              </a:rPr>
              <a:t>Simplicity </a:t>
            </a:r>
            <a:r>
              <a:rPr lang="en-US" sz="2800">
                <a:solidFill>
                  <a:srgbClr val="0070C0"/>
                </a:solidFill>
              </a:rPr>
              <a:t>favours </a:t>
            </a:r>
            <a:r>
              <a:rPr lang="en-US" sz="2800" smtClean="0">
                <a:solidFill>
                  <a:srgbClr val="0070C0"/>
                </a:solidFill>
              </a:rPr>
              <a:t>regularity</a:t>
            </a:r>
            <a:r>
              <a:rPr lang="en-US" sz="2800" smtClean="0"/>
              <a:t>”</a:t>
            </a:r>
            <a:endParaRPr lang="en-US" sz="2800"/>
          </a:p>
          <a:p>
            <a:pPr>
              <a:spcBef>
                <a:spcPts val="600"/>
              </a:spcBef>
            </a:pPr>
            <a:r>
              <a:rPr lang="en-US" u="sng" smtClean="0">
                <a:solidFill>
                  <a:srgbClr val="FF0000"/>
                </a:solidFill>
              </a:rPr>
              <a:t>Nguyên tắc thiết kế 2</a:t>
            </a:r>
            <a:r>
              <a:rPr lang="en-US" smtClean="0"/>
              <a:t>: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en-US" sz="2800" smtClean="0"/>
              <a:t>“</a:t>
            </a:r>
            <a:r>
              <a:rPr lang="en-US" sz="2800" smtClean="0">
                <a:solidFill>
                  <a:srgbClr val="0070C0"/>
                </a:solidFill>
              </a:rPr>
              <a:t>Smaller </a:t>
            </a:r>
            <a:r>
              <a:rPr lang="en-US" sz="2800">
                <a:solidFill>
                  <a:srgbClr val="0070C0"/>
                </a:solidFill>
              </a:rPr>
              <a:t>is </a:t>
            </a:r>
            <a:r>
              <a:rPr lang="en-US" sz="2800" smtClean="0">
                <a:solidFill>
                  <a:srgbClr val="0070C0"/>
                </a:solidFill>
              </a:rPr>
              <a:t>faster</a:t>
            </a:r>
            <a:r>
              <a:rPr lang="en-US" sz="2800" smtClean="0"/>
              <a:t>”</a:t>
            </a:r>
            <a:endParaRPr lang="en-US" sz="2800"/>
          </a:p>
          <a:p>
            <a:pPr>
              <a:spcBef>
                <a:spcPts val="600"/>
              </a:spcBef>
            </a:pPr>
            <a:r>
              <a:rPr lang="en-US" u="sng" smtClean="0">
                <a:solidFill>
                  <a:srgbClr val="FF0000"/>
                </a:solidFill>
              </a:rPr>
              <a:t>Nguyên tắc thiết kế 3</a:t>
            </a:r>
            <a:r>
              <a:rPr lang="en-US" smtClean="0"/>
              <a:t>: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en-US" sz="2800" smtClean="0"/>
              <a:t>“</a:t>
            </a:r>
            <a:r>
              <a:rPr lang="en-US" sz="2800" smtClean="0">
                <a:solidFill>
                  <a:srgbClr val="0070C0"/>
                </a:solidFill>
              </a:rPr>
              <a:t>Make </a:t>
            </a:r>
            <a:r>
              <a:rPr lang="en-US" sz="2800">
                <a:solidFill>
                  <a:srgbClr val="0070C0"/>
                </a:solidFill>
              </a:rPr>
              <a:t>the common case </a:t>
            </a:r>
            <a:r>
              <a:rPr lang="en-US" sz="2800" smtClean="0">
                <a:solidFill>
                  <a:srgbClr val="0070C0"/>
                </a:solidFill>
              </a:rPr>
              <a:t>fast</a:t>
            </a:r>
            <a:r>
              <a:rPr lang="en-US" sz="2800" smtClean="0"/>
              <a:t>”</a:t>
            </a:r>
          </a:p>
          <a:p>
            <a:pPr>
              <a:spcBef>
                <a:spcPts val="600"/>
              </a:spcBef>
            </a:pPr>
            <a:r>
              <a:rPr lang="en-US" u="sng" smtClean="0">
                <a:solidFill>
                  <a:srgbClr val="FF0000"/>
                </a:solidFill>
              </a:rPr>
              <a:t>Nguyên tắc thiết kế 4</a:t>
            </a:r>
            <a:r>
              <a:rPr lang="en-US" smtClean="0"/>
              <a:t>: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en-US" sz="2800" smtClean="0"/>
              <a:t>“</a:t>
            </a:r>
            <a:r>
              <a:rPr lang="en-US" sz="2800" smtClean="0">
                <a:solidFill>
                  <a:srgbClr val="0070C0"/>
                </a:solidFill>
              </a:rPr>
              <a:t>Good </a:t>
            </a:r>
            <a:r>
              <a:rPr lang="en-US" sz="2800">
                <a:solidFill>
                  <a:srgbClr val="0070C0"/>
                </a:solidFill>
              </a:rPr>
              <a:t>design demands good </a:t>
            </a:r>
            <a:r>
              <a:rPr lang="en-US" sz="2800" smtClean="0">
                <a:solidFill>
                  <a:srgbClr val="0070C0"/>
                </a:solidFill>
              </a:rPr>
              <a:t>compromises</a:t>
            </a:r>
            <a:r>
              <a:rPr lang="en-US" sz="2800" smtClean="0"/>
              <a:t>”</a:t>
            </a:r>
            <a:endParaRPr lang="en-US" sz="2800"/>
          </a:p>
          <a:p>
            <a:pPr marL="0" indent="0" algn="ctr">
              <a:spcBef>
                <a:spcPts val="600"/>
              </a:spcBef>
              <a:buNone/>
            </a:pP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>
                <a:solidFill>
                  <a:srgbClr val="000000"/>
                </a:solidFill>
              </a:rPr>
              <a:pPr/>
              <a:t>12/10/2015</a:t>
            </a:fld>
            <a:endParaRPr lang="vi-V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333399">
                    <a:lumMod val="60000"/>
                    <a:lumOff val="40000"/>
                  </a:srgbClr>
                </a:solidFill>
              </a:rPr>
              <a:t>Khoa Khoa học &amp; Kỹ thuật Máy tính</a:t>
            </a:r>
            <a:endParaRPr lang="vi-VN">
              <a:solidFill>
                <a:srgbClr val="333399">
                  <a:lumMod val="60000"/>
                  <a:lumOff val="4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>
                <a:solidFill>
                  <a:srgbClr val="000000"/>
                </a:solidFill>
              </a:rPr>
              <a:pPr/>
              <a:t>5</a:t>
            </a:fld>
            <a:endParaRPr lang="vi-V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0151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Tập lệnh MIPS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6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800" smtClean="0"/>
              <a:t>Được sử dụng trong môn học này</a:t>
            </a:r>
          </a:p>
          <a:p>
            <a:r>
              <a:rPr lang="en-US" sz="2800" smtClean="0"/>
              <a:t>Stanford MIPS được thương mại hóa bởi MIPS Technologies (</a:t>
            </a:r>
            <a:r>
              <a:rPr lang="en-US" sz="2800" smtClean="0">
                <a:hlinkClick r:id="rId2"/>
              </a:rPr>
              <a:t>www.mips.com</a:t>
            </a:r>
            <a:r>
              <a:rPr lang="en-US" sz="2800" smtClean="0"/>
              <a:t>)</a:t>
            </a:r>
          </a:p>
          <a:p>
            <a:r>
              <a:rPr lang="en-US" sz="2800" smtClean="0"/>
              <a:t>Có thị phần lớn với lõi nhúng (embedded core)</a:t>
            </a:r>
            <a:endParaRPr lang="en-US" sz="2800" dirty="0"/>
          </a:p>
          <a:p>
            <a:pPr lvl="1"/>
            <a:r>
              <a:rPr lang="en-US" sz="2400" smtClean="0"/>
              <a:t>Ứng dụng trong thiết bị điện tử, Mạng, lưu trữ, Camera, máy in, v.v., </a:t>
            </a:r>
            <a:r>
              <a:rPr lang="en-US" sz="2400" dirty="0"/>
              <a:t>…</a:t>
            </a:r>
          </a:p>
          <a:p>
            <a:r>
              <a:rPr lang="en-US" sz="2800" smtClean="0"/>
              <a:t>Đặc thù cho nhiều kiến trúc tập lệnh mới</a:t>
            </a:r>
            <a:endParaRPr lang="en-US" sz="2800" dirty="0"/>
          </a:p>
          <a:p>
            <a:pPr lvl="1"/>
            <a:r>
              <a:rPr lang="en-US" sz="2400" smtClean="0"/>
              <a:t>Tham khảo MIPS </a:t>
            </a:r>
            <a:r>
              <a:rPr lang="en-US" sz="2400" dirty="0"/>
              <a:t>Data tear-out </a:t>
            </a:r>
            <a:r>
              <a:rPr lang="en-US" sz="2400"/>
              <a:t>card</a:t>
            </a:r>
            <a:r>
              <a:rPr lang="en-US" sz="2400" smtClean="0"/>
              <a:t>, và trong phụ lục B, E của sách giáo khoa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8416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Phép tính số học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7</a:t>
            </a:fld>
            <a:endParaRPr lang="vi-VN"/>
          </a:p>
        </p:txBody>
      </p:sp>
      <p:sp>
        <p:nvSpPr>
          <p:cNvPr id="7" name="Rectangle 6"/>
          <p:cNvSpPr>
            <a:spLocks noGrp="1" noChangeArrowheads="1"/>
          </p:cNvSpPr>
          <p:nvPr>
            <p:ph idx="1"/>
          </p:nvPr>
        </p:nvSpPr>
        <p:spPr>
          <a:xfrm>
            <a:off x="1066800" y="1371600"/>
            <a:ext cx="7772400" cy="4807527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mtClean="0"/>
              <a:t>Phép cộng (+) và trừ (-)</a:t>
            </a:r>
            <a:r>
              <a:rPr lang="en-US"/>
              <a:t>:</a:t>
            </a:r>
            <a:r>
              <a:rPr lang="en-US" smtClean="0"/>
              <a:t> 3 toán hạng</a:t>
            </a:r>
            <a:endParaRPr lang="en-US" dirty="0"/>
          </a:p>
          <a:p>
            <a:pPr lvl="1">
              <a:spcBef>
                <a:spcPts val="0"/>
              </a:spcBef>
            </a:pPr>
            <a:r>
              <a:rPr lang="en-US" smtClean="0"/>
              <a:t>2 nguồn và 1 đích</a:t>
            </a:r>
          </a:p>
          <a:p>
            <a:pPr>
              <a:spcBef>
                <a:spcPts val="0"/>
              </a:spcBef>
              <a:buFont typeface="Wingdings" pitchFamily="2" charset="2"/>
              <a:buNone/>
            </a:pPr>
            <a:r>
              <a:rPr lang="en-US" smtClean="0">
                <a:latin typeface="Lucida Console" pitchFamily="49" charset="0"/>
              </a:rPr>
              <a:t>	add a, b, c  # a = b + c</a:t>
            </a:r>
          </a:p>
          <a:p>
            <a:pPr>
              <a:spcBef>
                <a:spcPts val="0"/>
              </a:spcBef>
            </a:pPr>
            <a:r>
              <a:rPr lang="en-US"/>
              <a:t>C</a:t>
            </a:r>
            <a:r>
              <a:rPr lang="en-US" smtClean="0"/>
              <a:t>ác phép tính số học đều có dạng trên</a:t>
            </a:r>
          </a:p>
          <a:p>
            <a:pPr>
              <a:spcBef>
                <a:spcPts val="0"/>
              </a:spcBef>
            </a:pPr>
            <a:r>
              <a:rPr lang="en-US" i="1" u="sng" smtClean="0">
                <a:solidFill>
                  <a:srgbClr val="FF0000"/>
                </a:solidFill>
              </a:rPr>
              <a:t>Nguyên tắc thiết kế 1</a:t>
            </a:r>
            <a:r>
              <a:rPr lang="en-US" i="1" smtClean="0"/>
              <a:t>:</a:t>
            </a:r>
            <a:r>
              <a:rPr lang="en-US" smtClean="0"/>
              <a:t> Đơn giản dễ tạo tính quy tắc</a:t>
            </a:r>
          </a:p>
          <a:p>
            <a:pPr lvl="1">
              <a:spcBef>
                <a:spcPts val="0"/>
              </a:spcBef>
            </a:pPr>
            <a:r>
              <a:rPr lang="en-US" smtClean="0"/>
              <a:t>Tính quy tắc sẽ đơn giản hơn việc thực hiện </a:t>
            </a:r>
            <a:endParaRPr lang="en-US" dirty="0"/>
          </a:p>
          <a:p>
            <a:pPr lvl="1">
              <a:spcBef>
                <a:spcPts val="0"/>
              </a:spcBef>
            </a:pPr>
            <a:r>
              <a:rPr lang="en-US" smtClean="0"/>
              <a:t>Đơn giản sẽ nâng hiệu xuất, giảm giá thành.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55408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smtClean="0">
                <a:solidFill>
                  <a:srgbClr val="0039A6"/>
                </a:solidFill>
                <a:latin typeface="Arial"/>
              </a:rPr>
              <a:t>Ví dụ: thực hiện phép số học</a:t>
            </a:r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8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 code:</a:t>
            </a:r>
          </a:p>
          <a:p>
            <a:pPr>
              <a:spcBef>
                <a:spcPct val="50000"/>
              </a:spcBef>
              <a:spcAft>
                <a:spcPct val="30000"/>
              </a:spcAft>
              <a:buFont typeface="Wingdings" pitchFamily="2" charset="2"/>
              <a:buNone/>
            </a:pPr>
            <a:r>
              <a:rPr lang="en-US" sz="2800" dirty="0">
                <a:latin typeface="Lucida Console" pitchFamily="49" charset="0"/>
              </a:rPr>
              <a:t>	f = (g + h) - (i + j);</a:t>
            </a:r>
          </a:p>
          <a:p>
            <a:r>
              <a:rPr lang="en-US" smtClean="0"/>
              <a:t>Sau khi biên dịch thành </a:t>
            </a:r>
            <a:r>
              <a:rPr lang="en-US" dirty="0"/>
              <a:t>MIPS code:</a:t>
            </a:r>
          </a:p>
          <a:p>
            <a:pPr>
              <a:spcBef>
                <a:spcPct val="50000"/>
              </a:spcBef>
              <a:spcAft>
                <a:spcPct val="30000"/>
              </a:spcAft>
              <a:buFont typeface="Wingdings" pitchFamily="2" charset="2"/>
              <a:buNone/>
            </a:pPr>
            <a:r>
              <a:rPr lang="en-US" sz="2800" dirty="0">
                <a:latin typeface="Lucida Console" pitchFamily="49" charset="0"/>
              </a:rPr>
              <a:t>	add t0, g, h   # temp t0 = g + h</a:t>
            </a:r>
            <a:br>
              <a:rPr lang="en-US" sz="2800" dirty="0">
                <a:latin typeface="Lucida Console" pitchFamily="49" charset="0"/>
              </a:rPr>
            </a:br>
            <a:r>
              <a:rPr lang="en-US" sz="2800" dirty="0">
                <a:latin typeface="Lucida Console" pitchFamily="49" charset="0"/>
              </a:rPr>
              <a:t>add t1, i, j   # temp t1 = i + j</a:t>
            </a:r>
            <a:br>
              <a:rPr lang="en-US" sz="2800" dirty="0">
                <a:latin typeface="Lucida Console" pitchFamily="49" charset="0"/>
              </a:rPr>
            </a:br>
            <a:r>
              <a:rPr lang="en-US" sz="2800" dirty="0">
                <a:latin typeface="Lucida Console" pitchFamily="49" charset="0"/>
              </a:rPr>
              <a:t>sub f, t0, t1  # f = t0 - t1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58219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Toán hạng là thanh ghi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9</a:t>
            </a:fld>
            <a:endParaRPr lang="vi-VN"/>
          </a:p>
        </p:txBody>
      </p:sp>
      <p:sp>
        <p:nvSpPr>
          <p:cNvPr id="7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smtClean="0"/>
              <a:t>Có nhiều lệnh số học sử dụng các thanh ghi làm toán hạng</a:t>
            </a: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/>
              <a:t>MIPS </a:t>
            </a:r>
            <a:r>
              <a:rPr lang="en-US" sz="2800" smtClean="0"/>
              <a:t>có tệp 32 thanh ghi 32-bit</a:t>
            </a:r>
            <a:endParaRPr lang="en-US" sz="2800" dirty="0"/>
          </a:p>
          <a:p>
            <a:pPr lvl="1">
              <a:lnSpc>
                <a:spcPct val="90000"/>
              </a:lnSpc>
            </a:pPr>
            <a:r>
              <a:rPr lang="en-US" sz="2400" dirty="0"/>
              <a:t>Use for frequently accessed data</a:t>
            </a:r>
          </a:p>
          <a:p>
            <a:pPr lvl="1">
              <a:lnSpc>
                <a:spcPct val="90000"/>
              </a:lnSpc>
            </a:pPr>
            <a:r>
              <a:rPr lang="en-US" sz="2400" smtClean="0"/>
              <a:t>Đánh số từ 0 đến 31</a:t>
            </a: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400"/>
              <a:t>32-bit </a:t>
            </a:r>
            <a:r>
              <a:rPr lang="en-US" sz="2400" smtClean="0"/>
              <a:t>dữ liệu được gọi là 1 “từ” (“</a:t>
            </a:r>
            <a:r>
              <a:rPr lang="en-US" sz="2400"/>
              <a:t>word</a:t>
            </a:r>
            <a:r>
              <a:rPr lang="en-US" sz="2400" smtClean="0"/>
              <a:t>”)</a:t>
            </a: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800" smtClean="0"/>
              <a:t>Được đặt tên gợi nhớ (Ass. Names):</a:t>
            </a:r>
            <a:endParaRPr lang="en-US" sz="2800" dirty="0"/>
          </a:p>
          <a:p>
            <a:pPr lvl="1">
              <a:lnSpc>
                <a:spcPct val="90000"/>
              </a:lnSpc>
            </a:pPr>
            <a:r>
              <a:rPr lang="en-US" sz="2400" dirty="0"/>
              <a:t>$t0, $t1, …, $</a:t>
            </a:r>
            <a:r>
              <a:rPr lang="en-US" sz="2400"/>
              <a:t>t9 </a:t>
            </a:r>
            <a:r>
              <a:rPr lang="en-US" sz="2400" smtClean="0"/>
              <a:t>chứa các giá trị tạm thời</a:t>
            </a: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400" dirty="0"/>
              <a:t>$s0, $s1, …, $</a:t>
            </a:r>
            <a:r>
              <a:rPr lang="en-US" sz="2400"/>
              <a:t>s7 </a:t>
            </a:r>
            <a:r>
              <a:rPr lang="en-US" sz="2400" smtClean="0"/>
              <a:t>chứa các biến</a:t>
            </a: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800" i="1" u="sng" smtClean="0">
                <a:solidFill>
                  <a:srgbClr val="FF0000"/>
                </a:solidFill>
              </a:rPr>
              <a:t>Nguyên tắc thiết kế </a:t>
            </a:r>
            <a:r>
              <a:rPr lang="en-US" sz="2800" i="1" u="sng" dirty="0">
                <a:solidFill>
                  <a:srgbClr val="FF0000"/>
                </a:solidFill>
              </a:rPr>
              <a:t>2</a:t>
            </a:r>
            <a:r>
              <a:rPr lang="en-US" sz="2800" i="1"/>
              <a:t>:</a:t>
            </a:r>
            <a:r>
              <a:rPr lang="en-US" sz="2800"/>
              <a:t> </a:t>
            </a:r>
            <a:r>
              <a:rPr lang="en-US" sz="2800" smtClean="0"/>
              <a:t>Càng nhỏ, càng nhanh</a:t>
            </a:r>
            <a:endParaRPr lang="en-US" sz="2800" dirty="0"/>
          </a:p>
          <a:p>
            <a:pPr lvl="1">
              <a:lnSpc>
                <a:spcPct val="90000"/>
              </a:lnSpc>
            </a:pPr>
            <a:r>
              <a:rPr lang="en-US" sz="2400" smtClean="0"/>
              <a:t>Ngược lại với bộ nhớ chính: hàng triệu ô nhớ.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36473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Ví dụ: toán hạng thanh ghi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10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 code:</a:t>
            </a:r>
          </a:p>
          <a:p>
            <a:pPr>
              <a:buFont typeface="Wingdings" pitchFamily="2" charset="2"/>
              <a:buNone/>
            </a:pPr>
            <a:r>
              <a:rPr lang="en-US" sz="2800" dirty="0">
                <a:latin typeface="Lucida Console" pitchFamily="49" charset="0"/>
              </a:rPr>
              <a:t>	f = (g + h) - (i + j);</a:t>
            </a:r>
          </a:p>
          <a:p>
            <a:pPr lvl="1"/>
            <a:r>
              <a:rPr lang="en-US" dirty="0"/>
              <a:t>f, …, </a:t>
            </a:r>
            <a:r>
              <a:rPr lang="en-US"/>
              <a:t>j </a:t>
            </a:r>
            <a:r>
              <a:rPr lang="en-US" smtClean="0"/>
              <a:t>chứa trong </a:t>
            </a:r>
            <a:r>
              <a:rPr lang="en-US" dirty="0"/>
              <a:t>$s0, …, $s4</a:t>
            </a:r>
          </a:p>
          <a:p>
            <a:r>
              <a:rPr lang="en-US" smtClean="0"/>
              <a:t>Sau khi biên dịch thành </a:t>
            </a:r>
            <a:r>
              <a:rPr lang="en-US" dirty="0"/>
              <a:t>MIPS code:</a:t>
            </a:r>
          </a:p>
          <a:p>
            <a:pPr>
              <a:buFont typeface="Wingdings" pitchFamily="2" charset="2"/>
              <a:buNone/>
            </a:pPr>
            <a:r>
              <a:rPr lang="en-US" sz="2800" dirty="0">
                <a:latin typeface="Lucida Console" pitchFamily="49" charset="0"/>
              </a:rPr>
              <a:t>	add $t0, $s1, $s2</a:t>
            </a:r>
            <a:br>
              <a:rPr lang="en-US" sz="2800" dirty="0">
                <a:latin typeface="Lucida Console" pitchFamily="49" charset="0"/>
              </a:rPr>
            </a:br>
            <a:r>
              <a:rPr lang="en-US" sz="2800" dirty="0">
                <a:latin typeface="Lucida Console" pitchFamily="49" charset="0"/>
              </a:rPr>
              <a:t>add $t1, $s3, $s4</a:t>
            </a:r>
            <a:br>
              <a:rPr lang="en-US" sz="2800" dirty="0">
                <a:latin typeface="Lucida Console" pitchFamily="49" charset="0"/>
              </a:rPr>
            </a:br>
            <a:r>
              <a:rPr lang="en-US" sz="2800" dirty="0">
                <a:latin typeface="Lucida Console" pitchFamily="49" charset="0"/>
              </a:rPr>
              <a:t>sub $s0, $t0, $t1</a:t>
            </a:r>
            <a:endParaRPr lang="en-AU" sz="2800" dirty="0">
              <a:latin typeface="Lucida Console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7857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Toán hạng là bộ nhớ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11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>
          <a:xfrm>
            <a:off x="990600" y="1323109"/>
            <a:ext cx="7772400" cy="5029200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sz="2800" smtClean="0"/>
              <a:t>Bộ nhớ chính dùng để lưu trữ toán hạng có cấu trúc </a:t>
            </a:r>
          </a:p>
          <a:p>
            <a:pPr lvl="1">
              <a:lnSpc>
                <a:spcPct val="80000"/>
              </a:lnSpc>
              <a:spcBef>
                <a:spcPts val="0"/>
              </a:spcBef>
            </a:pPr>
            <a:r>
              <a:rPr lang="en-US" sz="2400" smtClean="0"/>
              <a:t>Arrays, structures, dynamic data</a:t>
            </a: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sz="2800" smtClean="0"/>
              <a:t>Sử dụng cho các phép số học</a:t>
            </a:r>
            <a:endParaRPr lang="en-US" sz="2800" dirty="0"/>
          </a:p>
          <a:p>
            <a:pPr lvl="1">
              <a:lnSpc>
                <a:spcPct val="80000"/>
              </a:lnSpc>
              <a:spcBef>
                <a:spcPts val="0"/>
              </a:spcBef>
            </a:pPr>
            <a:r>
              <a:rPr lang="en-US" sz="2400" smtClean="0"/>
              <a:t>Nạp các giá trị từ bộ nhớ vào các thanh ghi</a:t>
            </a:r>
            <a:endParaRPr lang="en-US" sz="2400" dirty="0"/>
          </a:p>
          <a:p>
            <a:pPr lvl="1">
              <a:lnSpc>
                <a:spcPct val="80000"/>
              </a:lnSpc>
              <a:spcBef>
                <a:spcPts val="0"/>
              </a:spcBef>
            </a:pPr>
            <a:r>
              <a:rPr lang="en-US" sz="2400" smtClean="0"/>
              <a:t>Lưu giữ các kết quả trong thanh ghi ra bộ nhớ</a:t>
            </a:r>
            <a:endParaRPr lang="en-US" sz="2400" dirty="0"/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sz="2800" smtClean="0"/>
              <a:t>Bộ nhớ được định vị theo đơn vị từng byte</a:t>
            </a:r>
            <a:endParaRPr lang="en-US" sz="2800" dirty="0"/>
          </a:p>
          <a:p>
            <a:pPr lvl="1">
              <a:lnSpc>
                <a:spcPct val="80000"/>
              </a:lnSpc>
              <a:spcBef>
                <a:spcPts val="0"/>
              </a:spcBef>
            </a:pPr>
            <a:r>
              <a:rPr lang="en-US" sz="2400" smtClean="0"/>
              <a:t>Mỗi địa chỉ định vị trí cho một 8-bit byte</a:t>
            </a:r>
            <a:endParaRPr lang="en-US" sz="2400" dirty="0"/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sz="2800" smtClean="0"/>
              <a:t>1 từ được sắp xếp gồm 4 bytes trong bộ nhớ</a:t>
            </a:r>
            <a:endParaRPr lang="en-US" sz="2800" dirty="0"/>
          </a:p>
          <a:p>
            <a:pPr lvl="1">
              <a:lnSpc>
                <a:spcPct val="80000"/>
              </a:lnSpc>
              <a:spcBef>
                <a:spcPts val="0"/>
              </a:spcBef>
            </a:pPr>
            <a:r>
              <a:rPr lang="en-US" sz="2400" smtClean="0"/>
              <a:t>Địa chỉ truy xuất = Địa chỉ biểu diễn * 4 byte</a:t>
            </a:r>
            <a:endParaRPr lang="en-US" sz="2400" dirty="0"/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sz="2800"/>
              <a:t>MIPS </a:t>
            </a:r>
            <a:r>
              <a:rPr lang="en-US" sz="2800" smtClean="0"/>
              <a:t>chứa dữ liệu theo Big </a:t>
            </a:r>
            <a:r>
              <a:rPr lang="en-US" sz="2800" dirty="0"/>
              <a:t>Endian</a:t>
            </a:r>
          </a:p>
          <a:p>
            <a:pPr lvl="1">
              <a:lnSpc>
                <a:spcPct val="80000"/>
              </a:lnSpc>
              <a:spcBef>
                <a:spcPts val="0"/>
              </a:spcBef>
            </a:pPr>
            <a:r>
              <a:rPr lang="en-US" sz="2400" smtClean="0"/>
              <a:t>Big Endian: Byte có giá trị lớn nằm ở địa chỉ thấp</a:t>
            </a:r>
            <a:endParaRPr lang="en-US" sz="2400" dirty="0"/>
          </a:p>
          <a:p>
            <a:pPr lvl="1">
              <a:lnSpc>
                <a:spcPct val="80000"/>
              </a:lnSpc>
              <a:spcBef>
                <a:spcPts val="0"/>
              </a:spcBef>
            </a:pPr>
            <a:r>
              <a:rPr lang="en-AU" sz="2400" smtClean="0"/>
              <a:t>Little </a:t>
            </a:r>
            <a:r>
              <a:rPr lang="en-AU" sz="2400" dirty="0"/>
              <a:t>Endian</a:t>
            </a:r>
            <a:r>
              <a:rPr lang="en-AU" sz="2400"/>
              <a:t>: </a:t>
            </a:r>
            <a:r>
              <a:rPr lang="en-AU" sz="2400" smtClean="0"/>
              <a:t>Byte có giá trị nhỏ nhất </a:t>
            </a:r>
            <a:r>
              <a:rPr lang="en-AU" sz="2400" smtClean="0">
                <a:sym typeface="Wingdings" pitchFamily="2" charset="2"/>
              </a:rPr>
              <a:t> Địa chỉ thấp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55487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Ví dụ 1: Toán hạng bộ nhớ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12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dirty="0"/>
              <a:t>C code:</a:t>
            </a:r>
          </a:p>
          <a:p>
            <a:pPr>
              <a:spcBef>
                <a:spcPts val="0"/>
              </a:spcBef>
              <a:buFont typeface="Wingdings" pitchFamily="2" charset="2"/>
              <a:buNone/>
            </a:pPr>
            <a:r>
              <a:rPr lang="en-US" sz="2800" dirty="0">
                <a:latin typeface="Lucida Console" pitchFamily="49" charset="0"/>
              </a:rPr>
              <a:t>	g = h + A[8];</a:t>
            </a:r>
          </a:p>
          <a:p>
            <a:pPr lvl="1">
              <a:spcBef>
                <a:spcPts val="0"/>
              </a:spcBef>
            </a:pPr>
            <a:r>
              <a:rPr lang="en-US"/>
              <a:t>g </a:t>
            </a:r>
            <a:r>
              <a:rPr lang="en-US" smtClean="0"/>
              <a:t>chứa trong </a:t>
            </a:r>
            <a:r>
              <a:rPr lang="en-US" dirty="0"/>
              <a:t>$s1, </a:t>
            </a:r>
            <a:r>
              <a:rPr lang="en-US"/>
              <a:t>h </a:t>
            </a:r>
            <a:r>
              <a:rPr lang="en-US" smtClean="0"/>
              <a:t>trong </a:t>
            </a:r>
            <a:r>
              <a:rPr lang="en-US" dirty="0"/>
              <a:t>$s2</a:t>
            </a:r>
            <a:r>
              <a:rPr lang="en-US"/>
              <a:t>, </a:t>
            </a:r>
            <a:r>
              <a:rPr lang="en-US" smtClean="0"/>
              <a:t>địa chỉ cơ sở của A chứa trong </a:t>
            </a:r>
            <a:r>
              <a:rPr lang="en-US" dirty="0"/>
              <a:t>$s3</a:t>
            </a:r>
          </a:p>
          <a:p>
            <a:pPr>
              <a:spcBef>
                <a:spcPts val="0"/>
              </a:spcBef>
            </a:pPr>
            <a:r>
              <a:rPr lang="en-US" smtClean="0"/>
              <a:t>Sau khi biên dịch thành MIPS </a:t>
            </a:r>
            <a:r>
              <a:rPr lang="en-US" dirty="0"/>
              <a:t>code:</a:t>
            </a:r>
          </a:p>
          <a:p>
            <a:pPr lvl="1">
              <a:spcBef>
                <a:spcPts val="0"/>
              </a:spcBef>
            </a:pPr>
            <a:r>
              <a:rPr lang="en-US" smtClean="0"/>
              <a:t>Chỉ số </a:t>
            </a:r>
            <a:r>
              <a:rPr lang="en-US"/>
              <a:t>8 </a:t>
            </a:r>
            <a:r>
              <a:rPr lang="en-US" smtClean="0"/>
              <a:t>tương đương với độ dời </a:t>
            </a:r>
            <a:r>
              <a:rPr lang="en-US" dirty="0"/>
              <a:t>32</a:t>
            </a:r>
          </a:p>
          <a:p>
            <a:pPr lvl="2">
              <a:spcBef>
                <a:spcPts val="0"/>
              </a:spcBef>
            </a:pPr>
            <a:r>
              <a:rPr lang="en-US"/>
              <a:t>4 </a:t>
            </a:r>
            <a:r>
              <a:rPr lang="en-US" smtClean="0"/>
              <a:t>bytes/word</a:t>
            </a:r>
            <a:endParaRPr lang="en-US" dirty="0"/>
          </a:p>
          <a:p>
            <a:pPr>
              <a:spcBef>
                <a:spcPts val="0"/>
              </a:spcBef>
              <a:buFont typeface="Wingdings" pitchFamily="2" charset="2"/>
              <a:buNone/>
            </a:pPr>
            <a:r>
              <a:rPr lang="en-US" sz="2800" dirty="0">
                <a:latin typeface="Lucida Console" pitchFamily="49" charset="0"/>
              </a:rPr>
              <a:t>	</a:t>
            </a:r>
            <a:r>
              <a:rPr lang="en-US" sz="2800" dirty="0" err="1">
                <a:latin typeface="Lucida Console" pitchFamily="49" charset="0"/>
              </a:rPr>
              <a:t>lw</a:t>
            </a:r>
            <a:r>
              <a:rPr lang="en-US" sz="2800" dirty="0">
                <a:latin typeface="Lucida Console" pitchFamily="49" charset="0"/>
              </a:rPr>
              <a:t>  $t0, 32($s3)    </a:t>
            </a:r>
            <a:r>
              <a:rPr lang="en-US" sz="2800">
                <a:latin typeface="Lucida Console" pitchFamily="49" charset="0"/>
              </a:rPr>
              <a:t># </a:t>
            </a:r>
            <a:r>
              <a:rPr lang="en-US" sz="2400" b="1" smtClean="0">
                <a:latin typeface="Arial" pitchFamily="34" charset="0"/>
                <a:cs typeface="Arial" pitchFamily="34" charset="0"/>
              </a:rPr>
              <a:t>Nạp 1 từ (4bytes)</a:t>
            </a:r>
            <a:r>
              <a:rPr lang="en-US" sz="2800" dirty="0">
                <a:latin typeface="Lucida Console" pitchFamily="49" charset="0"/>
              </a:rPr>
              <a:t/>
            </a:r>
            <a:br>
              <a:rPr lang="en-US" sz="2800" dirty="0">
                <a:latin typeface="Lucida Console" pitchFamily="49" charset="0"/>
              </a:rPr>
            </a:br>
            <a:r>
              <a:rPr lang="en-US" sz="2800" dirty="0">
                <a:latin typeface="Lucida Console" pitchFamily="49" charset="0"/>
              </a:rPr>
              <a:t>add $s1, $s2, $t0</a:t>
            </a:r>
            <a:endParaRPr lang="en-AU" sz="2800" dirty="0">
              <a:latin typeface="Lucida Console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9487" y="4876800"/>
            <a:ext cx="1547813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4919662"/>
            <a:ext cx="1884363" cy="1268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90270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Ví dụ 2: Toán hạng bộ nhớ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13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 code:</a:t>
            </a:r>
          </a:p>
          <a:p>
            <a:pPr>
              <a:buFont typeface="Wingdings" pitchFamily="2" charset="2"/>
              <a:buNone/>
            </a:pPr>
            <a:r>
              <a:rPr lang="en-US" sz="2800" dirty="0">
                <a:latin typeface="Lucida Console" pitchFamily="49" charset="0"/>
              </a:rPr>
              <a:t>	A[12] = h + A[8];</a:t>
            </a:r>
          </a:p>
          <a:p>
            <a:pPr lvl="1"/>
            <a:r>
              <a:rPr lang="en-US"/>
              <a:t>h </a:t>
            </a:r>
            <a:r>
              <a:rPr lang="en-US" smtClean="0"/>
              <a:t>chứa trong </a:t>
            </a:r>
            <a:r>
              <a:rPr lang="en-US" dirty="0"/>
              <a:t>$s2</a:t>
            </a:r>
            <a:r>
              <a:rPr lang="en-US"/>
              <a:t>, </a:t>
            </a:r>
            <a:r>
              <a:rPr lang="en-US" smtClean="0"/>
              <a:t>địa chỉ cơ sở của A chứa trong $s3</a:t>
            </a:r>
            <a:endParaRPr lang="en-US" dirty="0"/>
          </a:p>
          <a:p>
            <a:r>
              <a:rPr lang="en-US" smtClean="0"/>
              <a:t>Sau khi biên dịch thành MIPS code</a:t>
            </a:r>
            <a:r>
              <a:rPr lang="en-US" dirty="0"/>
              <a:t>:</a:t>
            </a:r>
          </a:p>
          <a:p>
            <a:pPr lvl="1"/>
            <a:r>
              <a:rPr lang="en-US" smtClean="0"/>
              <a:t>Chỉ số </a:t>
            </a:r>
            <a:r>
              <a:rPr lang="en-US"/>
              <a:t>8 </a:t>
            </a:r>
            <a:r>
              <a:rPr lang="en-US" smtClean="0"/>
              <a:t>tương đương với độ dời </a:t>
            </a:r>
            <a:r>
              <a:rPr lang="en-US" dirty="0"/>
              <a:t>32</a:t>
            </a:r>
          </a:p>
          <a:p>
            <a:pPr>
              <a:buFont typeface="Wingdings" pitchFamily="2" charset="2"/>
              <a:buNone/>
            </a:pPr>
            <a:r>
              <a:rPr lang="en-US" sz="2800" dirty="0">
                <a:latin typeface="Lucida Console" pitchFamily="49" charset="0"/>
              </a:rPr>
              <a:t>	</a:t>
            </a:r>
            <a:r>
              <a:rPr lang="en-US" sz="2800" dirty="0" err="1">
                <a:latin typeface="Lucida Console" pitchFamily="49" charset="0"/>
              </a:rPr>
              <a:t>lw</a:t>
            </a:r>
            <a:r>
              <a:rPr lang="en-US" sz="2800" dirty="0">
                <a:latin typeface="Lucida Console" pitchFamily="49" charset="0"/>
              </a:rPr>
              <a:t>  $t0, 32($s3)    </a:t>
            </a:r>
            <a:r>
              <a:rPr lang="en-US" sz="2800">
                <a:latin typeface="Lucida Console" pitchFamily="49" charset="0"/>
              </a:rPr>
              <a:t># </a:t>
            </a:r>
            <a:r>
              <a:rPr lang="en-US" sz="2800" b="1" smtClean="0">
                <a:latin typeface="Arial" pitchFamily="34" charset="0"/>
                <a:cs typeface="Arial" pitchFamily="34" charset="0"/>
              </a:rPr>
              <a:t>Nạp 1 từ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/>
            </a:r>
            <a:br>
              <a:rPr lang="en-US" sz="2800" b="1" dirty="0">
                <a:latin typeface="Arial" pitchFamily="34" charset="0"/>
                <a:cs typeface="Arial" pitchFamily="34" charset="0"/>
              </a:rPr>
            </a:br>
            <a:r>
              <a:rPr lang="en-US" sz="2800" dirty="0">
                <a:latin typeface="Lucida Console" pitchFamily="49" charset="0"/>
              </a:rPr>
              <a:t>add $t0, $s2, $t0</a:t>
            </a:r>
            <a:br>
              <a:rPr lang="en-US" sz="2800" dirty="0">
                <a:latin typeface="Lucida Console" pitchFamily="49" charset="0"/>
              </a:rPr>
            </a:br>
            <a:r>
              <a:rPr lang="en-US" sz="2800" dirty="0" err="1">
                <a:latin typeface="Lucida Console" pitchFamily="49" charset="0"/>
              </a:rPr>
              <a:t>sw</a:t>
            </a:r>
            <a:r>
              <a:rPr lang="en-US" sz="2800" dirty="0">
                <a:latin typeface="Lucida Console" pitchFamily="49" charset="0"/>
              </a:rPr>
              <a:t>  $t0, 48($s3)    </a:t>
            </a:r>
            <a:r>
              <a:rPr lang="en-US" sz="2800">
                <a:latin typeface="Lucida Console" pitchFamily="49" charset="0"/>
              </a:rPr>
              <a:t># </a:t>
            </a:r>
            <a:r>
              <a:rPr lang="en-US" sz="2800" b="1" smtClean="0">
                <a:latin typeface="Arial" pitchFamily="34" charset="0"/>
                <a:cs typeface="Arial" pitchFamily="34" charset="0"/>
              </a:rPr>
              <a:t>Nhớ 1 từ</a:t>
            </a:r>
            <a:endParaRPr lang="en-AU" sz="28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3379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smtClean="0">
                <a:solidFill>
                  <a:srgbClr val="0039A6"/>
                </a:solidFill>
                <a:latin typeface="Arial"/>
              </a:rPr>
              <a:t>So sánh toán hạng thanh ghi &amp; bộ nhớ</a:t>
            </a:r>
            <a:endParaRPr lang="en-US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14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mtClean="0"/>
              <a:t>Truy cập toán hạng thanh ghi nhanh hơn bộ nhớ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smtClean="0"/>
              <a:t>Thực hiện toán hạng thanh ghi cần nạp và cất dữ liệu </a:t>
            </a:r>
            <a:r>
              <a:rPr lang="en-US" smtClean="0">
                <a:sym typeface="Wingdings" pitchFamily="2" charset="2"/>
              </a:rPr>
              <a:t> cần nhiều lệnh thực hiện hơn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smtClean="0"/>
              <a:t>Trình biên dịch yêu cầu các biến chứa trong thanh ghi tối đa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smtClean="0"/>
              <a:t>Chỉ chứa các biến trong bộ nhớ khi chúng ít được dùng đến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smtClean="0"/>
              <a:t>Tối ưu thanh ghi rất quan trọng!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44965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Toán hạng trực tiếp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15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>
          <a:xfrm>
            <a:off x="1141124" y="1193900"/>
            <a:ext cx="7772400" cy="49021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mtClean="0"/>
              <a:t>Các dữ liệu hằng trong 1 lệnh, như</a:t>
            </a:r>
            <a:endParaRPr lang="en-US" dirty="0"/>
          </a:p>
          <a:p>
            <a:pPr>
              <a:spcBef>
                <a:spcPts val="0"/>
              </a:spcBef>
              <a:buFont typeface="Wingdings" pitchFamily="2" charset="2"/>
              <a:buNone/>
            </a:pPr>
            <a:r>
              <a:rPr lang="en-US" sz="2800" dirty="0">
                <a:latin typeface="Lucida Console" pitchFamily="49" charset="0"/>
              </a:rPr>
              <a:t>	</a:t>
            </a:r>
            <a:r>
              <a:rPr lang="en-US" sz="2800" dirty="0" err="1">
                <a:latin typeface="Lucida Console" pitchFamily="49" charset="0"/>
              </a:rPr>
              <a:t>addi</a:t>
            </a:r>
            <a:r>
              <a:rPr lang="en-US" sz="2800" dirty="0">
                <a:latin typeface="Lucida Console" pitchFamily="49" charset="0"/>
              </a:rPr>
              <a:t> $s3, $s3, 4</a:t>
            </a:r>
          </a:p>
          <a:p>
            <a:pPr>
              <a:spcBef>
                <a:spcPts val="0"/>
              </a:spcBef>
            </a:pPr>
            <a:r>
              <a:rPr lang="en-US" smtClean="0"/>
              <a:t>Không tồn tại lệnh trừ với toán hạng trực tiếp (?????)</a:t>
            </a:r>
            <a:endParaRPr lang="en-US" dirty="0"/>
          </a:p>
          <a:p>
            <a:pPr lvl="1">
              <a:spcBef>
                <a:spcPts val="0"/>
              </a:spcBef>
            </a:pPr>
            <a:r>
              <a:rPr lang="en-US" smtClean="0"/>
              <a:t>Tương đương với cộng 1 số âm</a:t>
            </a:r>
            <a:endParaRPr lang="en-US" dirty="0"/>
          </a:p>
          <a:p>
            <a:pPr lvl="1">
              <a:spcBef>
                <a:spcPts val="0"/>
              </a:spcBef>
              <a:buFont typeface="Wingdings" pitchFamily="2" charset="2"/>
              <a:buNone/>
            </a:pPr>
            <a:r>
              <a:rPr lang="en-US" sz="2400" dirty="0">
                <a:latin typeface="Lucida Console" pitchFamily="49" charset="0"/>
              </a:rPr>
              <a:t>	</a:t>
            </a:r>
            <a:r>
              <a:rPr lang="en-US" sz="2400" dirty="0" err="1">
                <a:latin typeface="Lucida Console" pitchFamily="49" charset="0"/>
              </a:rPr>
              <a:t>addi</a:t>
            </a:r>
            <a:r>
              <a:rPr lang="en-US" sz="2400" dirty="0">
                <a:latin typeface="Lucida Console" pitchFamily="49" charset="0"/>
              </a:rPr>
              <a:t> $s2, $s1, -1</a:t>
            </a:r>
          </a:p>
          <a:p>
            <a:pPr>
              <a:spcBef>
                <a:spcPts val="0"/>
              </a:spcBef>
            </a:pPr>
            <a:r>
              <a:rPr lang="en-US" i="1" u="sng" smtClean="0">
                <a:solidFill>
                  <a:srgbClr val="FF0000"/>
                </a:solidFill>
              </a:rPr>
              <a:t>Nguyên tắc thiết kế </a:t>
            </a:r>
            <a:r>
              <a:rPr lang="en-US" i="1" u="sng" dirty="0">
                <a:solidFill>
                  <a:srgbClr val="FF0000"/>
                </a:solidFill>
              </a:rPr>
              <a:t>3</a:t>
            </a:r>
            <a:r>
              <a:rPr lang="en-US" i="1"/>
              <a:t>:</a:t>
            </a:r>
            <a:r>
              <a:rPr lang="en-US"/>
              <a:t> </a:t>
            </a:r>
            <a:r>
              <a:rPr lang="en-US" smtClean="0"/>
              <a:t>Làm cho các trường hợp phổ biến thực hiện nhanh</a:t>
            </a:r>
            <a:endParaRPr lang="en-US" dirty="0"/>
          </a:p>
          <a:p>
            <a:pPr lvl="1">
              <a:spcBef>
                <a:spcPts val="0"/>
              </a:spcBef>
            </a:pPr>
            <a:r>
              <a:rPr lang="en-US" smtClean="0"/>
              <a:t>Hằng có giá trị nhỏ rất phổ biến</a:t>
            </a:r>
          </a:p>
          <a:p>
            <a:pPr lvl="1">
              <a:spcBef>
                <a:spcPts val="0"/>
              </a:spcBef>
            </a:pPr>
            <a:r>
              <a:rPr lang="en-US" smtClean="0"/>
              <a:t>Toán hạng trực tiếp trách được lệnh nạp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5002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smtClean="0">
                <a:solidFill>
                  <a:srgbClr val="0039A6"/>
                </a:solidFill>
                <a:latin typeface="Arial"/>
              </a:rPr>
              <a:t>Thanh ghi Hằng 0 (Zero)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16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AU" smtClean="0"/>
              <a:t>Thanh ghi MIPS </a:t>
            </a:r>
            <a:r>
              <a:rPr lang="en-AU" dirty="0"/>
              <a:t>0 ($zero</a:t>
            </a:r>
            <a:r>
              <a:rPr lang="en-AU"/>
              <a:t>) </a:t>
            </a:r>
            <a:r>
              <a:rPr lang="en-AU" smtClean="0"/>
              <a:t>là hằng cố định có giá trị 0</a:t>
            </a:r>
            <a:endParaRPr lang="en-AU" dirty="0"/>
          </a:p>
          <a:p>
            <a:pPr lvl="1"/>
            <a:r>
              <a:rPr lang="en-AU" smtClean="0"/>
              <a:t>Giá trị không thay đổi được</a:t>
            </a:r>
            <a:endParaRPr lang="en-AU" dirty="0"/>
          </a:p>
          <a:p>
            <a:r>
              <a:rPr lang="en-AU" smtClean="0"/>
              <a:t>Có ích cho các tác vụ thường gặp như:</a:t>
            </a:r>
            <a:endParaRPr lang="en-AU" dirty="0"/>
          </a:p>
          <a:p>
            <a:pPr lvl="1"/>
            <a:r>
              <a:rPr lang="en-AU" smtClean="0"/>
              <a:t>Ví dụ, gán giá trị một thanh ghi cho thanh ghi khác</a:t>
            </a:r>
            <a:endParaRPr lang="en-AU" dirty="0"/>
          </a:p>
          <a:p>
            <a:pPr lvl="1">
              <a:buFont typeface="Wingdings" pitchFamily="2" charset="2"/>
              <a:buNone/>
            </a:pPr>
            <a:r>
              <a:rPr lang="en-AU" dirty="0">
                <a:latin typeface="Lucida Console" pitchFamily="49" charset="0"/>
              </a:rPr>
              <a:t>	add $t2, $s1, </a:t>
            </a:r>
            <a:r>
              <a:rPr lang="en-AU">
                <a:latin typeface="Lucida Console" pitchFamily="49" charset="0"/>
              </a:rPr>
              <a:t>$</a:t>
            </a:r>
            <a:r>
              <a:rPr lang="en-AU" smtClean="0">
                <a:latin typeface="Lucida Console" pitchFamily="49" charset="0"/>
              </a:rPr>
              <a:t>zero # $t2 = $s1</a:t>
            </a:r>
            <a:endParaRPr lang="en-AU" dirty="0">
              <a:latin typeface="Lucida Console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7481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smtClean="0">
                <a:solidFill>
                  <a:srgbClr val="0039A6"/>
                </a:solidFill>
                <a:latin typeface="Arial"/>
              </a:rPr>
              <a:t>Số nguyên nhị phân không dấu</a:t>
            </a:r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17</a:t>
            </a:fld>
            <a:endParaRPr lang="vi-VN"/>
          </a:p>
        </p:txBody>
      </p:sp>
      <p:sp>
        <p:nvSpPr>
          <p:cNvPr id="7" name="Rectangle 9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Cho 1 số n-bit, có dạng</a:t>
            </a:r>
            <a:endParaRPr lang="en-A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2172" y="2057834"/>
            <a:ext cx="6010275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143000" y="2565400"/>
            <a:ext cx="7850187" cy="352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1" hangingPunct="1"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3200" smtClean="0"/>
              <a:t>Tầm vực giá trị sẽ là: </a:t>
            </a:r>
            <a:r>
              <a:rPr lang="en-US" sz="3200"/>
              <a:t>0 </a:t>
            </a:r>
            <a:r>
              <a:rPr lang="en-US" sz="3200" smtClean="0"/>
              <a:t>đến </a:t>
            </a:r>
            <a:r>
              <a:rPr lang="en-US" sz="3200" dirty="0"/>
              <a:t>+2</a:t>
            </a:r>
            <a:r>
              <a:rPr lang="en-US" sz="3200" baseline="30000" dirty="0"/>
              <a:t>n</a:t>
            </a:r>
            <a:r>
              <a:rPr lang="en-US" sz="3200" dirty="0"/>
              <a:t> – 1</a:t>
            </a:r>
          </a:p>
          <a:p>
            <a:pPr marL="342900" indent="-342900" eaLnBrk="1" hangingPunct="1"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3200" smtClean="0"/>
              <a:t>Ví dụ:</a:t>
            </a:r>
            <a:endParaRPr lang="en-US" sz="3200" dirty="0"/>
          </a:p>
          <a:p>
            <a:pPr marL="742950" lvl="1" indent="-285750" eaLnBrk="1" hangingPunct="1"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2400" dirty="0"/>
              <a:t>0000 0000 0000 0000 0000 0000 0000 1011</a:t>
            </a:r>
            <a:r>
              <a:rPr lang="en-US" sz="2400" baseline="-25000" dirty="0"/>
              <a:t>2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= 0 + … + 1×2</a:t>
            </a:r>
            <a:r>
              <a:rPr lang="en-US" sz="2400" baseline="30000" dirty="0"/>
              <a:t>3</a:t>
            </a:r>
            <a:r>
              <a:rPr lang="en-US" sz="2400" dirty="0"/>
              <a:t> + 0×2</a:t>
            </a:r>
            <a:r>
              <a:rPr lang="en-US" sz="2400" baseline="30000" dirty="0"/>
              <a:t>2</a:t>
            </a:r>
            <a:r>
              <a:rPr lang="en-US" sz="2400" dirty="0"/>
              <a:t> +1×2</a:t>
            </a:r>
            <a:r>
              <a:rPr lang="en-US" sz="2400" baseline="30000" dirty="0"/>
              <a:t>1</a:t>
            </a:r>
            <a:r>
              <a:rPr lang="en-US" sz="2400" dirty="0"/>
              <a:t> +1×2</a:t>
            </a:r>
            <a:r>
              <a:rPr lang="en-US" sz="2400" baseline="30000" dirty="0"/>
              <a:t>0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= 0 + … + 8 + 0 + 2 + 1 = 11</a:t>
            </a:r>
            <a:r>
              <a:rPr lang="en-US" sz="2400" baseline="-25000" dirty="0"/>
              <a:t>10</a:t>
            </a:r>
            <a:endParaRPr lang="en-US" sz="2400" dirty="0"/>
          </a:p>
          <a:p>
            <a:pPr marL="342900" indent="-342900" eaLnBrk="1" hangingPunct="1"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3200" smtClean="0"/>
              <a:t>Giá trị 1 số nhị phân không dấu 32-bit sẽ là:</a:t>
            </a:r>
            <a:endParaRPr lang="en-US" sz="3200" dirty="0"/>
          </a:p>
          <a:p>
            <a:pPr marL="742950" lvl="1" indent="-285750" eaLnBrk="1" hangingPunct="1"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2800"/>
              <a:t>0 </a:t>
            </a:r>
            <a:r>
              <a:rPr lang="en-US" sz="2800" smtClean="0"/>
              <a:t>đến </a:t>
            </a:r>
            <a:r>
              <a:rPr lang="en-US" sz="2800"/>
              <a:t>+</a:t>
            </a:r>
            <a:r>
              <a:rPr lang="en-US" sz="2800" smtClean="0"/>
              <a:t>4,294,967,295 (giá trị thập phân)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63784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>
                <a:solidFill>
                  <a:srgbClr val="0039A6"/>
                </a:solidFill>
                <a:latin typeface="Arial"/>
              </a:rPr>
              <a:t>Số nguyên có dấu dạng bù 2</a:t>
            </a:r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18</a:t>
            </a:fld>
            <a:endParaRPr lang="vi-VN"/>
          </a:p>
        </p:txBody>
      </p:sp>
      <p:sp>
        <p:nvSpPr>
          <p:cNvPr id="7" name="Rectangle 7"/>
          <p:cNvSpPr>
            <a:spLocks noGrp="1" noChangeArrowheads="1"/>
          </p:cNvSpPr>
          <p:nvPr>
            <p:ph idx="1"/>
          </p:nvPr>
        </p:nvSpPr>
        <p:spPr>
          <a:xfrm>
            <a:off x="1182688" y="1274619"/>
            <a:ext cx="7772400" cy="4857894"/>
          </a:xfrm>
        </p:spPr>
        <p:txBody>
          <a:bodyPr/>
          <a:lstStyle/>
          <a:p>
            <a:r>
              <a:rPr lang="en-US" smtClean="0"/>
              <a:t>Cho 1 số n-bit như sau:</a:t>
            </a:r>
            <a:endParaRPr lang="en-A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0524" y="2057834"/>
            <a:ext cx="6219825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066800" y="2631500"/>
            <a:ext cx="7469187" cy="36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1" hangingPunct="1"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3200" smtClean="0"/>
              <a:t>Tầm giá trị: </a:t>
            </a:r>
            <a:r>
              <a:rPr lang="en-US" sz="3200"/>
              <a:t>–</a:t>
            </a:r>
            <a:r>
              <a:rPr lang="en-US" sz="3200" smtClean="0"/>
              <a:t>2</a:t>
            </a:r>
            <a:r>
              <a:rPr lang="en-US" sz="3200" baseline="30000" smtClean="0"/>
              <a:t>(n </a:t>
            </a:r>
            <a:r>
              <a:rPr lang="en-US" sz="3200" baseline="30000"/>
              <a:t>– </a:t>
            </a:r>
            <a:r>
              <a:rPr lang="en-US" sz="3200" baseline="30000" smtClean="0"/>
              <a:t>1)</a:t>
            </a:r>
            <a:r>
              <a:rPr lang="en-US" sz="3200" smtClean="0"/>
              <a:t> đến </a:t>
            </a:r>
            <a:r>
              <a:rPr lang="en-US" sz="3200"/>
              <a:t>+</a:t>
            </a:r>
            <a:r>
              <a:rPr lang="en-US" sz="3200" smtClean="0"/>
              <a:t>2</a:t>
            </a:r>
            <a:r>
              <a:rPr lang="en-US" sz="3200" baseline="30000" smtClean="0"/>
              <a:t>(n </a:t>
            </a:r>
            <a:r>
              <a:rPr lang="en-US" sz="3200" baseline="30000"/>
              <a:t>– </a:t>
            </a:r>
            <a:r>
              <a:rPr lang="en-US" sz="3200" baseline="30000" smtClean="0"/>
              <a:t>1)</a:t>
            </a:r>
            <a:r>
              <a:rPr lang="en-US" sz="3200" smtClean="0"/>
              <a:t> </a:t>
            </a:r>
            <a:r>
              <a:rPr lang="en-US" sz="3200" dirty="0"/>
              <a:t>– 1</a:t>
            </a:r>
          </a:p>
          <a:p>
            <a:pPr marL="342900" indent="-342900" eaLnBrk="1" hangingPunct="1"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3200" smtClean="0"/>
              <a:t>Ví dụ:</a:t>
            </a:r>
            <a:endParaRPr lang="en-US" sz="3200" dirty="0"/>
          </a:p>
          <a:p>
            <a:pPr marL="742950" lvl="1" indent="-285750" eaLnBrk="1" hangingPunct="1"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2400" dirty="0"/>
              <a:t>1111 1111 1111 1111 1111 1111 1111 1100</a:t>
            </a:r>
            <a:r>
              <a:rPr lang="en-US" sz="2400" baseline="-25000" dirty="0"/>
              <a:t>2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= –1×2</a:t>
            </a:r>
            <a:r>
              <a:rPr lang="en-US" sz="2400" baseline="30000" dirty="0"/>
              <a:t>31</a:t>
            </a:r>
            <a:r>
              <a:rPr lang="en-US" sz="2400" dirty="0"/>
              <a:t> + 1×2</a:t>
            </a:r>
            <a:r>
              <a:rPr lang="en-US" sz="2400" baseline="30000" dirty="0"/>
              <a:t>30</a:t>
            </a:r>
            <a:r>
              <a:rPr lang="en-US" sz="2400" dirty="0"/>
              <a:t> + … + 1×2</a:t>
            </a:r>
            <a:r>
              <a:rPr lang="en-US" sz="2400" baseline="30000" dirty="0"/>
              <a:t>2</a:t>
            </a:r>
            <a:r>
              <a:rPr lang="en-US" sz="2400" dirty="0"/>
              <a:t> +0×2</a:t>
            </a:r>
            <a:r>
              <a:rPr lang="en-US" sz="2400" baseline="30000" dirty="0"/>
              <a:t>1</a:t>
            </a:r>
            <a:r>
              <a:rPr lang="en-US" sz="2400" dirty="0"/>
              <a:t> +0×2</a:t>
            </a:r>
            <a:r>
              <a:rPr lang="en-US" sz="2400" baseline="30000" dirty="0"/>
              <a:t>0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= –2,147,483,648 + 2,147,483,644 = –4</a:t>
            </a:r>
            <a:r>
              <a:rPr lang="en-US" sz="2400" baseline="-25000" dirty="0"/>
              <a:t>10</a:t>
            </a:r>
            <a:endParaRPr lang="en-US" sz="2400" dirty="0"/>
          </a:p>
          <a:p>
            <a:pPr marL="342900" indent="-342900"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3200" smtClean="0"/>
              <a:t> </a:t>
            </a:r>
            <a:r>
              <a:rPr lang="en-US" sz="3200">
                <a:solidFill>
                  <a:srgbClr val="000000"/>
                </a:solidFill>
              </a:rPr>
              <a:t>Giá trị 1 số nhị phân </a:t>
            </a:r>
            <a:r>
              <a:rPr lang="en-US" sz="3200" smtClean="0">
                <a:solidFill>
                  <a:srgbClr val="000000"/>
                </a:solidFill>
              </a:rPr>
              <a:t>có dấu </a:t>
            </a:r>
            <a:r>
              <a:rPr lang="en-US" sz="3200">
                <a:solidFill>
                  <a:srgbClr val="000000"/>
                </a:solidFill>
              </a:rPr>
              <a:t>32-bit sẽ </a:t>
            </a:r>
            <a:r>
              <a:rPr lang="en-US" sz="3200" smtClean="0">
                <a:solidFill>
                  <a:srgbClr val="000000"/>
                </a:solidFill>
              </a:rPr>
              <a:t>là</a:t>
            </a:r>
            <a:endParaRPr lang="en-US" sz="3200" dirty="0"/>
          </a:p>
          <a:p>
            <a:pPr marL="742950" lvl="1" indent="-285750" eaLnBrk="1" hangingPunct="1"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2800" dirty="0"/>
              <a:t>–</a:t>
            </a:r>
            <a:r>
              <a:rPr lang="en-US" sz="2800"/>
              <a:t>2,147,483,648 </a:t>
            </a:r>
            <a:r>
              <a:rPr lang="en-US" sz="2800" smtClean="0"/>
              <a:t>đến </a:t>
            </a:r>
            <a:r>
              <a:rPr lang="en-US" sz="2800" dirty="0"/>
              <a:t>+2,147,483,647</a:t>
            </a:r>
          </a:p>
        </p:txBody>
      </p:sp>
    </p:spTree>
    <p:extLst>
      <p:ext uri="{BB962C8B-B14F-4D97-AF65-F5344CB8AC3E}">
        <p14:creationId xmlns:p14="http://schemas.microsoft.com/office/powerpoint/2010/main" val="4179876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>
                <a:solidFill>
                  <a:srgbClr val="0039A6"/>
                </a:solidFill>
                <a:latin typeface="Arial"/>
              </a:rPr>
              <a:t>Số nguyên có dấu dạng bù </a:t>
            </a:r>
            <a:r>
              <a:rPr lang="en-US" sz="3600" b="1" smtClean="0">
                <a:solidFill>
                  <a:srgbClr val="0039A6"/>
                </a:solidFill>
                <a:latin typeface="Arial"/>
              </a:rPr>
              <a:t>2 (tt.)</a:t>
            </a:r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19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tabLst>
                <a:tab pos="1341438" algn="l"/>
                <a:tab pos="2874963" algn="l"/>
              </a:tabLst>
            </a:pPr>
            <a:r>
              <a:rPr lang="en-US" sz="2800" dirty="0"/>
              <a:t>Bit </a:t>
            </a:r>
            <a:r>
              <a:rPr lang="en-US" sz="2800"/>
              <a:t>31 </a:t>
            </a:r>
            <a:r>
              <a:rPr lang="en-US" sz="2800" smtClean="0"/>
              <a:t>là bit dấu</a:t>
            </a:r>
            <a:endParaRPr lang="en-US" sz="2800" dirty="0"/>
          </a:p>
          <a:p>
            <a:pPr lvl="1">
              <a:lnSpc>
                <a:spcPct val="90000"/>
              </a:lnSpc>
              <a:tabLst>
                <a:tab pos="1341438" algn="l"/>
                <a:tab pos="2874963" algn="l"/>
              </a:tabLst>
            </a:pPr>
            <a:r>
              <a:rPr lang="en-US" sz="2400"/>
              <a:t>1 </a:t>
            </a:r>
            <a:r>
              <a:rPr lang="en-US" sz="2400" smtClean="0"/>
              <a:t>có nghĩa là số âm (-)</a:t>
            </a:r>
            <a:endParaRPr lang="en-US" sz="2400" dirty="0"/>
          </a:p>
          <a:p>
            <a:pPr lvl="1">
              <a:lnSpc>
                <a:spcPct val="90000"/>
              </a:lnSpc>
              <a:tabLst>
                <a:tab pos="1341438" algn="l"/>
                <a:tab pos="2874963" algn="l"/>
              </a:tabLst>
            </a:pPr>
            <a:r>
              <a:rPr lang="en-US" sz="2400"/>
              <a:t>0 </a:t>
            </a:r>
            <a:r>
              <a:rPr lang="en-US" sz="2400" smtClean="0"/>
              <a:t>có nghĩa là số không âm (+)</a:t>
            </a:r>
            <a:endParaRPr lang="en-US" sz="2400" dirty="0"/>
          </a:p>
          <a:p>
            <a:pPr>
              <a:lnSpc>
                <a:spcPct val="90000"/>
              </a:lnSpc>
              <a:tabLst>
                <a:tab pos="1341438" algn="l"/>
                <a:tab pos="2874963" algn="l"/>
              </a:tabLst>
            </a:pPr>
            <a:r>
              <a:rPr lang="en-AU" sz="2800" smtClean="0"/>
              <a:t>Dạng –(–</a:t>
            </a:r>
            <a:r>
              <a:rPr lang="en-AU" sz="2800" dirty="0"/>
              <a:t>2</a:t>
            </a:r>
            <a:r>
              <a:rPr lang="en-AU" sz="2800" baseline="30000" dirty="0"/>
              <a:t>n – 1</a:t>
            </a:r>
            <a:r>
              <a:rPr lang="en-AU" sz="2800"/>
              <a:t>) </a:t>
            </a:r>
            <a:r>
              <a:rPr lang="en-AU" sz="2800" smtClean="0"/>
              <a:t>không tồn tại</a:t>
            </a:r>
            <a:endParaRPr lang="en-AU" sz="2800" dirty="0"/>
          </a:p>
          <a:p>
            <a:pPr>
              <a:lnSpc>
                <a:spcPct val="90000"/>
              </a:lnSpc>
              <a:tabLst>
                <a:tab pos="1341438" algn="l"/>
                <a:tab pos="2874963" algn="l"/>
              </a:tabLst>
            </a:pPr>
            <a:r>
              <a:rPr lang="en-US" sz="2800" smtClean="0"/>
              <a:t>Các số không âm biểu diễn giống số không dấu và số bù 2</a:t>
            </a:r>
            <a:endParaRPr lang="en-AU" sz="2800" smtClean="0"/>
          </a:p>
          <a:p>
            <a:pPr>
              <a:lnSpc>
                <a:spcPct val="90000"/>
              </a:lnSpc>
              <a:tabLst>
                <a:tab pos="1341438" algn="l"/>
                <a:tab pos="2874963" algn="l"/>
              </a:tabLst>
            </a:pPr>
            <a:r>
              <a:rPr lang="en-US" sz="2800" smtClean="0"/>
              <a:t>Vài số đặc biệt như:</a:t>
            </a:r>
          </a:p>
          <a:p>
            <a:pPr lvl="1">
              <a:lnSpc>
                <a:spcPct val="90000"/>
              </a:lnSpc>
              <a:tabLst>
                <a:tab pos="1341438" algn="l"/>
                <a:tab pos="2874963" algn="l"/>
              </a:tabLst>
            </a:pPr>
            <a:r>
              <a:rPr lang="en-US" sz="2400" smtClean="0"/>
              <a:t>  </a:t>
            </a:r>
            <a:r>
              <a:rPr lang="en-US" sz="2400" dirty="0"/>
              <a:t>0:	0000 0000 … 0000</a:t>
            </a:r>
          </a:p>
          <a:p>
            <a:pPr lvl="1">
              <a:lnSpc>
                <a:spcPct val="90000"/>
              </a:lnSpc>
              <a:tabLst>
                <a:tab pos="1341438" algn="l"/>
                <a:tab pos="2874963" algn="l"/>
              </a:tabLst>
            </a:pPr>
            <a:r>
              <a:rPr lang="en-AU" sz="2400" dirty="0"/>
              <a:t>–1:	1111 1111 … 1111</a:t>
            </a:r>
          </a:p>
          <a:p>
            <a:pPr lvl="1">
              <a:lnSpc>
                <a:spcPct val="90000"/>
              </a:lnSpc>
              <a:tabLst>
                <a:tab pos="1341438" algn="l"/>
                <a:tab pos="2874963" algn="l"/>
              </a:tabLst>
            </a:pPr>
            <a:r>
              <a:rPr lang="en-US" sz="2400" smtClean="0"/>
              <a:t>Số âm nhỏ nhất:</a:t>
            </a:r>
            <a:r>
              <a:rPr lang="en-US" sz="2400" dirty="0"/>
              <a:t>	1000 0000 … 0000</a:t>
            </a:r>
          </a:p>
          <a:p>
            <a:pPr lvl="1">
              <a:lnSpc>
                <a:spcPct val="90000"/>
              </a:lnSpc>
              <a:tabLst>
                <a:tab pos="1341438" algn="l"/>
                <a:tab pos="2874963" algn="l"/>
              </a:tabLst>
            </a:pPr>
            <a:r>
              <a:rPr lang="en-US" sz="2400" smtClean="0"/>
              <a:t>Số dương lớn nhất:</a:t>
            </a:r>
            <a:r>
              <a:rPr lang="en-US" sz="2400" dirty="0"/>
              <a:t>	0111 1111 … 1111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084084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Số âm có dấu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20</a:t>
            </a:fld>
            <a:endParaRPr lang="vi-VN"/>
          </a:p>
        </p:txBody>
      </p:sp>
      <p:sp>
        <p:nvSpPr>
          <p:cNvPr id="7" name="Rectangle 7"/>
          <p:cNvSpPr>
            <a:spLocks noGrp="1" noChangeArrowheads="1"/>
          </p:cNvSpPr>
          <p:nvPr>
            <p:ph idx="1"/>
          </p:nvPr>
        </p:nvSpPr>
        <p:spPr>
          <a:xfrm>
            <a:off x="1149927" y="1403039"/>
            <a:ext cx="7772400" cy="4661521"/>
          </a:xfrm>
        </p:spPr>
        <p:txBody>
          <a:bodyPr/>
          <a:lstStyle/>
          <a:p>
            <a:r>
              <a:rPr lang="en-US" smtClean="0"/>
              <a:t>Đảo giá trị bit và cộng 1</a:t>
            </a:r>
            <a:endParaRPr lang="en-US" dirty="0"/>
          </a:p>
          <a:p>
            <a:pPr lvl="1"/>
            <a:r>
              <a:rPr lang="en-US" smtClean="0"/>
              <a:t>Đảo giá trị bit: </a:t>
            </a:r>
            <a:r>
              <a:rPr lang="en-US" dirty="0"/>
              <a:t>1 </a:t>
            </a:r>
            <a:r>
              <a:rPr lang="en-US" dirty="0">
                <a:cs typeface="Arial" charset="0"/>
              </a:rPr>
              <a:t>→ </a:t>
            </a:r>
            <a:r>
              <a:rPr lang="en-US" dirty="0"/>
              <a:t>0, 0 </a:t>
            </a:r>
            <a:r>
              <a:rPr lang="en-US" dirty="0">
                <a:cs typeface="Arial" charset="0"/>
              </a:rPr>
              <a:t>→</a:t>
            </a:r>
            <a:r>
              <a:rPr lang="en-US" dirty="0"/>
              <a:t> 1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1385" y="2590800"/>
            <a:ext cx="351472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143000" y="3940752"/>
            <a:ext cx="7164387" cy="2087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3200" smtClean="0"/>
              <a:t>Ví dụ: giá trị (-) 2</a:t>
            </a:r>
            <a:endParaRPr lang="en-US" sz="3200" dirty="0"/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2800" dirty="0"/>
              <a:t>+2 = 0000 0000 … 0010</a:t>
            </a:r>
            <a:r>
              <a:rPr lang="en-US" sz="2800" baseline="-25000" dirty="0"/>
              <a:t>2</a:t>
            </a:r>
            <a:endParaRPr lang="en-US" sz="2800" dirty="0"/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2800" dirty="0"/>
              <a:t>–2 = 1111 1111 … 1101</a:t>
            </a:r>
            <a:r>
              <a:rPr lang="en-US" sz="2800" baseline="-25000" dirty="0"/>
              <a:t>2</a:t>
            </a:r>
            <a:r>
              <a:rPr lang="en-US" sz="2800" dirty="0"/>
              <a:t> + 1</a:t>
            </a:r>
            <a:br>
              <a:rPr lang="en-US" sz="2800" dirty="0"/>
            </a:br>
            <a:r>
              <a:rPr lang="en-US" sz="2800" dirty="0"/>
              <a:t>     = 1111 1111 … 1110</a:t>
            </a:r>
            <a:r>
              <a:rPr lang="en-US" sz="2800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40081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Mở  rộng bit với số có dấu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21</a:t>
            </a:fld>
            <a:endParaRPr lang="vi-VN"/>
          </a:p>
        </p:txBody>
      </p:sp>
      <p:sp>
        <p:nvSpPr>
          <p:cNvPr id="7" name="Rectangle 7"/>
          <p:cNvSpPr>
            <a:spLocks noGrp="1" noChangeArrowheads="1"/>
          </p:cNvSpPr>
          <p:nvPr>
            <p:ph idx="1"/>
          </p:nvPr>
        </p:nvSpPr>
        <p:spPr>
          <a:xfrm>
            <a:off x="1182688" y="1470991"/>
            <a:ext cx="7772400" cy="470120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smtClean="0"/>
              <a:t>Biểu diễn với số bit nhiều hơn</a:t>
            </a:r>
            <a:endParaRPr lang="en-US" sz="2800" dirty="0"/>
          </a:p>
          <a:p>
            <a:pPr lvl="1">
              <a:lnSpc>
                <a:spcPct val="90000"/>
              </a:lnSpc>
            </a:pPr>
            <a:r>
              <a:rPr lang="en-US" sz="2400" smtClean="0"/>
              <a:t>Dữ nguyên giá trị</a:t>
            </a: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800" smtClean="0"/>
              <a:t>Ví dụ: Trong tập lệnh MIPS</a:t>
            </a:r>
            <a:endParaRPr lang="en-US" sz="2800" dirty="0"/>
          </a:p>
          <a:p>
            <a:pPr lvl="1">
              <a:lnSpc>
                <a:spcPct val="90000"/>
              </a:lnSpc>
            </a:pPr>
            <a:r>
              <a:rPr lang="en-US" sz="2400" dirty="0" err="1">
                <a:latin typeface="Lucida Console" pitchFamily="49" charset="0"/>
              </a:rPr>
              <a:t>addi</a:t>
            </a:r>
            <a:r>
              <a:rPr lang="en-US" sz="2400"/>
              <a:t>: </a:t>
            </a:r>
            <a:r>
              <a:rPr lang="en-US" sz="2400" smtClean="0"/>
              <a:t>mở rộng số bit giá trị toán hạng trực tiếp</a:t>
            </a: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400" dirty="0" err="1">
                <a:latin typeface="Lucida Console" pitchFamily="49" charset="0"/>
              </a:rPr>
              <a:t>lb</a:t>
            </a:r>
            <a:r>
              <a:rPr lang="en-US" sz="2400" dirty="0"/>
              <a:t>, </a:t>
            </a:r>
            <a:r>
              <a:rPr lang="en-US" sz="2400" dirty="0" err="1">
                <a:latin typeface="Lucida Console" pitchFamily="49" charset="0"/>
              </a:rPr>
              <a:t>lh</a:t>
            </a:r>
            <a:r>
              <a:rPr lang="en-US" sz="2400"/>
              <a:t>: </a:t>
            </a:r>
            <a:r>
              <a:rPr lang="en-US" sz="2400" smtClean="0"/>
              <a:t>mở rộng số bit với byte/(1/2 từ) được nạp</a:t>
            </a: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400" dirty="0" err="1">
                <a:latin typeface="Lucida Console" pitchFamily="49" charset="0"/>
              </a:rPr>
              <a:t>beq</a:t>
            </a:r>
            <a:r>
              <a:rPr lang="en-US" sz="2400" dirty="0"/>
              <a:t>, </a:t>
            </a:r>
            <a:r>
              <a:rPr lang="en-US" sz="2400" dirty="0" err="1">
                <a:latin typeface="Lucida Console" pitchFamily="49" charset="0"/>
              </a:rPr>
              <a:t>bne</a:t>
            </a:r>
            <a:r>
              <a:rPr lang="en-US" sz="2400"/>
              <a:t>: </a:t>
            </a:r>
            <a:r>
              <a:rPr lang="en-US" sz="2400" smtClean="0"/>
              <a:t>mở rộng số bit của độ dời địa chỉ</a:t>
            </a: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800" smtClean="0"/>
              <a:t>Thêm giá bit dấu vào các bit mở rộng bên trái</a:t>
            </a:r>
            <a:endParaRPr lang="en-US" sz="2800" dirty="0"/>
          </a:p>
          <a:p>
            <a:pPr lvl="1">
              <a:lnSpc>
                <a:spcPct val="90000"/>
              </a:lnSpc>
            </a:pPr>
            <a:r>
              <a:rPr lang="en-US" sz="2400" smtClean="0"/>
              <a:t>Đối với giá trị không dấu: gán </a:t>
            </a:r>
            <a:r>
              <a:rPr lang="en-US" sz="2400" dirty="0"/>
              <a:t>0s</a:t>
            </a:r>
          </a:p>
          <a:p>
            <a:pPr>
              <a:lnSpc>
                <a:spcPct val="90000"/>
              </a:lnSpc>
            </a:pPr>
            <a:r>
              <a:rPr lang="en-US" sz="2800" smtClean="0"/>
              <a:t>Ví dụ: chuyển  số 8-bit thành số </a:t>
            </a:r>
            <a:r>
              <a:rPr lang="en-US" sz="2800" dirty="0"/>
              <a:t>16-bit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+2: </a:t>
            </a:r>
            <a:r>
              <a:rPr lang="en-US" sz="2400" dirty="0">
                <a:solidFill>
                  <a:schemeClr val="hlink"/>
                </a:solidFill>
              </a:rPr>
              <a:t>0</a:t>
            </a:r>
            <a:r>
              <a:rPr lang="en-US" sz="2400" dirty="0"/>
              <a:t>000 0010 =&gt; </a:t>
            </a:r>
            <a:r>
              <a:rPr lang="en-US" sz="2400" dirty="0">
                <a:solidFill>
                  <a:schemeClr val="hlink"/>
                </a:solidFill>
              </a:rPr>
              <a:t>0000 0000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hlink"/>
                </a:solidFill>
              </a:rPr>
              <a:t>0</a:t>
            </a:r>
            <a:r>
              <a:rPr lang="en-US" sz="2400" dirty="0"/>
              <a:t>000 0010</a:t>
            </a:r>
          </a:p>
          <a:p>
            <a:pPr lvl="1">
              <a:lnSpc>
                <a:spcPct val="90000"/>
              </a:lnSpc>
            </a:pPr>
            <a:r>
              <a:rPr lang="en-AU" sz="2400" dirty="0"/>
              <a:t>–2: </a:t>
            </a:r>
            <a:r>
              <a:rPr lang="en-AU" sz="2400" dirty="0">
                <a:solidFill>
                  <a:schemeClr val="hlink"/>
                </a:solidFill>
              </a:rPr>
              <a:t>1</a:t>
            </a:r>
            <a:r>
              <a:rPr lang="en-AU" sz="2400" dirty="0"/>
              <a:t>111 1110 =&gt; </a:t>
            </a:r>
            <a:r>
              <a:rPr lang="en-AU" sz="2400" dirty="0">
                <a:solidFill>
                  <a:schemeClr val="hlink"/>
                </a:solidFill>
              </a:rPr>
              <a:t>1111 1111</a:t>
            </a:r>
            <a:r>
              <a:rPr lang="en-AU" sz="2400" dirty="0"/>
              <a:t> </a:t>
            </a:r>
            <a:r>
              <a:rPr lang="en-AU" sz="2400" dirty="0">
                <a:solidFill>
                  <a:schemeClr val="hlink"/>
                </a:solidFill>
              </a:rPr>
              <a:t>1</a:t>
            </a:r>
            <a:r>
              <a:rPr lang="en-AU" sz="2400" dirty="0"/>
              <a:t>111 1110</a:t>
            </a:r>
          </a:p>
        </p:txBody>
      </p:sp>
    </p:spTree>
    <p:extLst>
      <p:ext uri="{BB962C8B-B14F-4D97-AF65-F5344CB8AC3E}">
        <p14:creationId xmlns:p14="http://schemas.microsoft.com/office/powerpoint/2010/main" val="114056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Biểu diễn lệnh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22</a:t>
            </a:fld>
            <a:endParaRPr lang="vi-VN"/>
          </a:p>
        </p:txBody>
      </p:sp>
      <p:sp>
        <p:nvSpPr>
          <p:cNvPr id="7" name="Rectangle 6"/>
          <p:cNvSpPr>
            <a:spLocks noGrp="1" noChangeArrowheads="1"/>
          </p:cNvSpPr>
          <p:nvPr>
            <p:ph idx="1"/>
          </p:nvPr>
        </p:nvSpPr>
        <p:spPr>
          <a:xfrm>
            <a:off x="1219200" y="1143000"/>
            <a:ext cx="7772400" cy="5105400"/>
          </a:xfrm>
        </p:spPr>
        <p:txBody>
          <a:bodyPr/>
          <a:lstStyle/>
          <a:p>
            <a:r>
              <a:rPr lang="en-US" sz="2800" smtClean="0"/>
              <a:t>Lệnh được mã hóa thành giá trị nhị phân</a:t>
            </a:r>
          </a:p>
          <a:p>
            <a:pPr lvl="1"/>
            <a:r>
              <a:rPr lang="en-US" sz="2400" smtClean="0"/>
              <a:t>Gọi là mã máy</a:t>
            </a:r>
          </a:p>
          <a:p>
            <a:r>
              <a:rPr lang="en-US" sz="2800" smtClean="0"/>
              <a:t>Các lệnh của MIP</a:t>
            </a:r>
            <a:endParaRPr lang="en-US" sz="2800" dirty="0"/>
          </a:p>
          <a:p>
            <a:pPr lvl="1"/>
            <a:r>
              <a:rPr lang="en-US" sz="2400" smtClean="0"/>
              <a:t>Mã hóa thành từ lệnh 32-bit</a:t>
            </a:r>
            <a:endParaRPr lang="en-US" sz="2400" dirty="0"/>
          </a:p>
          <a:p>
            <a:pPr lvl="1"/>
            <a:r>
              <a:rPr lang="en-US" sz="2400" smtClean="0"/>
              <a:t>Chia thành các phần nhỏ: Mã lệnh, thanh ghi, ..</a:t>
            </a:r>
          </a:p>
          <a:p>
            <a:pPr lvl="1"/>
            <a:r>
              <a:rPr lang="en-US" sz="2400" smtClean="0"/>
              <a:t>Theo quy tắc!</a:t>
            </a:r>
          </a:p>
          <a:p>
            <a:r>
              <a:rPr lang="en-US" sz="2800" smtClean="0"/>
              <a:t>Các thanh ghi MIP được đánh số:</a:t>
            </a:r>
            <a:endParaRPr lang="en-US" sz="2800" dirty="0"/>
          </a:p>
          <a:p>
            <a:pPr lvl="1"/>
            <a:r>
              <a:rPr lang="en-US" sz="2400" dirty="0"/>
              <a:t>$t0 – $</a:t>
            </a:r>
            <a:r>
              <a:rPr lang="en-US" sz="2400"/>
              <a:t>t7 </a:t>
            </a:r>
            <a:r>
              <a:rPr lang="en-US" sz="2400" smtClean="0"/>
              <a:t>tương ứng với thanh ghi 8 </a:t>
            </a:r>
            <a:r>
              <a:rPr lang="en-US" sz="2400" dirty="0"/>
              <a:t>– 15</a:t>
            </a:r>
          </a:p>
          <a:p>
            <a:pPr lvl="1"/>
            <a:r>
              <a:rPr lang="en-US" sz="2400" dirty="0"/>
              <a:t>$t8 – $</a:t>
            </a:r>
            <a:r>
              <a:rPr lang="en-US" sz="2400"/>
              <a:t>t9 </a:t>
            </a:r>
            <a:r>
              <a:rPr lang="en-US" sz="2400" smtClean="0"/>
              <a:t>tương ứng với thanh ghi </a:t>
            </a:r>
            <a:r>
              <a:rPr lang="en-US" sz="2400" dirty="0"/>
              <a:t>24 – 25</a:t>
            </a:r>
          </a:p>
          <a:p>
            <a:pPr lvl="1"/>
            <a:r>
              <a:rPr lang="en-US" sz="2400" dirty="0"/>
              <a:t>$s0 – $</a:t>
            </a:r>
            <a:r>
              <a:rPr lang="en-US" sz="2400"/>
              <a:t>s7 </a:t>
            </a:r>
            <a:r>
              <a:rPr lang="en-US" sz="2400" smtClean="0"/>
              <a:t>tương ứng với thanh ghi </a:t>
            </a:r>
            <a:r>
              <a:rPr lang="en-US" sz="2400" dirty="0"/>
              <a:t>16 – 23</a:t>
            </a:r>
          </a:p>
        </p:txBody>
      </p:sp>
    </p:spTree>
    <p:extLst>
      <p:ext uri="{BB962C8B-B14F-4D97-AF65-F5344CB8AC3E}">
        <p14:creationId xmlns:p14="http://schemas.microsoft.com/office/powerpoint/2010/main" val="1937220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Các lệnh dạng 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23</a:t>
            </a:fld>
            <a:endParaRPr lang="vi-VN"/>
          </a:p>
        </p:txBody>
      </p:sp>
      <p:sp>
        <p:nvSpPr>
          <p:cNvPr id="7" name="Rectangle 18"/>
          <p:cNvSpPr txBox="1">
            <a:spLocks noChangeArrowheads="1"/>
          </p:cNvSpPr>
          <p:nvPr/>
        </p:nvSpPr>
        <p:spPr bwMode="auto">
          <a:xfrm>
            <a:off x="684213" y="2276475"/>
            <a:ext cx="8270875" cy="3960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mtClean="0"/>
              <a:t>Cấu trúc thành phần của lệnh dạng R</a:t>
            </a:r>
          </a:p>
          <a:p>
            <a:pPr lvl="1"/>
            <a:r>
              <a:rPr lang="en-US" smtClean="0"/>
              <a:t>op: Mã lệnh (opcode)</a:t>
            </a:r>
          </a:p>
          <a:p>
            <a:pPr lvl="1"/>
            <a:r>
              <a:rPr lang="en-US" smtClean="0"/>
              <a:t>rs: Chỉ số thanh ghi nguồn thứ nhất</a:t>
            </a:r>
          </a:p>
          <a:p>
            <a:pPr lvl="1"/>
            <a:r>
              <a:rPr lang="en-US" smtClean="0"/>
              <a:t>rt: Chỉ số thanh ghi nguồn thứ nhì</a:t>
            </a:r>
          </a:p>
          <a:p>
            <a:pPr lvl="1"/>
            <a:r>
              <a:rPr lang="en-US"/>
              <a:t>r</a:t>
            </a:r>
            <a:r>
              <a:rPr lang="en-US" smtClean="0"/>
              <a:t>d: Chỉ số thanh ghi đích</a:t>
            </a:r>
          </a:p>
          <a:p>
            <a:pPr lvl="1"/>
            <a:r>
              <a:rPr lang="en-US" smtClean="0"/>
              <a:t>shamt: Số bit dịch chuyển</a:t>
            </a:r>
          </a:p>
          <a:p>
            <a:pPr lvl="1"/>
            <a:r>
              <a:rPr lang="en-US" smtClean="0"/>
              <a:t>funct: mã chức năng mở rộng (</a:t>
            </a:r>
            <a:r>
              <a:rPr lang="en-US" sz="2400" smtClean="0"/>
              <a:t>extends opcode</a:t>
            </a:r>
            <a:r>
              <a:rPr lang="en-US" smtClean="0"/>
              <a:t>)</a:t>
            </a:r>
            <a:endParaRPr lang="en-AU" dirty="0"/>
          </a:p>
        </p:txBody>
      </p:sp>
      <p:grpSp>
        <p:nvGrpSpPr>
          <p:cNvPr id="8" name="Group 4"/>
          <p:cNvGrpSpPr>
            <a:grpSpLocks/>
          </p:cNvGrpSpPr>
          <p:nvPr/>
        </p:nvGrpSpPr>
        <p:grpSpPr bwMode="auto">
          <a:xfrm>
            <a:off x="1140619" y="1462881"/>
            <a:ext cx="6913562" cy="773113"/>
            <a:chOff x="703" y="981"/>
            <a:chExt cx="4355" cy="487"/>
          </a:xfrm>
        </p:grpSpPr>
        <p:sp>
          <p:nvSpPr>
            <p:cNvPr id="9" name="Text Box 5"/>
            <p:cNvSpPr txBox="1">
              <a:spLocks noChangeArrowheads="1"/>
            </p:cNvSpPr>
            <p:nvPr/>
          </p:nvSpPr>
          <p:spPr bwMode="auto">
            <a:xfrm>
              <a:off x="703" y="981"/>
              <a:ext cx="817" cy="26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op</a:t>
              </a:r>
              <a:endParaRPr kumimoji="0" lang="en-AU" sz="20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Text Box 6"/>
            <p:cNvSpPr txBox="1">
              <a:spLocks noChangeArrowheads="1"/>
            </p:cNvSpPr>
            <p:nvPr/>
          </p:nvSpPr>
          <p:spPr bwMode="auto">
            <a:xfrm>
              <a:off x="1520" y="981"/>
              <a:ext cx="680" cy="26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rs</a:t>
              </a:r>
              <a:endParaRPr kumimoji="0" lang="en-AU" sz="2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Text Box 7"/>
            <p:cNvSpPr txBox="1">
              <a:spLocks noChangeArrowheads="1"/>
            </p:cNvSpPr>
            <p:nvPr/>
          </p:nvSpPr>
          <p:spPr bwMode="auto">
            <a:xfrm>
              <a:off x="2200" y="981"/>
              <a:ext cx="680" cy="26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rt</a:t>
              </a:r>
              <a:endParaRPr kumimoji="0" lang="en-AU" sz="20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2880" y="981"/>
              <a:ext cx="680" cy="26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rd</a:t>
              </a:r>
              <a:endParaRPr kumimoji="0" lang="en-AU" sz="20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Text Box 9"/>
            <p:cNvSpPr txBox="1">
              <a:spLocks noChangeArrowheads="1"/>
            </p:cNvSpPr>
            <p:nvPr/>
          </p:nvSpPr>
          <p:spPr bwMode="auto">
            <a:xfrm>
              <a:off x="3561" y="981"/>
              <a:ext cx="680" cy="26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shamt</a:t>
              </a:r>
              <a:endParaRPr kumimoji="0" lang="en-AU" sz="20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Text Box 10"/>
            <p:cNvSpPr txBox="1">
              <a:spLocks noChangeArrowheads="1"/>
            </p:cNvSpPr>
            <p:nvPr/>
          </p:nvSpPr>
          <p:spPr bwMode="auto">
            <a:xfrm>
              <a:off x="4241" y="981"/>
              <a:ext cx="817" cy="26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funct</a:t>
              </a:r>
              <a:endParaRPr kumimoji="0" lang="en-AU" sz="20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Text Box 11"/>
            <p:cNvSpPr txBox="1">
              <a:spLocks noChangeArrowheads="1"/>
            </p:cNvSpPr>
            <p:nvPr/>
          </p:nvSpPr>
          <p:spPr bwMode="auto">
            <a:xfrm>
              <a:off x="886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6 bits</a:t>
              </a:r>
              <a:endParaRPr kumimoji="0" lang="en-AU" sz="16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Text Box 12"/>
            <p:cNvSpPr txBox="1">
              <a:spLocks noChangeArrowheads="1"/>
            </p:cNvSpPr>
            <p:nvPr/>
          </p:nvSpPr>
          <p:spPr bwMode="auto">
            <a:xfrm>
              <a:off x="4424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6 bits</a:t>
              </a:r>
              <a:endParaRPr kumimoji="0" lang="en-AU" sz="16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Text Box 13"/>
            <p:cNvSpPr txBox="1">
              <a:spLocks noChangeArrowheads="1"/>
            </p:cNvSpPr>
            <p:nvPr/>
          </p:nvSpPr>
          <p:spPr bwMode="auto">
            <a:xfrm>
              <a:off x="1657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5 bits</a:t>
              </a:r>
              <a:endParaRPr kumimoji="0" lang="en-AU" sz="16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Text Box 14"/>
            <p:cNvSpPr txBox="1">
              <a:spLocks noChangeArrowheads="1"/>
            </p:cNvSpPr>
            <p:nvPr/>
          </p:nvSpPr>
          <p:spPr bwMode="auto">
            <a:xfrm>
              <a:off x="2338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5 bits</a:t>
              </a:r>
              <a:endParaRPr kumimoji="0" lang="en-AU" sz="16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Text Box 15"/>
            <p:cNvSpPr txBox="1">
              <a:spLocks noChangeArrowheads="1"/>
            </p:cNvSpPr>
            <p:nvPr/>
          </p:nvSpPr>
          <p:spPr bwMode="auto">
            <a:xfrm>
              <a:off x="3018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5 bits</a:t>
              </a:r>
              <a:endParaRPr kumimoji="0" lang="en-AU" sz="16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Text Box 16"/>
            <p:cNvSpPr txBox="1">
              <a:spLocks noChangeArrowheads="1"/>
            </p:cNvSpPr>
            <p:nvPr/>
          </p:nvSpPr>
          <p:spPr bwMode="auto">
            <a:xfrm>
              <a:off x="3698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5 bits</a:t>
              </a:r>
              <a:endParaRPr kumimoji="0" lang="en-AU" sz="16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1329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Ví dụ: Lệnh dạng 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24</a:t>
            </a:fld>
            <a:endParaRPr lang="vi-VN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447800"/>
            <a:ext cx="6937849" cy="871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37"/>
          <p:cNvSpPr txBox="1">
            <a:spLocks noChangeArrowheads="1"/>
          </p:cNvSpPr>
          <p:nvPr/>
        </p:nvSpPr>
        <p:spPr bwMode="auto">
          <a:xfrm>
            <a:off x="850467" y="2395393"/>
            <a:ext cx="8270875" cy="64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smtClean="0">
                <a:latin typeface="Lucida Console" pitchFamily="49" charset="0"/>
              </a:rPr>
              <a:t>	add $t0, $s1, $s2</a:t>
            </a:r>
            <a:endParaRPr lang="en-US">
              <a:latin typeface="Lucida Console" pitchFamily="49" charset="0"/>
            </a:endParaRPr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1359622" y="3165764"/>
            <a:ext cx="1296987" cy="415925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special</a:t>
            </a:r>
            <a:endParaRPr kumimoji="0" lang="en-AU" sz="20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" name="Text Box 18"/>
          <p:cNvSpPr txBox="1">
            <a:spLocks noChangeArrowheads="1"/>
          </p:cNvSpPr>
          <p:nvPr/>
        </p:nvSpPr>
        <p:spPr bwMode="auto">
          <a:xfrm>
            <a:off x="2656609" y="3165764"/>
            <a:ext cx="1079500" cy="415925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$s1</a:t>
            </a:r>
            <a:endParaRPr kumimoji="0" lang="en-AU" sz="20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" name="Text Box 19"/>
          <p:cNvSpPr txBox="1">
            <a:spLocks noChangeArrowheads="1"/>
          </p:cNvSpPr>
          <p:nvPr/>
        </p:nvSpPr>
        <p:spPr bwMode="auto">
          <a:xfrm>
            <a:off x="3736109" y="3165764"/>
            <a:ext cx="1079500" cy="415925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$s2</a:t>
            </a:r>
            <a:endParaRPr kumimoji="0" lang="en-AU" sz="20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2" name="Text Box 20"/>
          <p:cNvSpPr txBox="1">
            <a:spLocks noChangeArrowheads="1"/>
          </p:cNvSpPr>
          <p:nvPr/>
        </p:nvSpPr>
        <p:spPr bwMode="auto">
          <a:xfrm>
            <a:off x="4815609" y="3165764"/>
            <a:ext cx="1079500" cy="415925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$t0</a:t>
            </a:r>
            <a:endParaRPr kumimoji="0" lang="en-AU" sz="20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Text Box 21"/>
          <p:cNvSpPr txBox="1">
            <a:spLocks noChangeArrowheads="1"/>
          </p:cNvSpPr>
          <p:nvPr/>
        </p:nvSpPr>
        <p:spPr bwMode="auto">
          <a:xfrm>
            <a:off x="5896697" y="3165764"/>
            <a:ext cx="1079500" cy="415925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0</a:t>
            </a:r>
            <a:endParaRPr kumimoji="0" lang="en-AU" sz="20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Text Box 22"/>
          <p:cNvSpPr txBox="1">
            <a:spLocks noChangeArrowheads="1"/>
          </p:cNvSpPr>
          <p:nvPr/>
        </p:nvSpPr>
        <p:spPr bwMode="auto">
          <a:xfrm>
            <a:off x="6976197" y="3165764"/>
            <a:ext cx="1296987" cy="415925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add</a:t>
            </a:r>
            <a:endParaRPr kumimoji="0" lang="en-AU" sz="20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" name="Text Box 23"/>
          <p:cNvSpPr txBox="1">
            <a:spLocks noChangeArrowheads="1"/>
          </p:cNvSpPr>
          <p:nvPr/>
        </p:nvSpPr>
        <p:spPr bwMode="auto">
          <a:xfrm>
            <a:off x="1359622" y="3815052"/>
            <a:ext cx="1296987" cy="415925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0</a:t>
            </a:r>
            <a:endParaRPr kumimoji="0" lang="en-AU" sz="20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6" name="Text Box 24"/>
          <p:cNvSpPr txBox="1">
            <a:spLocks noChangeArrowheads="1"/>
          </p:cNvSpPr>
          <p:nvPr/>
        </p:nvSpPr>
        <p:spPr bwMode="auto">
          <a:xfrm>
            <a:off x="2656609" y="3815052"/>
            <a:ext cx="1079500" cy="415925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17</a:t>
            </a:r>
            <a:endParaRPr kumimoji="0" lang="en-AU" sz="20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7" name="Text Box 25"/>
          <p:cNvSpPr txBox="1">
            <a:spLocks noChangeArrowheads="1"/>
          </p:cNvSpPr>
          <p:nvPr/>
        </p:nvSpPr>
        <p:spPr bwMode="auto">
          <a:xfrm>
            <a:off x="3736109" y="3815052"/>
            <a:ext cx="1079500" cy="415925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18</a:t>
            </a:r>
            <a:endParaRPr kumimoji="0" lang="en-AU" sz="20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8" name="Text Box 26"/>
          <p:cNvSpPr txBox="1">
            <a:spLocks noChangeArrowheads="1"/>
          </p:cNvSpPr>
          <p:nvPr/>
        </p:nvSpPr>
        <p:spPr bwMode="auto">
          <a:xfrm>
            <a:off x="4815609" y="3815052"/>
            <a:ext cx="1079500" cy="415925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8</a:t>
            </a:r>
            <a:endParaRPr kumimoji="0" lang="en-AU" sz="20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Text Box 27"/>
          <p:cNvSpPr txBox="1">
            <a:spLocks noChangeArrowheads="1"/>
          </p:cNvSpPr>
          <p:nvPr/>
        </p:nvSpPr>
        <p:spPr bwMode="auto">
          <a:xfrm>
            <a:off x="5896697" y="3815052"/>
            <a:ext cx="1079500" cy="415925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0</a:t>
            </a:r>
            <a:endParaRPr kumimoji="0" lang="en-AU" sz="20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" name="Text Box 28"/>
          <p:cNvSpPr txBox="1">
            <a:spLocks noChangeArrowheads="1"/>
          </p:cNvSpPr>
          <p:nvPr/>
        </p:nvSpPr>
        <p:spPr bwMode="auto">
          <a:xfrm>
            <a:off x="6976197" y="3815052"/>
            <a:ext cx="1296987" cy="415925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32</a:t>
            </a:r>
            <a:endParaRPr kumimoji="0" lang="en-AU" sz="20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Text Box 29"/>
          <p:cNvSpPr txBox="1">
            <a:spLocks noChangeArrowheads="1"/>
          </p:cNvSpPr>
          <p:nvPr/>
        </p:nvSpPr>
        <p:spPr bwMode="auto">
          <a:xfrm>
            <a:off x="1359622" y="4462752"/>
            <a:ext cx="1296987" cy="415925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000000</a:t>
            </a:r>
            <a:endParaRPr kumimoji="0" lang="en-AU" sz="20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Text Box 30"/>
          <p:cNvSpPr txBox="1">
            <a:spLocks noChangeArrowheads="1"/>
          </p:cNvSpPr>
          <p:nvPr/>
        </p:nvSpPr>
        <p:spPr bwMode="auto">
          <a:xfrm>
            <a:off x="2656609" y="4462752"/>
            <a:ext cx="1079500" cy="415925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10001</a:t>
            </a:r>
            <a:endParaRPr kumimoji="0" lang="en-AU" sz="20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3" name="Text Box 31"/>
          <p:cNvSpPr txBox="1">
            <a:spLocks noChangeArrowheads="1"/>
          </p:cNvSpPr>
          <p:nvPr/>
        </p:nvSpPr>
        <p:spPr bwMode="auto">
          <a:xfrm>
            <a:off x="3736109" y="4462752"/>
            <a:ext cx="1079500" cy="415925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10010</a:t>
            </a:r>
            <a:endParaRPr kumimoji="0" lang="en-AU" sz="20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4" name="Text Box 32"/>
          <p:cNvSpPr txBox="1">
            <a:spLocks noChangeArrowheads="1"/>
          </p:cNvSpPr>
          <p:nvPr/>
        </p:nvSpPr>
        <p:spPr bwMode="auto">
          <a:xfrm>
            <a:off x="4815609" y="4462752"/>
            <a:ext cx="1079500" cy="415925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01000</a:t>
            </a:r>
            <a:endParaRPr kumimoji="0" lang="en-AU" sz="20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5" name="Text Box 33"/>
          <p:cNvSpPr txBox="1">
            <a:spLocks noChangeArrowheads="1"/>
          </p:cNvSpPr>
          <p:nvPr/>
        </p:nvSpPr>
        <p:spPr bwMode="auto">
          <a:xfrm>
            <a:off x="5896697" y="4462752"/>
            <a:ext cx="1079500" cy="415925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00000</a:t>
            </a:r>
            <a:endParaRPr kumimoji="0" lang="en-AU" sz="20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6" name="Text Box 34"/>
          <p:cNvSpPr txBox="1">
            <a:spLocks noChangeArrowheads="1"/>
          </p:cNvSpPr>
          <p:nvPr/>
        </p:nvSpPr>
        <p:spPr bwMode="auto">
          <a:xfrm>
            <a:off x="6976197" y="4462752"/>
            <a:ext cx="1296987" cy="415925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100000</a:t>
            </a:r>
            <a:endParaRPr kumimoji="0" lang="en-AU" sz="20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7" name="Rectangle 35"/>
          <p:cNvSpPr>
            <a:spLocks noChangeArrowheads="1"/>
          </p:cNvSpPr>
          <p:nvPr/>
        </p:nvSpPr>
        <p:spPr bwMode="auto">
          <a:xfrm>
            <a:off x="1063914" y="5236440"/>
            <a:ext cx="7775286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2400" dirty="0"/>
              <a:t>00000010001100100100000000100000</a:t>
            </a:r>
            <a:r>
              <a:rPr lang="en-US" sz="2400" baseline="-25000" dirty="0"/>
              <a:t>2</a:t>
            </a:r>
            <a:r>
              <a:rPr lang="en-US" sz="2400" dirty="0"/>
              <a:t> = 02324020</a:t>
            </a:r>
            <a:r>
              <a:rPr lang="en-US" sz="2400" baseline="-25000" dirty="0"/>
              <a:t>16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960737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smtClean="0">
                <a:solidFill>
                  <a:srgbClr val="0039A6"/>
                </a:solidFill>
                <a:latin typeface="Arial"/>
              </a:rPr>
              <a:t>Biểu diễn số dạng hệ 16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25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219201"/>
            <a:ext cx="8269288" cy="502919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AU" smtClean="0"/>
              <a:t>Hệ số </a:t>
            </a:r>
            <a:r>
              <a:rPr lang="en-AU" dirty="0"/>
              <a:t>16</a:t>
            </a:r>
          </a:p>
          <a:p>
            <a:pPr lvl="1">
              <a:lnSpc>
                <a:spcPct val="90000"/>
              </a:lnSpc>
            </a:pPr>
            <a:r>
              <a:rPr lang="en-AU" smtClean="0"/>
              <a:t>Rút gọn cách biểu diễn chuỗi nhị phân</a:t>
            </a:r>
            <a:endParaRPr lang="en-AU" dirty="0"/>
          </a:p>
          <a:p>
            <a:pPr lvl="1">
              <a:lnSpc>
                <a:spcPct val="90000"/>
              </a:lnSpc>
            </a:pPr>
            <a:r>
              <a:rPr lang="en-AU" dirty="0"/>
              <a:t>4 </a:t>
            </a:r>
            <a:r>
              <a:rPr lang="en-AU"/>
              <a:t>bits </a:t>
            </a:r>
            <a:r>
              <a:rPr lang="en-AU" smtClean="0"/>
              <a:t>cho mỗi số hex</a:t>
            </a:r>
            <a:endParaRPr lang="en-A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559" y="2971800"/>
            <a:ext cx="7224713" cy="2017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77"/>
          <p:cNvSpPr>
            <a:spLocks noChangeArrowheads="1"/>
          </p:cNvSpPr>
          <p:nvPr/>
        </p:nvSpPr>
        <p:spPr bwMode="auto">
          <a:xfrm>
            <a:off x="986559" y="4982586"/>
            <a:ext cx="7847012" cy="961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AU" sz="3200" smtClean="0"/>
              <a:t>Ví dụ: </a:t>
            </a:r>
            <a:r>
              <a:rPr lang="en-AU" sz="3200" dirty="0"/>
              <a:t>eca8 6420</a:t>
            </a:r>
          </a:p>
          <a:p>
            <a:pPr marL="742950" lvl="1" indent="-285750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AU" sz="2400" dirty="0"/>
              <a:t>1110 1100 1010 1000 0110 0100 0010 0000</a:t>
            </a:r>
          </a:p>
        </p:txBody>
      </p:sp>
    </p:spTree>
    <p:extLst>
      <p:ext uri="{BB962C8B-B14F-4D97-AF65-F5344CB8AC3E}">
        <p14:creationId xmlns:p14="http://schemas.microsoft.com/office/powerpoint/2010/main" val="382202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Lệnh MIPS dạng 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26</a:t>
            </a:fld>
            <a:endParaRPr lang="vi-VN"/>
          </a:p>
        </p:txBody>
      </p:sp>
      <p:sp>
        <p:nvSpPr>
          <p:cNvPr id="7" name="Rectangle 27"/>
          <p:cNvSpPr txBox="1">
            <a:spLocks noChangeArrowheads="1"/>
          </p:cNvSpPr>
          <p:nvPr/>
        </p:nvSpPr>
        <p:spPr bwMode="auto">
          <a:xfrm>
            <a:off x="684213" y="2185988"/>
            <a:ext cx="8270875" cy="405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800" smtClean="0"/>
              <a:t>Các lệnh số học trực tiếp hoặc lệnh nạp/cất</a:t>
            </a:r>
          </a:p>
          <a:p>
            <a:pPr lvl="1">
              <a:lnSpc>
                <a:spcPct val="90000"/>
              </a:lnSpc>
            </a:pPr>
            <a:r>
              <a:rPr lang="en-US" sz="2400" smtClean="0"/>
              <a:t>rt: Thanh ghi đích hoặc nguồn</a:t>
            </a:r>
          </a:p>
          <a:p>
            <a:pPr lvl="1">
              <a:lnSpc>
                <a:spcPct val="90000"/>
              </a:lnSpc>
            </a:pPr>
            <a:r>
              <a:rPr lang="en-US" sz="2400" smtClean="0"/>
              <a:t>Nếu là hằng: –2</a:t>
            </a:r>
            <a:r>
              <a:rPr lang="en-US" sz="2400" baseline="30000" smtClean="0"/>
              <a:t>15</a:t>
            </a:r>
            <a:r>
              <a:rPr lang="en-US" sz="2400" smtClean="0"/>
              <a:t> to +2</a:t>
            </a:r>
            <a:r>
              <a:rPr lang="en-US" sz="2400" baseline="30000" smtClean="0"/>
              <a:t>15</a:t>
            </a:r>
            <a:r>
              <a:rPr lang="en-US" sz="2400" smtClean="0"/>
              <a:t> – 1</a:t>
            </a:r>
          </a:p>
          <a:p>
            <a:pPr lvl="1">
              <a:lnSpc>
                <a:spcPct val="90000"/>
              </a:lnSpc>
            </a:pPr>
            <a:r>
              <a:rPr lang="en-US" sz="2400" smtClean="0"/>
              <a:t>Nếu là địa chỉ: Độ dời + địa chỉ cơ sỏ chứa trong rs</a:t>
            </a:r>
          </a:p>
          <a:p>
            <a:pPr>
              <a:lnSpc>
                <a:spcPct val="90000"/>
              </a:lnSpc>
            </a:pPr>
            <a:r>
              <a:rPr lang="en-US" sz="2800" i="1" u="sng" smtClean="0">
                <a:solidFill>
                  <a:srgbClr val="FF0000"/>
                </a:solidFill>
              </a:rPr>
              <a:t>Nguyên tắc thiết kế 4</a:t>
            </a:r>
            <a:r>
              <a:rPr lang="en-US" sz="2800" i="1" smtClean="0"/>
              <a:t>:</a:t>
            </a:r>
            <a:r>
              <a:rPr lang="en-US" sz="2800" smtClean="0"/>
              <a:t> Thiết kế tốt yêu cầu sự kết hợp hợp lý</a:t>
            </a:r>
          </a:p>
          <a:p>
            <a:pPr lvl="1">
              <a:lnSpc>
                <a:spcPct val="90000"/>
              </a:lnSpc>
            </a:pPr>
            <a:r>
              <a:rPr lang="en-US" sz="2400" smtClean="0"/>
              <a:t>Nhiều dạng lệnh làm phức tạp giải mã, nhưng cho phép lệnh chứa đồng nhất chỉ trong 32-bit</a:t>
            </a:r>
          </a:p>
          <a:p>
            <a:pPr lvl="1">
              <a:lnSpc>
                <a:spcPct val="90000"/>
              </a:lnSpc>
            </a:pPr>
            <a:r>
              <a:rPr lang="en-US" sz="2400" smtClean="0"/>
              <a:t>Giữ dạng lệnh càng giống nhau càng tốt</a:t>
            </a:r>
            <a:endParaRPr lang="en-US" sz="2400" dirty="0"/>
          </a:p>
        </p:txBody>
      </p:sp>
      <p:grpSp>
        <p:nvGrpSpPr>
          <p:cNvPr id="8" name="Group 4"/>
          <p:cNvGrpSpPr>
            <a:grpSpLocks/>
          </p:cNvGrpSpPr>
          <p:nvPr/>
        </p:nvGrpSpPr>
        <p:grpSpPr bwMode="auto">
          <a:xfrm>
            <a:off x="1331913" y="1412875"/>
            <a:ext cx="6913562" cy="773113"/>
            <a:chOff x="884" y="981"/>
            <a:chExt cx="4355" cy="487"/>
          </a:xfrm>
        </p:grpSpPr>
        <p:sp>
          <p:nvSpPr>
            <p:cNvPr id="9" name="Text Box 5"/>
            <p:cNvSpPr txBox="1">
              <a:spLocks noChangeArrowheads="1"/>
            </p:cNvSpPr>
            <p:nvPr/>
          </p:nvSpPr>
          <p:spPr bwMode="auto">
            <a:xfrm>
              <a:off x="884" y="981"/>
              <a:ext cx="817" cy="26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op</a:t>
              </a:r>
              <a:endParaRPr kumimoji="0" lang="en-AU" sz="20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Text Box 6"/>
            <p:cNvSpPr txBox="1">
              <a:spLocks noChangeArrowheads="1"/>
            </p:cNvSpPr>
            <p:nvPr/>
          </p:nvSpPr>
          <p:spPr bwMode="auto">
            <a:xfrm>
              <a:off x="1701" y="981"/>
              <a:ext cx="680" cy="26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rs</a:t>
              </a:r>
              <a:endParaRPr kumimoji="0" lang="en-AU" sz="20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Text Box 7"/>
            <p:cNvSpPr txBox="1">
              <a:spLocks noChangeArrowheads="1"/>
            </p:cNvSpPr>
            <p:nvPr/>
          </p:nvSpPr>
          <p:spPr bwMode="auto">
            <a:xfrm>
              <a:off x="2381" y="981"/>
              <a:ext cx="680" cy="26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rt</a:t>
              </a:r>
              <a:endParaRPr kumimoji="0" lang="en-AU" sz="20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3061" y="981"/>
              <a:ext cx="2178" cy="26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constant or address</a:t>
              </a:r>
              <a:endParaRPr kumimoji="0" lang="en-AU" sz="20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Text Box 9"/>
            <p:cNvSpPr txBox="1">
              <a:spLocks noChangeArrowheads="1"/>
            </p:cNvSpPr>
            <p:nvPr/>
          </p:nvSpPr>
          <p:spPr bwMode="auto">
            <a:xfrm>
              <a:off x="1067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6 bits</a:t>
              </a:r>
              <a:endParaRPr kumimoji="0" lang="en-AU" sz="16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Text Box 10"/>
            <p:cNvSpPr txBox="1">
              <a:spLocks noChangeArrowheads="1"/>
            </p:cNvSpPr>
            <p:nvPr/>
          </p:nvSpPr>
          <p:spPr bwMode="auto">
            <a:xfrm>
              <a:off x="1838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5 bits</a:t>
              </a:r>
              <a:endParaRPr kumimoji="0" lang="en-AU" sz="16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Text Box 11"/>
            <p:cNvSpPr txBox="1">
              <a:spLocks noChangeArrowheads="1"/>
            </p:cNvSpPr>
            <p:nvPr/>
          </p:nvSpPr>
          <p:spPr bwMode="auto">
            <a:xfrm>
              <a:off x="2519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5 bits</a:t>
              </a:r>
              <a:endParaRPr kumimoji="0" lang="en-AU" sz="16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Text Box 12"/>
            <p:cNvSpPr txBox="1">
              <a:spLocks noChangeArrowheads="1"/>
            </p:cNvSpPr>
            <p:nvPr/>
          </p:nvSpPr>
          <p:spPr bwMode="auto">
            <a:xfrm>
              <a:off x="3935" y="1256"/>
              <a:ext cx="49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16 bits</a:t>
              </a:r>
              <a:endParaRPr kumimoji="0" lang="en-AU" sz="16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4483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Tổ chức chương trình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27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3886200" y="1470991"/>
            <a:ext cx="5068888" cy="4661521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sz="2800" smtClean="0"/>
              <a:t>Lệnh được biểu diễn dạng nhị phân, giống như dữ liệu</a:t>
            </a:r>
            <a:endParaRPr lang="en-US" sz="2800" dirty="0"/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sz="2800" smtClean="0"/>
              <a:t>Lệnh và dữ liệu được lưu trong bộ nhớ</a:t>
            </a:r>
            <a:endParaRPr lang="en-US" sz="2800" dirty="0"/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sz="2800" smtClean="0"/>
              <a:t>Các chương trình có thể thực hiện trên các chương trình khác, ví dụ: </a:t>
            </a:r>
            <a:r>
              <a:rPr lang="en-US" sz="2400" smtClean="0"/>
              <a:t>compilers</a:t>
            </a:r>
            <a:r>
              <a:rPr lang="en-US" sz="2400" dirty="0"/>
              <a:t>, linkers, …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sz="2800" smtClean="0"/>
              <a:t>Tương thích nhị phân cho phép chương trình thực hiện trên các máy khác nhau </a:t>
            </a:r>
            <a:r>
              <a:rPr lang="en-US" sz="2800" smtClean="0">
                <a:sym typeface="Wingdings" pitchFamily="2" charset="2"/>
              </a:rPr>
              <a:t> ISA chuẩn</a:t>
            </a:r>
            <a:endParaRPr lang="en-AU" sz="2400" dirty="0"/>
          </a:p>
        </p:txBody>
      </p:sp>
      <p:pic>
        <p:nvPicPr>
          <p:cNvPr id="8" name="Picture 7" descr="f02-07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76400"/>
            <a:ext cx="2908300" cy="3846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9968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Tác tác vụ luận lý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28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Các lệnh xử lý bit</a:t>
            </a:r>
            <a:endParaRPr lang="en-AU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057400"/>
            <a:ext cx="7205663" cy="299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41"/>
          <p:cNvSpPr>
            <a:spLocks noChangeArrowheads="1"/>
          </p:cNvSpPr>
          <p:nvPr/>
        </p:nvSpPr>
        <p:spPr bwMode="auto">
          <a:xfrm>
            <a:off x="1072140" y="4999471"/>
            <a:ext cx="7772400" cy="107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3200" smtClean="0"/>
              <a:t>Có tác dụng rút trích hoặc thêm nhóm bit vào 1 từ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4194160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Các tác vụ dịch (shift)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29</a:t>
            </a:fld>
            <a:endParaRPr lang="vi-VN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84213" y="2349500"/>
            <a:ext cx="8270875" cy="3887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dirty="0" err="1" smtClean="0"/>
              <a:t>shamt</a:t>
            </a:r>
            <a:r>
              <a:rPr lang="en-US" smtClean="0"/>
              <a:t>: dịch vị trí các bits</a:t>
            </a:r>
            <a:endParaRPr lang="en-US" dirty="0" smtClean="0"/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smtClean="0"/>
              <a:t>Dịch trái</a:t>
            </a:r>
            <a:endParaRPr lang="en-US" dirty="0" smtClean="0"/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smtClean="0"/>
              <a:t>Dịch trái các bit </a:t>
            </a:r>
            <a:r>
              <a:rPr lang="en-US" i="1" smtClean="0"/>
              <a:t>n</a:t>
            </a:r>
            <a:r>
              <a:rPr lang="en-US" smtClean="0"/>
              <a:t> vị trí và gán </a:t>
            </a:r>
            <a:r>
              <a:rPr lang="en-US" i="1" smtClean="0"/>
              <a:t>n</a:t>
            </a:r>
            <a:r>
              <a:rPr lang="en-US" smtClean="0"/>
              <a:t> bit bên phải giá trị 0</a:t>
            </a:r>
            <a:endParaRPr lang="en-US" dirty="0" smtClean="0"/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err="1" smtClean="0">
                <a:latin typeface="Lucida Console" pitchFamily="49" charset="0"/>
              </a:rPr>
              <a:t>sll</a:t>
            </a:r>
            <a:r>
              <a:rPr lang="en-US" smtClean="0"/>
              <a:t> bởi </a:t>
            </a:r>
            <a:r>
              <a:rPr lang="en-US" i="1" dirty="0" smtClean="0"/>
              <a:t>i</a:t>
            </a:r>
            <a:r>
              <a:rPr lang="en-US" dirty="0" smtClean="0"/>
              <a:t> </a:t>
            </a:r>
            <a:r>
              <a:rPr lang="en-US" smtClean="0"/>
              <a:t>bits có nghĩa nhân </a:t>
            </a:r>
            <a:r>
              <a:rPr lang="en-US" dirty="0" smtClean="0"/>
              <a:t>2</a:t>
            </a:r>
            <a:r>
              <a:rPr lang="en-US" i="1" baseline="30000" dirty="0" smtClean="0"/>
              <a:t>i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smtClean="0"/>
              <a:t>Dịch phải</a:t>
            </a:r>
            <a:endParaRPr lang="en-US" dirty="0" smtClean="0"/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smtClean="0"/>
              <a:t>Dịch phải các bit </a:t>
            </a:r>
            <a:r>
              <a:rPr lang="en-US" i="1" smtClean="0"/>
              <a:t>n</a:t>
            </a:r>
            <a:r>
              <a:rPr lang="en-US" smtClean="0"/>
              <a:t> vị trí và gán </a:t>
            </a:r>
            <a:r>
              <a:rPr lang="en-US" i="1" smtClean="0"/>
              <a:t>n</a:t>
            </a:r>
            <a:r>
              <a:rPr lang="en-US" smtClean="0"/>
              <a:t> bit bên trái giá trị 0</a:t>
            </a: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smtClean="0">
                <a:latin typeface="Lucida Console" pitchFamily="49" charset="0"/>
              </a:rPr>
              <a:t>srl</a:t>
            </a:r>
            <a:r>
              <a:rPr lang="en-US" smtClean="0"/>
              <a:t> bởi </a:t>
            </a:r>
            <a:r>
              <a:rPr lang="en-US" i="1" dirty="0" smtClean="0"/>
              <a:t>i</a:t>
            </a:r>
            <a:r>
              <a:rPr lang="en-US" dirty="0" smtClean="0"/>
              <a:t> </a:t>
            </a:r>
            <a:r>
              <a:rPr lang="en-US" smtClean="0"/>
              <a:t>bits có nghĩa chia 2</a:t>
            </a:r>
            <a:r>
              <a:rPr lang="en-US" i="1" baseline="30000" smtClean="0"/>
              <a:t>i</a:t>
            </a:r>
            <a:r>
              <a:rPr lang="en-US" smtClean="0"/>
              <a:t> (chỉ không dấu)</a:t>
            </a:r>
            <a:endParaRPr lang="en-AU" dirty="0"/>
          </a:p>
        </p:txBody>
      </p:sp>
      <p:grpSp>
        <p:nvGrpSpPr>
          <p:cNvPr id="8" name="Group 4"/>
          <p:cNvGrpSpPr>
            <a:grpSpLocks/>
          </p:cNvGrpSpPr>
          <p:nvPr/>
        </p:nvGrpSpPr>
        <p:grpSpPr bwMode="auto">
          <a:xfrm>
            <a:off x="1403350" y="1557338"/>
            <a:ext cx="6913563" cy="773112"/>
            <a:chOff x="703" y="981"/>
            <a:chExt cx="4355" cy="487"/>
          </a:xfrm>
        </p:grpSpPr>
        <p:sp>
          <p:nvSpPr>
            <p:cNvPr id="9" name="Text Box 5"/>
            <p:cNvSpPr txBox="1">
              <a:spLocks noChangeArrowheads="1"/>
            </p:cNvSpPr>
            <p:nvPr/>
          </p:nvSpPr>
          <p:spPr bwMode="auto">
            <a:xfrm>
              <a:off x="703" y="981"/>
              <a:ext cx="817" cy="26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op</a:t>
              </a:r>
              <a:endParaRPr kumimoji="0" lang="en-AU" sz="20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Text Box 6"/>
            <p:cNvSpPr txBox="1">
              <a:spLocks noChangeArrowheads="1"/>
            </p:cNvSpPr>
            <p:nvPr/>
          </p:nvSpPr>
          <p:spPr bwMode="auto">
            <a:xfrm>
              <a:off x="1520" y="981"/>
              <a:ext cx="680" cy="26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rs</a:t>
              </a:r>
              <a:endParaRPr kumimoji="0" lang="en-AU" sz="20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Text Box 7"/>
            <p:cNvSpPr txBox="1">
              <a:spLocks noChangeArrowheads="1"/>
            </p:cNvSpPr>
            <p:nvPr/>
          </p:nvSpPr>
          <p:spPr bwMode="auto">
            <a:xfrm>
              <a:off x="2200" y="981"/>
              <a:ext cx="680" cy="26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rt</a:t>
              </a:r>
              <a:endParaRPr kumimoji="0" lang="en-AU" sz="20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2880" y="981"/>
              <a:ext cx="680" cy="26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rd</a:t>
              </a:r>
              <a:endParaRPr kumimoji="0" lang="en-AU" sz="20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Text Box 9"/>
            <p:cNvSpPr txBox="1">
              <a:spLocks noChangeArrowheads="1"/>
            </p:cNvSpPr>
            <p:nvPr/>
          </p:nvSpPr>
          <p:spPr bwMode="auto">
            <a:xfrm>
              <a:off x="3561" y="981"/>
              <a:ext cx="680" cy="26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shamt</a:t>
              </a:r>
              <a:endParaRPr kumimoji="0" lang="en-AU" sz="20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Text Box 10"/>
            <p:cNvSpPr txBox="1">
              <a:spLocks noChangeArrowheads="1"/>
            </p:cNvSpPr>
            <p:nvPr/>
          </p:nvSpPr>
          <p:spPr bwMode="auto">
            <a:xfrm>
              <a:off x="4241" y="981"/>
              <a:ext cx="817" cy="26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funct</a:t>
              </a:r>
              <a:endParaRPr kumimoji="0" lang="en-AU" sz="20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Text Box 11"/>
            <p:cNvSpPr txBox="1">
              <a:spLocks noChangeArrowheads="1"/>
            </p:cNvSpPr>
            <p:nvPr/>
          </p:nvSpPr>
          <p:spPr bwMode="auto">
            <a:xfrm>
              <a:off x="886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6 bits</a:t>
              </a:r>
              <a:endParaRPr kumimoji="0" lang="en-AU" sz="16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Text Box 12"/>
            <p:cNvSpPr txBox="1">
              <a:spLocks noChangeArrowheads="1"/>
            </p:cNvSpPr>
            <p:nvPr/>
          </p:nvSpPr>
          <p:spPr bwMode="auto">
            <a:xfrm>
              <a:off x="4424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6 bits</a:t>
              </a:r>
              <a:endParaRPr kumimoji="0" lang="en-AU" sz="16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Text Box 13"/>
            <p:cNvSpPr txBox="1">
              <a:spLocks noChangeArrowheads="1"/>
            </p:cNvSpPr>
            <p:nvPr/>
          </p:nvSpPr>
          <p:spPr bwMode="auto">
            <a:xfrm>
              <a:off x="1657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5 bits</a:t>
              </a:r>
              <a:endParaRPr kumimoji="0" lang="en-AU" sz="16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Text Box 14"/>
            <p:cNvSpPr txBox="1">
              <a:spLocks noChangeArrowheads="1"/>
            </p:cNvSpPr>
            <p:nvPr/>
          </p:nvSpPr>
          <p:spPr bwMode="auto">
            <a:xfrm>
              <a:off x="2338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5 bits</a:t>
              </a:r>
              <a:endParaRPr kumimoji="0" lang="en-AU" sz="16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Text Box 15"/>
            <p:cNvSpPr txBox="1">
              <a:spLocks noChangeArrowheads="1"/>
            </p:cNvSpPr>
            <p:nvPr/>
          </p:nvSpPr>
          <p:spPr bwMode="auto">
            <a:xfrm>
              <a:off x="3018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5 bits</a:t>
              </a:r>
              <a:endParaRPr kumimoji="0" lang="en-AU" sz="16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Text Box 16"/>
            <p:cNvSpPr txBox="1">
              <a:spLocks noChangeArrowheads="1"/>
            </p:cNvSpPr>
            <p:nvPr/>
          </p:nvSpPr>
          <p:spPr bwMode="auto">
            <a:xfrm>
              <a:off x="3698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5 bits</a:t>
              </a:r>
              <a:endParaRPr kumimoji="0" lang="en-AU" sz="16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53373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Tác vụ “VÀ” (AND)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30</a:t>
            </a:fld>
            <a:endParaRPr lang="vi-VN"/>
          </a:p>
        </p:txBody>
      </p:sp>
      <p:sp>
        <p:nvSpPr>
          <p:cNvPr id="7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Dùng để đánh dấu các bits trong 1 từ</a:t>
            </a:r>
            <a:endParaRPr lang="en-US" dirty="0"/>
          </a:p>
          <a:p>
            <a:pPr lvl="1"/>
            <a:r>
              <a:rPr lang="en-US" smtClean="0"/>
              <a:t>Chọn một số bits, xóa số còn lại về 0</a:t>
            </a:r>
            <a:endParaRPr lang="en-US" dirty="0"/>
          </a:p>
          <a:p>
            <a:pPr>
              <a:spcBef>
                <a:spcPct val="50000"/>
              </a:spcBef>
              <a:spcAft>
                <a:spcPct val="30000"/>
              </a:spcAft>
              <a:buFont typeface="Wingdings" pitchFamily="2" charset="2"/>
              <a:buNone/>
            </a:pPr>
            <a:r>
              <a:rPr lang="en-US" sz="2800" dirty="0">
                <a:latin typeface="Lucida Console" pitchFamily="49" charset="0"/>
              </a:rPr>
              <a:t>	and $t0, $t1, $t2</a:t>
            </a:r>
            <a:endParaRPr lang="en-AU" sz="2800" dirty="0">
              <a:latin typeface="Lucida Console" pitchFamily="49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909" y="3507077"/>
            <a:ext cx="5932487" cy="174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1005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Tác vụ “hoặc” (OR)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31</a:t>
            </a:fld>
            <a:endParaRPr lang="vi-VN"/>
          </a:p>
        </p:txBody>
      </p:sp>
      <p:sp>
        <p:nvSpPr>
          <p:cNvPr id="7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Thêm 1 số bit vào 1 từ</a:t>
            </a:r>
            <a:endParaRPr lang="en-US" dirty="0"/>
          </a:p>
          <a:p>
            <a:pPr lvl="1"/>
            <a:r>
              <a:rPr lang="en-US" smtClean="0"/>
              <a:t>Gán giá trị 1 nhóm bit thành 1 trong khi giữ nguyên giá trị các bit còn lại</a:t>
            </a:r>
          </a:p>
          <a:p>
            <a:pPr>
              <a:spcBef>
                <a:spcPct val="50000"/>
              </a:spcBef>
              <a:spcAft>
                <a:spcPct val="30000"/>
              </a:spcAft>
              <a:buFont typeface="Wingdings" pitchFamily="2" charset="2"/>
              <a:buNone/>
            </a:pPr>
            <a:r>
              <a:rPr lang="en-US" sz="2800" smtClean="0">
                <a:latin typeface="Lucida Console" pitchFamily="49" charset="0"/>
              </a:rPr>
              <a:t>	</a:t>
            </a:r>
            <a:r>
              <a:rPr lang="en-US" sz="2800" b="1" smtClean="0">
                <a:latin typeface="Lucida Console" pitchFamily="49" charset="0"/>
              </a:rPr>
              <a:t>or $t0, $t1, $t2</a:t>
            </a:r>
            <a:endParaRPr lang="en-AU" sz="2800" b="1" dirty="0">
              <a:latin typeface="Lucida Console" pitchFamily="49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2606" y="4038600"/>
            <a:ext cx="5913437" cy="174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029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Các tác vụ “Not”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32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Có tác dụng đảo giá trị các bit trong 1 từ: đổi 0 thành 1</a:t>
            </a:r>
            <a:r>
              <a:rPr lang="en-US"/>
              <a:t>, </a:t>
            </a:r>
            <a:r>
              <a:rPr lang="en-US" smtClean="0"/>
              <a:t>và </a:t>
            </a:r>
            <a:r>
              <a:rPr lang="en-US"/>
              <a:t>1 </a:t>
            </a:r>
            <a:r>
              <a:rPr lang="en-US" smtClean="0"/>
              <a:t>thành </a:t>
            </a:r>
            <a:r>
              <a:rPr lang="en-US" dirty="0"/>
              <a:t>0</a:t>
            </a:r>
          </a:p>
          <a:p>
            <a:r>
              <a:rPr lang="en-US"/>
              <a:t>MIPS </a:t>
            </a:r>
            <a:r>
              <a:rPr lang="en-US" smtClean="0"/>
              <a:t>có toán tử </a:t>
            </a:r>
            <a:r>
              <a:rPr lang="en-US"/>
              <a:t>NOR </a:t>
            </a:r>
            <a:r>
              <a:rPr lang="en-US" smtClean="0"/>
              <a:t>với 3 toán hạng</a:t>
            </a:r>
            <a:endParaRPr lang="en-US" dirty="0"/>
          </a:p>
          <a:p>
            <a:pPr lvl="1"/>
            <a:r>
              <a:rPr lang="en-US" dirty="0"/>
              <a:t>a NOR b == NOT ( a OR b )</a:t>
            </a:r>
          </a:p>
          <a:p>
            <a:pPr>
              <a:spcBef>
                <a:spcPct val="50000"/>
              </a:spcBef>
              <a:spcAft>
                <a:spcPct val="30000"/>
              </a:spcAft>
              <a:buFont typeface="Wingdings" pitchFamily="2" charset="2"/>
              <a:buNone/>
            </a:pPr>
            <a:r>
              <a:rPr lang="en-US" sz="2800" dirty="0">
                <a:latin typeface="Lucida Console" pitchFamily="49" charset="0"/>
              </a:rPr>
              <a:t>	nor $t0, $t1, $zero</a:t>
            </a:r>
            <a:endParaRPr lang="en-AU" sz="2800" dirty="0">
              <a:latin typeface="Lucida Console" pitchFamily="49" charset="0"/>
            </a:endParaRPr>
          </a:p>
        </p:txBody>
      </p:sp>
      <p:sp>
        <p:nvSpPr>
          <p:cNvPr id="9" name="AutoShape 8"/>
          <p:cNvSpPr>
            <a:spLocks/>
          </p:cNvSpPr>
          <p:nvPr/>
        </p:nvSpPr>
        <p:spPr bwMode="auto">
          <a:xfrm>
            <a:off x="7162800" y="3733800"/>
            <a:ext cx="1981200" cy="1046018"/>
          </a:xfrm>
          <a:prstGeom prst="borderCallout1">
            <a:avLst>
              <a:gd name="adj1" fmla="val 18750"/>
              <a:gd name="adj2" fmla="val -3657"/>
              <a:gd name="adj3" fmla="val 26301"/>
              <a:gd name="adj4" fmla="val -7547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/>
              <a:t>Register 0: always read as zero</a:t>
            </a:r>
            <a:endParaRPr lang="en-AU"/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1924050" y="4586288"/>
            <a:ext cx="5203825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0000 0000 0000 0000 0011 1100 0000 0000</a:t>
            </a:r>
            <a:endParaRPr kumimoji="0" lang="en-AU" sz="20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1287463" y="4586288"/>
            <a:ext cx="536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$t1</a:t>
            </a:r>
            <a:endParaRPr kumimoji="0" lang="en-AU" sz="20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1924050" y="5233988"/>
            <a:ext cx="5203825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1111 1111 1111 1111 1100 0011 1111 1111</a:t>
            </a:r>
            <a:endParaRPr kumimoji="0" lang="en-AU" sz="20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1287463" y="5233988"/>
            <a:ext cx="536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$t0</a:t>
            </a:r>
            <a:endParaRPr kumimoji="0" lang="en-AU" sz="20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975380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Các tác vụ điều kiện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33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1905000"/>
            <a:ext cx="7772400" cy="424400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smtClean="0"/>
              <a:t>Rẽ nhánh đến 1 lệnh có nhãn, nếu điều kiện thỏa</a:t>
            </a:r>
            <a:endParaRPr lang="en-US" sz="2800" dirty="0"/>
          </a:p>
          <a:p>
            <a:pPr lvl="1">
              <a:lnSpc>
                <a:spcPct val="90000"/>
              </a:lnSpc>
            </a:pPr>
            <a:r>
              <a:rPr lang="en-US" sz="2400" smtClean="0"/>
              <a:t>Nếu không thỏa, tiếp tục</a:t>
            </a: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800" dirty="0" err="1">
                <a:latin typeface="Lucida Console" pitchFamily="49" charset="0"/>
              </a:rPr>
              <a:t>beq</a:t>
            </a:r>
            <a:r>
              <a:rPr lang="en-US" sz="2800" dirty="0">
                <a:latin typeface="Lucida Console" pitchFamily="49" charset="0"/>
              </a:rPr>
              <a:t> </a:t>
            </a:r>
            <a:r>
              <a:rPr lang="en-US" sz="2800" dirty="0" err="1">
                <a:latin typeface="Lucida Console" pitchFamily="49" charset="0"/>
              </a:rPr>
              <a:t>rs</a:t>
            </a:r>
            <a:r>
              <a:rPr lang="en-US" sz="2800" dirty="0">
                <a:latin typeface="Lucida Console" pitchFamily="49" charset="0"/>
              </a:rPr>
              <a:t>, </a:t>
            </a:r>
            <a:r>
              <a:rPr lang="en-US" sz="2800" dirty="0" err="1">
                <a:latin typeface="Lucida Console" pitchFamily="49" charset="0"/>
              </a:rPr>
              <a:t>rt</a:t>
            </a:r>
            <a:r>
              <a:rPr lang="en-US" sz="2800" dirty="0">
                <a:latin typeface="Lucida Console" pitchFamily="49" charset="0"/>
              </a:rPr>
              <a:t>, L1</a:t>
            </a:r>
          </a:p>
          <a:p>
            <a:pPr lvl="1">
              <a:lnSpc>
                <a:spcPct val="90000"/>
              </a:lnSpc>
            </a:pPr>
            <a:r>
              <a:rPr lang="en-US" sz="2400" smtClean="0"/>
              <a:t>Nếu (rs </a:t>
            </a:r>
            <a:r>
              <a:rPr lang="en-US" sz="2400" dirty="0"/>
              <a:t>== </a:t>
            </a:r>
            <a:r>
              <a:rPr lang="en-US" sz="2400" err="1"/>
              <a:t>rt</a:t>
            </a:r>
            <a:r>
              <a:rPr lang="en-US" sz="2400" smtClean="0"/>
              <a:t>), nhảy đến lệnh có nhãn </a:t>
            </a:r>
            <a:r>
              <a:rPr lang="en-US" sz="2400" dirty="0"/>
              <a:t>L1;</a:t>
            </a:r>
          </a:p>
          <a:p>
            <a:pPr>
              <a:lnSpc>
                <a:spcPct val="90000"/>
              </a:lnSpc>
            </a:pPr>
            <a:r>
              <a:rPr lang="en-US" sz="2800" dirty="0" err="1">
                <a:latin typeface="Lucida Console" pitchFamily="49" charset="0"/>
              </a:rPr>
              <a:t>bne</a:t>
            </a:r>
            <a:r>
              <a:rPr lang="en-US" sz="2800" dirty="0">
                <a:latin typeface="Lucida Console" pitchFamily="49" charset="0"/>
              </a:rPr>
              <a:t> </a:t>
            </a:r>
            <a:r>
              <a:rPr lang="en-US" sz="2800" dirty="0" err="1">
                <a:latin typeface="Lucida Console" pitchFamily="49" charset="0"/>
              </a:rPr>
              <a:t>rs</a:t>
            </a:r>
            <a:r>
              <a:rPr lang="en-US" sz="2800" dirty="0">
                <a:latin typeface="Lucida Console" pitchFamily="49" charset="0"/>
              </a:rPr>
              <a:t>, </a:t>
            </a:r>
            <a:r>
              <a:rPr lang="en-US" sz="2800" dirty="0" err="1">
                <a:latin typeface="Lucida Console" pitchFamily="49" charset="0"/>
              </a:rPr>
              <a:t>rt</a:t>
            </a:r>
            <a:r>
              <a:rPr lang="en-US" sz="2800" dirty="0">
                <a:latin typeface="Lucida Console" pitchFamily="49" charset="0"/>
              </a:rPr>
              <a:t>, L1</a:t>
            </a:r>
          </a:p>
          <a:p>
            <a:pPr lvl="1">
              <a:lnSpc>
                <a:spcPct val="90000"/>
              </a:lnSpc>
            </a:pPr>
            <a:r>
              <a:rPr lang="en-US" sz="2400" smtClean="0"/>
              <a:t>Nếu </a:t>
            </a:r>
            <a:r>
              <a:rPr lang="en-US" sz="2400" dirty="0"/>
              <a:t>(</a:t>
            </a:r>
            <a:r>
              <a:rPr lang="en-US" sz="2400" dirty="0" err="1"/>
              <a:t>rs</a:t>
            </a:r>
            <a:r>
              <a:rPr lang="en-US" sz="2400" dirty="0"/>
              <a:t> != </a:t>
            </a:r>
            <a:r>
              <a:rPr lang="en-US" sz="2400" err="1"/>
              <a:t>rt</a:t>
            </a:r>
            <a:r>
              <a:rPr lang="en-US" sz="2400" smtClean="0"/>
              <a:t>), nhảy đến lệnh có nhãn </a:t>
            </a:r>
            <a:r>
              <a:rPr lang="en-US" sz="2400" dirty="0"/>
              <a:t>L1;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Lucida Console" pitchFamily="49" charset="0"/>
              </a:rPr>
              <a:t>j L1</a:t>
            </a:r>
          </a:p>
          <a:p>
            <a:pPr lvl="1">
              <a:lnSpc>
                <a:spcPct val="90000"/>
              </a:lnSpc>
            </a:pPr>
            <a:r>
              <a:rPr lang="en-US" sz="2400" smtClean="0"/>
              <a:t>Nhảy vô điều kiện đến lệnh có nhãn </a:t>
            </a:r>
            <a:r>
              <a:rPr lang="en-US" sz="2400" dirty="0"/>
              <a:t>L1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568589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Biên dịch các phát biểu if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34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1182688" y="1302327"/>
            <a:ext cx="7772400" cy="483018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C code:</a:t>
            </a:r>
          </a:p>
          <a:p>
            <a:pPr>
              <a:lnSpc>
                <a:spcPct val="90000"/>
              </a:lnSpc>
              <a:spcBef>
                <a:spcPct val="50000"/>
              </a:spcBef>
              <a:spcAft>
                <a:spcPct val="30000"/>
              </a:spcAft>
              <a:buFont typeface="Wingdings" pitchFamily="2" charset="2"/>
              <a:buNone/>
            </a:pPr>
            <a:r>
              <a:rPr lang="en-US" sz="2800" dirty="0">
                <a:latin typeface="Lucida Console" pitchFamily="49" charset="0"/>
              </a:rPr>
              <a:t>	if (i==j) f = </a:t>
            </a:r>
            <a:r>
              <a:rPr lang="en-US" sz="2800" dirty="0" err="1">
                <a:latin typeface="Lucida Console" pitchFamily="49" charset="0"/>
              </a:rPr>
              <a:t>g+h</a:t>
            </a:r>
            <a:r>
              <a:rPr lang="en-US" sz="2800" dirty="0">
                <a:latin typeface="Lucida Console" pitchFamily="49" charset="0"/>
              </a:rPr>
              <a:t>;</a:t>
            </a:r>
            <a:br>
              <a:rPr lang="en-US" sz="2800" dirty="0">
                <a:latin typeface="Lucida Console" pitchFamily="49" charset="0"/>
              </a:rPr>
            </a:br>
            <a:r>
              <a:rPr lang="en-US" sz="2800" dirty="0">
                <a:latin typeface="Lucida Console" pitchFamily="49" charset="0"/>
              </a:rPr>
              <a:t>else f = g-h;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f, g, </a:t>
            </a:r>
            <a:r>
              <a:rPr lang="en-US"/>
              <a:t>… </a:t>
            </a:r>
            <a:r>
              <a:rPr lang="en-US" smtClean="0"/>
              <a:t>chứa trong </a:t>
            </a:r>
            <a:r>
              <a:rPr lang="en-US" dirty="0"/>
              <a:t>$s0, $s1, …</a:t>
            </a:r>
          </a:p>
          <a:p>
            <a:pPr>
              <a:lnSpc>
                <a:spcPct val="90000"/>
              </a:lnSpc>
            </a:pPr>
            <a:r>
              <a:rPr lang="en-US" smtClean="0"/>
              <a:t>Sau khi biên dịch thành </a:t>
            </a:r>
            <a:r>
              <a:rPr lang="en-US" dirty="0"/>
              <a:t>MIPS code:</a:t>
            </a:r>
          </a:p>
          <a:p>
            <a:pPr>
              <a:lnSpc>
                <a:spcPct val="90000"/>
              </a:lnSpc>
              <a:spcBef>
                <a:spcPct val="50000"/>
              </a:spcBef>
              <a:spcAft>
                <a:spcPct val="30000"/>
              </a:spcAft>
              <a:buFont typeface="Wingdings" pitchFamily="2" charset="2"/>
              <a:buNone/>
            </a:pPr>
            <a:r>
              <a:rPr lang="en-US" sz="2800" dirty="0">
                <a:latin typeface="Lucida Console" pitchFamily="49" charset="0"/>
              </a:rPr>
              <a:t>	      </a:t>
            </a:r>
            <a:r>
              <a:rPr lang="en-US" sz="2800" dirty="0" err="1">
                <a:latin typeface="Lucida Console" pitchFamily="49" charset="0"/>
              </a:rPr>
              <a:t>bne</a:t>
            </a:r>
            <a:r>
              <a:rPr lang="en-US" sz="2800" dirty="0">
                <a:latin typeface="Lucida Console" pitchFamily="49" charset="0"/>
              </a:rPr>
              <a:t> $s3, $s4, Else</a:t>
            </a:r>
            <a:br>
              <a:rPr lang="en-US" sz="2800" dirty="0">
                <a:latin typeface="Lucida Console" pitchFamily="49" charset="0"/>
              </a:rPr>
            </a:br>
            <a:r>
              <a:rPr lang="en-US" sz="2800" dirty="0">
                <a:latin typeface="Lucida Console" pitchFamily="49" charset="0"/>
              </a:rPr>
              <a:t>      add $s0, $s1, $s2</a:t>
            </a:r>
            <a:br>
              <a:rPr lang="en-US" sz="2800" dirty="0">
                <a:latin typeface="Lucida Console" pitchFamily="49" charset="0"/>
              </a:rPr>
            </a:br>
            <a:r>
              <a:rPr lang="en-US" sz="2800" dirty="0">
                <a:latin typeface="Lucida Console" pitchFamily="49" charset="0"/>
              </a:rPr>
              <a:t>      j   Exit</a:t>
            </a:r>
            <a:br>
              <a:rPr lang="en-US" sz="2800" dirty="0">
                <a:latin typeface="Lucida Console" pitchFamily="49" charset="0"/>
              </a:rPr>
            </a:br>
            <a:r>
              <a:rPr lang="en-US" sz="2800" dirty="0">
                <a:latin typeface="Lucida Console" pitchFamily="49" charset="0"/>
              </a:rPr>
              <a:t>Else: sub $s0, $s1, $s2</a:t>
            </a:r>
            <a:br>
              <a:rPr lang="en-US" sz="2800" dirty="0">
                <a:latin typeface="Lucida Console" pitchFamily="49" charset="0"/>
              </a:rPr>
            </a:br>
            <a:r>
              <a:rPr lang="en-US" sz="2800" dirty="0">
                <a:latin typeface="Lucida Console" pitchFamily="49" charset="0"/>
              </a:rPr>
              <a:t>Exit: …</a:t>
            </a:r>
            <a:endParaRPr lang="en-AU" sz="2800" dirty="0">
              <a:latin typeface="Lucida Console" pitchFamily="49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325346"/>
            <a:ext cx="3468687" cy="2109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5715000"/>
            <a:ext cx="5005387" cy="77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42798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smtClean="0">
                <a:solidFill>
                  <a:srgbClr val="0039A6"/>
                </a:solidFill>
                <a:latin typeface="Arial"/>
              </a:rPr>
              <a:t>Biên dịch các phát biểu Loop</a:t>
            </a:r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35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1182688" y="1295401"/>
            <a:ext cx="7772400" cy="4786744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dirty="0"/>
              <a:t>C code: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ct val="30000"/>
              </a:spcAft>
              <a:buFont typeface="Wingdings" pitchFamily="2" charset="2"/>
              <a:buNone/>
            </a:pPr>
            <a:r>
              <a:rPr lang="en-US" sz="2800" dirty="0">
                <a:latin typeface="Lucida Console" pitchFamily="49" charset="0"/>
              </a:rPr>
              <a:t>	while (save[i] == k) i += 1;</a:t>
            </a:r>
          </a:p>
          <a:p>
            <a:pPr lvl="1">
              <a:lnSpc>
                <a:spcPct val="80000"/>
              </a:lnSpc>
              <a:spcBef>
                <a:spcPts val="0"/>
              </a:spcBef>
            </a:pPr>
            <a:r>
              <a:rPr lang="en-US"/>
              <a:t>i </a:t>
            </a:r>
            <a:r>
              <a:rPr lang="en-US" smtClean="0"/>
              <a:t>chứa trong </a:t>
            </a:r>
            <a:r>
              <a:rPr lang="en-US" dirty="0"/>
              <a:t>$s3, </a:t>
            </a:r>
            <a:r>
              <a:rPr lang="en-US"/>
              <a:t>k </a:t>
            </a:r>
            <a:r>
              <a:rPr lang="en-US" smtClean="0"/>
              <a:t>trong </a:t>
            </a:r>
            <a:r>
              <a:rPr lang="en-US" dirty="0"/>
              <a:t>$s5</a:t>
            </a:r>
            <a:r>
              <a:rPr lang="en-US"/>
              <a:t>, </a:t>
            </a:r>
            <a:r>
              <a:rPr lang="en-US" smtClean="0"/>
              <a:t>địa chỉ của </a:t>
            </a:r>
            <a:r>
              <a:rPr lang="en-US"/>
              <a:t>save </a:t>
            </a:r>
            <a:r>
              <a:rPr lang="en-US" smtClean="0"/>
              <a:t>chứa trong </a:t>
            </a:r>
            <a:r>
              <a:rPr lang="en-US"/>
              <a:t>$</a:t>
            </a:r>
            <a:r>
              <a:rPr lang="en-US" smtClean="0"/>
              <a:t>s6</a:t>
            </a:r>
          </a:p>
          <a:p>
            <a:pPr marL="457200" lvl="1" indent="0">
              <a:lnSpc>
                <a:spcPct val="80000"/>
              </a:lnSpc>
              <a:spcBef>
                <a:spcPts val="0"/>
              </a:spcBef>
              <a:buNone/>
            </a:pPr>
            <a:endParaRPr lang="en-US" dirty="0"/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smtClean="0"/>
              <a:t>Sau khi biên dịch thành MIPS </a:t>
            </a:r>
            <a:r>
              <a:rPr lang="en-US" dirty="0"/>
              <a:t>code: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ct val="30000"/>
              </a:spcAft>
              <a:buFont typeface="Wingdings" pitchFamily="2" charset="2"/>
              <a:buNone/>
            </a:pPr>
            <a:r>
              <a:rPr lang="en-US" sz="2800" dirty="0">
                <a:latin typeface="Lucida Console" pitchFamily="49" charset="0"/>
              </a:rPr>
              <a:t>	Loop: </a:t>
            </a:r>
            <a:r>
              <a:rPr lang="en-US" sz="2800" dirty="0" err="1">
                <a:latin typeface="Lucida Console" pitchFamily="49" charset="0"/>
              </a:rPr>
              <a:t>sll</a:t>
            </a:r>
            <a:r>
              <a:rPr lang="en-US" sz="2800" dirty="0">
                <a:latin typeface="Lucida Console" pitchFamily="49" charset="0"/>
              </a:rPr>
              <a:t>  $t1, $s3, 2</a:t>
            </a:r>
            <a:br>
              <a:rPr lang="en-US" sz="2800" dirty="0">
                <a:latin typeface="Lucida Console" pitchFamily="49" charset="0"/>
              </a:rPr>
            </a:br>
            <a:r>
              <a:rPr lang="en-US" sz="2800" dirty="0">
                <a:latin typeface="Lucida Console" pitchFamily="49" charset="0"/>
              </a:rPr>
              <a:t>      add  $t1, $t1, $s6</a:t>
            </a:r>
            <a:br>
              <a:rPr lang="en-US" sz="2800" dirty="0">
                <a:latin typeface="Lucida Console" pitchFamily="49" charset="0"/>
              </a:rPr>
            </a:br>
            <a:r>
              <a:rPr lang="en-US" sz="2800" dirty="0">
                <a:latin typeface="Lucida Console" pitchFamily="49" charset="0"/>
              </a:rPr>
              <a:t>      </a:t>
            </a:r>
            <a:r>
              <a:rPr lang="en-US" sz="2800" dirty="0" err="1">
                <a:latin typeface="Lucida Console" pitchFamily="49" charset="0"/>
              </a:rPr>
              <a:t>lw</a:t>
            </a:r>
            <a:r>
              <a:rPr lang="en-US" sz="2800" dirty="0">
                <a:latin typeface="Lucida Console" pitchFamily="49" charset="0"/>
              </a:rPr>
              <a:t>   $t0, 0($t1)</a:t>
            </a:r>
            <a:br>
              <a:rPr lang="en-US" sz="2800" dirty="0">
                <a:latin typeface="Lucida Console" pitchFamily="49" charset="0"/>
              </a:rPr>
            </a:br>
            <a:r>
              <a:rPr lang="en-US" sz="2800" dirty="0">
                <a:latin typeface="Lucida Console" pitchFamily="49" charset="0"/>
              </a:rPr>
              <a:t>      </a:t>
            </a:r>
            <a:r>
              <a:rPr lang="en-US" sz="2800" dirty="0" err="1">
                <a:latin typeface="Lucida Console" pitchFamily="49" charset="0"/>
              </a:rPr>
              <a:t>bne</a:t>
            </a:r>
            <a:r>
              <a:rPr lang="en-US" sz="2800" dirty="0">
                <a:latin typeface="Lucida Console" pitchFamily="49" charset="0"/>
              </a:rPr>
              <a:t>  $t0, $s5, Exit</a:t>
            </a:r>
            <a:br>
              <a:rPr lang="en-US" sz="2800" dirty="0">
                <a:latin typeface="Lucida Console" pitchFamily="49" charset="0"/>
              </a:rPr>
            </a:br>
            <a:r>
              <a:rPr lang="en-US" sz="2800" dirty="0">
                <a:latin typeface="Lucida Console" pitchFamily="49" charset="0"/>
              </a:rPr>
              <a:t>      </a:t>
            </a:r>
            <a:r>
              <a:rPr lang="en-US" sz="2800" dirty="0" err="1">
                <a:latin typeface="Lucida Console" pitchFamily="49" charset="0"/>
              </a:rPr>
              <a:t>addi</a:t>
            </a:r>
            <a:r>
              <a:rPr lang="en-US" sz="2800" dirty="0">
                <a:latin typeface="Lucida Console" pitchFamily="49" charset="0"/>
              </a:rPr>
              <a:t> $s3, $s3, 1</a:t>
            </a:r>
            <a:br>
              <a:rPr lang="en-US" sz="2800" dirty="0">
                <a:latin typeface="Lucida Console" pitchFamily="49" charset="0"/>
              </a:rPr>
            </a:br>
            <a:r>
              <a:rPr lang="en-US" sz="2800" dirty="0">
                <a:latin typeface="Lucida Console" pitchFamily="49" charset="0"/>
              </a:rPr>
              <a:t>      j    Loop</a:t>
            </a:r>
            <a:br>
              <a:rPr lang="en-US" sz="2800" dirty="0">
                <a:latin typeface="Lucida Console" pitchFamily="49" charset="0"/>
              </a:rPr>
            </a:br>
            <a:r>
              <a:rPr lang="en-US" sz="2800" dirty="0">
                <a:latin typeface="Lucida Console" pitchFamily="49" charset="0"/>
              </a:rPr>
              <a:t>Exit: …</a:t>
            </a:r>
            <a:endParaRPr lang="en-AU" sz="2800" dirty="0">
              <a:latin typeface="Lucida Console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8274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Khối căn bản (Basic Blocks)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36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1179224" y="1219201"/>
            <a:ext cx="7772400" cy="5081898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mtClean="0"/>
              <a:t>Một khối chứa tuần tự các lệnh, trong đó</a:t>
            </a:r>
            <a:endParaRPr lang="en-US" dirty="0"/>
          </a:p>
          <a:p>
            <a:pPr lvl="1">
              <a:spcBef>
                <a:spcPts val="0"/>
              </a:spcBef>
            </a:pPr>
            <a:r>
              <a:rPr lang="en-US" smtClean="0"/>
              <a:t>Không có rẽ nhánh đi (except </a:t>
            </a:r>
            <a:r>
              <a:rPr lang="en-US" dirty="0"/>
              <a:t>at end)</a:t>
            </a:r>
          </a:p>
          <a:p>
            <a:pPr lvl="1">
              <a:spcBef>
                <a:spcPts val="0"/>
              </a:spcBef>
            </a:pPr>
            <a:r>
              <a:rPr lang="en-US" smtClean="0"/>
              <a:t>Không chứa địa chỉ đích đến (except </a:t>
            </a:r>
            <a:r>
              <a:rPr lang="en-US" dirty="0"/>
              <a:t>at beginning)</a:t>
            </a:r>
            <a:endParaRPr lang="en-AU" dirty="0"/>
          </a:p>
        </p:txBody>
      </p:sp>
      <p:sp>
        <p:nvSpPr>
          <p:cNvPr id="8" name="Rectangle 21"/>
          <p:cNvSpPr>
            <a:spLocks noChangeArrowheads="1"/>
          </p:cNvSpPr>
          <p:nvPr/>
        </p:nvSpPr>
        <p:spPr bwMode="auto">
          <a:xfrm>
            <a:off x="4211494" y="3584865"/>
            <a:ext cx="4670425" cy="2592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2800" smtClean="0"/>
              <a:t>Biên dịch sẽ nhận biết khối này để tối ưu kết quả dịch</a:t>
            </a:r>
            <a:endParaRPr lang="en-US" sz="2800" dirty="0"/>
          </a:p>
          <a:p>
            <a:pPr marL="342900" indent="-342900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2800" smtClean="0"/>
              <a:t>Tăng nhanh việc xử lý các lệnh trong khối này</a:t>
            </a:r>
            <a:endParaRPr lang="en-US" sz="2800" dirty="0"/>
          </a:p>
        </p:txBody>
      </p:sp>
      <p:grpSp>
        <p:nvGrpSpPr>
          <p:cNvPr id="9" name="Group 4"/>
          <p:cNvGrpSpPr>
            <a:grpSpLocks/>
          </p:cNvGrpSpPr>
          <p:nvPr/>
        </p:nvGrpSpPr>
        <p:grpSpPr bwMode="auto">
          <a:xfrm>
            <a:off x="755650" y="3573463"/>
            <a:ext cx="3311525" cy="2592387"/>
            <a:chOff x="1429" y="2296"/>
            <a:chExt cx="2086" cy="1633"/>
          </a:xfrm>
        </p:grpSpPr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1791" y="2614"/>
              <a:ext cx="1270" cy="136"/>
            </a:xfrm>
            <a:prstGeom prst="rect">
              <a:avLst/>
            </a:prstGeom>
            <a:solidFill>
              <a:srgbClr val="9FCAD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Rectangle 6"/>
            <p:cNvSpPr>
              <a:spLocks noChangeArrowheads="1"/>
            </p:cNvSpPr>
            <p:nvPr/>
          </p:nvSpPr>
          <p:spPr bwMode="auto">
            <a:xfrm>
              <a:off x="1791" y="2750"/>
              <a:ext cx="1270" cy="136"/>
            </a:xfrm>
            <a:prstGeom prst="rect">
              <a:avLst/>
            </a:prstGeom>
            <a:solidFill>
              <a:srgbClr val="9FCAD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Rectangle 7"/>
            <p:cNvSpPr>
              <a:spLocks noChangeArrowheads="1"/>
            </p:cNvSpPr>
            <p:nvPr/>
          </p:nvSpPr>
          <p:spPr bwMode="auto">
            <a:xfrm>
              <a:off x="1791" y="2886"/>
              <a:ext cx="1270" cy="136"/>
            </a:xfrm>
            <a:prstGeom prst="rect">
              <a:avLst/>
            </a:prstGeom>
            <a:solidFill>
              <a:srgbClr val="9FCAD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1791" y="3022"/>
              <a:ext cx="1270" cy="136"/>
            </a:xfrm>
            <a:prstGeom prst="rect">
              <a:avLst/>
            </a:prstGeom>
            <a:solidFill>
              <a:srgbClr val="9FCAD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Rectangle 9"/>
            <p:cNvSpPr>
              <a:spLocks noChangeArrowheads="1"/>
            </p:cNvSpPr>
            <p:nvPr/>
          </p:nvSpPr>
          <p:spPr bwMode="auto">
            <a:xfrm>
              <a:off x="1791" y="3158"/>
              <a:ext cx="1270" cy="136"/>
            </a:xfrm>
            <a:prstGeom prst="rect">
              <a:avLst/>
            </a:prstGeom>
            <a:solidFill>
              <a:srgbClr val="9FCAD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Rectangle 10"/>
            <p:cNvSpPr>
              <a:spLocks noChangeArrowheads="1"/>
            </p:cNvSpPr>
            <p:nvPr/>
          </p:nvSpPr>
          <p:spPr bwMode="auto">
            <a:xfrm>
              <a:off x="1791" y="3294"/>
              <a:ext cx="1270" cy="136"/>
            </a:xfrm>
            <a:prstGeom prst="rect">
              <a:avLst/>
            </a:prstGeom>
            <a:solidFill>
              <a:srgbClr val="9FCAD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Rectangle 11"/>
            <p:cNvSpPr>
              <a:spLocks noChangeArrowheads="1"/>
            </p:cNvSpPr>
            <p:nvPr/>
          </p:nvSpPr>
          <p:spPr bwMode="auto">
            <a:xfrm>
              <a:off x="1791" y="3430"/>
              <a:ext cx="1270" cy="136"/>
            </a:xfrm>
            <a:prstGeom prst="rect">
              <a:avLst/>
            </a:prstGeom>
            <a:solidFill>
              <a:srgbClr val="9FCAD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Line 12"/>
            <p:cNvSpPr>
              <a:spLocks noChangeShapeType="1"/>
            </p:cNvSpPr>
            <p:nvPr/>
          </p:nvSpPr>
          <p:spPr bwMode="auto">
            <a:xfrm>
              <a:off x="2426" y="2296"/>
              <a:ext cx="0" cy="31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Line 13"/>
            <p:cNvSpPr>
              <a:spLocks noChangeShapeType="1"/>
            </p:cNvSpPr>
            <p:nvPr/>
          </p:nvSpPr>
          <p:spPr bwMode="auto">
            <a:xfrm>
              <a:off x="2426" y="2614"/>
              <a:ext cx="0" cy="9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>
              <a:off x="2426" y="3521"/>
              <a:ext cx="0" cy="40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>
              <a:off x="2426" y="3521"/>
              <a:ext cx="108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Line 16"/>
            <p:cNvSpPr>
              <a:spLocks noChangeShapeType="1"/>
            </p:cNvSpPr>
            <p:nvPr/>
          </p:nvSpPr>
          <p:spPr bwMode="auto">
            <a:xfrm>
              <a:off x="1429" y="2659"/>
              <a:ext cx="36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Rectangle 17"/>
            <p:cNvSpPr>
              <a:spLocks noChangeArrowheads="1"/>
            </p:cNvSpPr>
            <p:nvPr/>
          </p:nvSpPr>
          <p:spPr bwMode="auto">
            <a:xfrm>
              <a:off x="1791" y="2478"/>
              <a:ext cx="1270" cy="13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Rectangle 18"/>
            <p:cNvSpPr>
              <a:spLocks noChangeArrowheads="1"/>
            </p:cNvSpPr>
            <p:nvPr/>
          </p:nvSpPr>
          <p:spPr bwMode="auto">
            <a:xfrm>
              <a:off x="1791" y="2341"/>
              <a:ext cx="1270" cy="13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Rectangle 19"/>
            <p:cNvSpPr>
              <a:spLocks noChangeArrowheads="1"/>
            </p:cNvSpPr>
            <p:nvPr/>
          </p:nvSpPr>
          <p:spPr bwMode="auto">
            <a:xfrm>
              <a:off x="1791" y="3566"/>
              <a:ext cx="1270" cy="13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Rectangle 20"/>
            <p:cNvSpPr>
              <a:spLocks noChangeArrowheads="1"/>
            </p:cNvSpPr>
            <p:nvPr/>
          </p:nvSpPr>
          <p:spPr bwMode="auto">
            <a:xfrm>
              <a:off x="1791" y="3702"/>
              <a:ext cx="1270" cy="13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9484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>
                <a:solidFill>
                  <a:srgbClr val="0039A6"/>
                </a:solidFill>
                <a:latin typeface="Arial"/>
              </a:rPr>
              <a:t>Các tác vụ kiểm tra điều kiện khác</a:t>
            </a:r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37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Gán kết quả là 1, nếu điều kiện thỏa</a:t>
            </a:r>
            <a:endParaRPr lang="en-US" dirty="0"/>
          </a:p>
          <a:p>
            <a:pPr lvl="1"/>
            <a:r>
              <a:rPr lang="en-US" smtClean="0"/>
              <a:t>Nếu không thỏa, gán là </a:t>
            </a:r>
            <a:r>
              <a:rPr lang="en-US" dirty="0"/>
              <a:t>0</a:t>
            </a:r>
          </a:p>
          <a:p>
            <a:r>
              <a:rPr lang="en-US" dirty="0" err="1">
                <a:latin typeface="Lucida Console" pitchFamily="49" charset="0"/>
              </a:rPr>
              <a:t>slt</a:t>
            </a:r>
            <a:r>
              <a:rPr lang="en-US" dirty="0">
                <a:latin typeface="Lucida Console" pitchFamily="49" charset="0"/>
              </a:rPr>
              <a:t> </a:t>
            </a:r>
            <a:r>
              <a:rPr lang="en-US" dirty="0" err="1">
                <a:latin typeface="Lucida Console" pitchFamily="49" charset="0"/>
              </a:rPr>
              <a:t>rd</a:t>
            </a:r>
            <a:r>
              <a:rPr lang="en-US" dirty="0">
                <a:latin typeface="Lucida Console" pitchFamily="49" charset="0"/>
              </a:rPr>
              <a:t>, </a:t>
            </a:r>
            <a:r>
              <a:rPr lang="en-US" dirty="0" err="1">
                <a:latin typeface="Lucida Console" pitchFamily="49" charset="0"/>
              </a:rPr>
              <a:t>rs</a:t>
            </a:r>
            <a:r>
              <a:rPr lang="en-US" dirty="0">
                <a:latin typeface="Lucida Console" pitchFamily="49" charset="0"/>
              </a:rPr>
              <a:t>, </a:t>
            </a:r>
            <a:r>
              <a:rPr lang="en-US" dirty="0" err="1">
                <a:latin typeface="Lucida Console" pitchFamily="49" charset="0"/>
              </a:rPr>
              <a:t>rt</a:t>
            </a:r>
            <a:endParaRPr lang="en-US" dirty="0">
              <a:latin typeface="Lucida Console" pitchFamily="49" charset="0"/>
            </a:endParaRPr>
          </a:p>
          <a:p>
            <a:pPr lvl="1"/>
            <a:r>
              <a:rPr lang="en-US" smtClean="0"/>
              <a:t>if </a:t>
            </a:r>
            <a:r>
              <a:rPr lang="en-US" dirty="0"/>
              <a:t>(</a:t>
            </a:r>
            <a:r>
              <a:rPr lang="en-US" dirty="0" err="1"/>
              <a:t>rs</a:t>
            </a:r>
            <a:r>
              <a:rPr lang="en-US" dirty="0"/>
              <a:t> &lt; </a:t>
            </a:r>
            <a:r>
              <a:rPr lang="en-US" dirty="0" err="1"/>
              <a:t>rt</a:t>
            </a:r>
            <a:r>
              <a:rPr lang="en-US" dirty="0"/>
              <a:t>) </a:t>
            </a:r>
            <a:r>
              <a:rPr lang="en-US" dirty="0" err="1"/>
              <a:t>rd</a:t>
            </a:r>
            <a:r>
              <a:rPr lang="en-US" dirty="0"/>
              <a:t> = 1; else </a:t>
            </a:r>
            <a:r>
              <a:rPr lang="en-US" dirty="0" err="1"/>
              <a:t>rd</a:t>
            </a:r>
            <a:r>
              <a:rPr lang="en-US" dirty="0"/>
              <a:t> = 0;</a:t>
            </a:r>
          </a:p>
          <a:p>
            <a:r>
              <a:rPr lang="en-US" dirty="0" err="1">
                <a:latin typeface="Lucida Console" pitchFamily="49" charset="0"/>
              </a:rPr>
              <a:t>slti</a:t>
            </a:r>
            <a:r>
              <a:rPr lang="en-US" dirty="0">
                <a:latin typeface="Lucida Console" pitchFamily="49" charset="0"/>
              </a:rPr>
              <a:t> </a:t>
            </a:r>
            <a:r>
              <a:rPr lang="en-US" dirty="0" err="1">
                <a:latin typeface="Lucida Console" pitchFamily="49" charset="0"/>
              </a:rPr>
              <a:t>rt</a:t>
            </a:r>
            <a:r>
              <a:rPr lang="en-US" dirty="0">
                <a:latin typeface="Lucida Console" pitchFamily="49" charset="0"/>
              </a:rPr>
              <a:t>, </a:t>
            </a:r>
            <a:r>
              <a:rPr lang="en-US" dirty="0" err="1">
                <a:latin typeface="Lucida Console" pitchFamily="49" charset="0"/>
              </a:rPr>
              <a:t>rs</a:t>
            </a:r>
            <a:r>
              <a:rPr lang="en-US" dirty="0">
                <a:latin typeface="Lucida Console" pitchFamily="49" charset="0"/>
              </a:rPr>
              <a:t>, constant</a:t>
            </a:r>
          </a:p>
          <a:p>
            <a:pPr lvl="1"/>
            <a:r>
              <a:rPr lang="en-US" dirty="0"/>
              <a:t>if (</a:t>
            </a:r>
            <a:r>
              <a:rPr lang="en-US" dirty="0" err="1"/>
              <a:t>rs</a:t>
            </a:r>
            <a:r>
              <a:rPr lang="en-US" dirty="0"/>
              <a:t> &lt; constant) </a:t>
            </a:r>
            <a:r>
              <a:rPr lang="en-US" dirty="0" err="1"/>
              <a:t>rt</a:t>
            </a:r>
            <a:r>
              <a:rPr lang="en-US" dirty="0"/>
              <a:t> = 1; else </a:t>
            </a:r>
            <a:r>
              <a:rPr lang="en-US" dirty="0" err="1"/>
              <a:t>rt</a:t>
            </a:r>
            <a:r>
              <a:rPr lang="en-US" dirty="0"/>
              <a:t> = 0;</a:t>
            </a:r>
          </a:p>
          <a:p>
            <a:r>
              <a:rPr lang="en-US" smtClean="0"/>
              <a:t>Sử dụng kết hợp với lệnh </a:t>
            </a:r>
            <a:r>
              <a:rPr lang="en-US" smtClean="0">
                <a:latin typeface="Lucida Console" pitchFamily="49" charset="0"/>
              </a:rPr>
              <a:t>beq</a:t>
            </a:r>
            <a:r>
              <a:rPr lang="en-US" dirty="0"/>
              <a:t>, </a:t>
            </a:r>
            <a:r>
              <a:rPr lang="en-US" dirty="0" err="1">
                <a:latin typeface="Lucida Console" pitchFamily="49" charset="0"/>
              </a:rPr>
              <a:t>bne</a:t>
            </a:r>
            <a:endParaRPr lang="en-US" dirty="0">
              <a:latin typeface="Lucida Console" pitchFamily="49" charset="0"/>
            </a:endParaRPr>
          </a:p>
          <a:p>
            <a:pPr lvl="1">
              <a:buFont typeface="Wingdings" pitchFamily="2" charset="2"/>
              <a:buNone/>
            </a:pPr>
            <a:r>
              <a:rPr lang="en-US" sz="2400" dirty="0"/>
              <a:t>	</a:t>
            </a:r>
            <a:r>
              <a:rPr lang="en-US" sz="2400" dirty="0" err="1">
                <a:latin typeface="Lucida Console" pitchFamily="49" charset="0"/>
              </a:rPr>
              <a:t>slt</a:t>
            </a:r>
            <a:r>
              <a:rPr lang="en-US" sz="2400" dirty="0">
                <a:latin typeface="Lucida Console" pitchFamily="49" charset="0"/>
              </a:rPr>
              <a:t> $t0, $s1, $s2  # if ($s1 &lt; $s2)</a:t>
            </a:r>
            <a:br>
              <a:rPr lang="en-US" sz="2400" dirty="0">
                <a:latin typeface="Lucida Console" pitchFamily="49" charset="0"/>
              </a:rPr>
            </a:br>
            <a:r>
              <a:rPr lang="en-US" sz="2400" dirty="0" err="1">
                <a:latin typeface="Lucida Console" pitchFamily="49" charset="0"/>
              </a:rPr>
              <a:t>bne</a:t>
            </a:r>
            <a:r>
              <a:rPr lang="en-US" sz="2400" dirty="0">
                <a:latin typeface="Lucida Console" pitchFamily="49" charset="0"/>
              </a:rPr>
              <a:t> $t0, $zero, L  #   branch to L</a:t>
            </a:r>
          </a:p>
        </p:txBody>
      </p:sp>
    </p:spTree>
    <p:extLst>
      <p:ext uri="{BB962C8B-B14F-4D97-AF65-F5344CB8AC3E}">
        <p14:creationId xmlns:p14="http://schemas.microsoft.com/office/powerpoint/2010/main" val="3831011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Thiết kế lệnh rẽ nhánh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38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1182688" y="1295401"/>
            <a:ext cx="7772400" cy="4837112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mtClean="0"/>
              <a:t>Tại sao không có lệnh </a:t>
            </a:r>
            <a:r>
              <a:rPr lang="en-US" dirty="0" err="1">
                <a:latin typeface="Lucida Console" pitchFamily="49" charset="0"/>
              </a:rPr>
              <a:t>blt</a:t>
            </a:r>
            <a:r>
              <a:rPr lang="en-US" dirty="0"/>
              <a:t>, </a:t>
            </a:r>
            <a:r>
              <a:rPr lang="en-US" dirty="0" err="1">
                <a:latin typeface="Lucida Console" pitchFamily="49" charset="0"/>
              </a:rPr>
              <a:t>bge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?</a:t>
            </a:r>
          </a:p>
          <a:p>
            <a:pPr>
              <a:spcBef>
                <a:spcPts val="0"/>
              </a:spcBef>
            </a:pPr>
            <a:r>
              <a:rPr lang="en-US" smtClean="0"/>
              <a:t>&lt;, </a:t>
            </a:r>
            <a:r>
              <a:rPr lang="en-US" dirty="0"/>
              <a:t>≥</a:t>
            </a:r>
            <a:r>
              <a:rPr lang="en-US"/>
              <a:t>, </a:t>
            </a:r>
            <a:r>
              <a:rPr lang="en-US" smtClean="0"/>
              <a:t>Thực hiện phần cứng chậm hơn </a:t>
            </a:r>
            <a:r>
              <a:rPr lang="en-US" dirty="0"/>
              <a:t>=, ≠</a:t>
            </a:r>
          </a:p>
          <a:p>
            <a:pPr lvl="1">
              <a:spcBef>
                <a:spcPts val="0"/>
              </a:spcBef>
            </a:pPr>
            <a:r>
              <a:rPr lang="en-US" smtClean="0"/>
              <a:t>Khi kết hợp với rẽ nhánh sẽ phải thực hiện nhiều việc hơn </a:t>
            </a:r>
            <a:r>
              <a:rPr lang="en-US" smtClean="0">
                <a:sym typeface="Wingdings" pitchFamily="2" charset="2"/>
              </a:rPr>
              <a:t> yêu cầu xung đồng hồ chậm hơn</a:t>
            </a:r>
            <a:endParaRPr lang="en-US" dirty="0"/>
          </a:p>
          <a:p>
            <a:pPr lvl="1">
              <a:spcBef>
                <a:spcPts val="0"/>
              </a:spcBef>
            </a:pPr>
            <a:r>
              <a:rPr lang="en-US" dirty="0"/>
              <a:t>All instructions </a:t>
            </a:r>
            <a:r>
              <a:rPr lang="en-US"/>
              <a:t>penalized</a:t>
            </a:r>
            <a:r>
              <a:rPr lang="en-US" smtClean="0"/>
              <a:t>! (không thống nhất cho các lệnh)</a:t>
            </a:r>
            <a:endParaRPr lang="en-US" dirty="0"/>
          </a:p>
          <a:p>
            <a:pPr>
              <a:spcBef>
                <a:spcPts val="0"/>
              </a:spcBef>
            </a:pPr>
            <a:r>
              <a:rPr lang="en-US" err="1">
                <a:latin typeface="Lucida Console" pitchFamily="49" charset="0"/>
              </a:rPr>
              <a:t>beq</a:t>
            </a:r>
            <a:r>
              <a:rPr lang="en-US"/>
              <a:t> </a:t>
            </a:r>
            <a:r>
              <a:rPr lang="en-US" smtClean="0"/>
              <a:t>và </a:t>
            </a:r>
            <a:r>
              <a:rPr lang="en-US" smtClean="0">
                <a:latin typeface="Lucida Console" pitchFamily="49" charset="0"/>
              </a:rPr>
              <a:t>bne</a:t>
            </a:r>
            <a:r>
              <a:rPr lang="en-US"/>
              <a:t>:</a:t>
            </a:r>
            <a:r>
              <a:rPr lang="en-US" smtClean="0"/>
              <a:t> trường hợp thường xảy ra</a:t>
            </a:r>
            <a:endParaRPr lang="en-US" dirty="0"/>
          </a:p>
          <a:p>
            <a:pPr>
              <a:spcBef>
                <a:spcPts val="0"/>
              </a:spcBef>
            </a:pPr>
            <a:r>
              <a:rPr lang="en-US" smtClean="0"/>
              <a:t>Đó là sự kết hợp tốt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237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smtClean="0">
                <a:solidFill>
                  <a:srgbClr val="0039A6"/>
                </a:solidFill>
                <a:latin typeface="Arial"/>
              </a:rPr>
              <a:t>Dấu và Không dấu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39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498764" y="1470991"/>
            <a:ext cx="8603672" cy="4661521"/>
          </a:xfrm>
        </p:spPr>
        <p:txBody>
          <a:bodyPr/>
          <a:lstStyle/>
          <a:p>
            <a:r>
              <a:rPr lang="en-AU" smtClean="0"/>
              <a:t>So sánh có dấu: </a:t>
            </a:r>
            <a:r>
              <a:rPr lang="en-AU" dirty="0" err="1">
                <a:latin typeface="Lucida Console" pitchFamily="49" charset="0"/>
              </a:rPr>
              <a:t>slt</a:t>
            </a:r>
            <a:r>
              <a:rPr lang="en-AU" dirty="0"/>
              <a:t>, </a:t>
            </a:r>
            <a:r>
              <a:rPr lang="en-AU" dirty="0" err="1">
                <a:latin typeface="Lucida Console" pitchFamily="49" charset="0"/>
              </a:rPr>
              <a:t>slti</a:t>
            </a:r>
            <a:endParaRPr lang="en-AU" dirty="0">
              <a:latin typeface="Lucida Console" pitchFamily="49" charset="0"/>
            </a:endParaRPr>
          </a:p>
          <a:p>
            <a:r>
              <a:rPr lang="en-AU" smtClean="0"/>
              <a:t>So sánh không dấu: </a:t>
            </a:r>
            <a:r>
              <a:rPr lang="en-AU" dirty="0" err="1">
                <a:latin typeface="Lucida Console" pitchFamily="49" charset="0"/>
              </a:rPr>
              <a:t>sltu</a:t>
            </a:r>
            <a:r>
              <a:rPr lang="en-AU" dirty="0"/>
              <a:t>, </a:t>
            </a:r>
            <a:r>
              <a:rPr lang="en-AU" dirty="0" err="1">
                <a:latin typeface="Lucida Console" pitchFamily="49" charset="0"/>
              </a:rPr>
              <a:t>sltui</a:t>
            </a:r>
            <a:endParaRPr lang="en-AU" dirty="0">
              <a:latin typeface="Lucida Console" pitchFamily="49" charset="0"/>
            </a:endParaRPr>
          </a:p>
          <a:p>
            <a:r>
              <a:rPr lang="en-AU" smtClean="0"/>
              <a:t>Ví dụ</a:t>
            </a:r>
            <a:endParaRPr lang="en-AU" dirty="0"/>
          </a:p>
          <a:p>
            <a:pPr lvl="1"/>
            <a:r>
              <a:rPr lang="en-AU" dirty="0"/>
              <a:t>$s0 = </a:t>
            </a:r>
            <a:r>
              <a:rPr lang="en-AU" sz="2400" dirty="0"/>
              <a:t>1111 1111 1111 1111 1111 1111 1111 1111</a:t>
            </a:r>
          </a:p>
          <a:p>
            <a:pPr lvl="1"/>
            <a:r>
              <a:rPr lang="en-AU" dirty="0"/>
              <a:t>$s1 = </a:t>
            </a:r>
            <a:r>
              <a:rPr lang="en-AU" sz="2400" dirty="0"/>
              <a:t>0000 0000 0000 0000 0000 0000 0000 0001</a:t>
            </a:r>
          </a:p>
          <a:p>
            <a:pPr lvl="1"/>
            <a:r>
              <a:rPr lang="en-AU" dirty="0" err="1">
                <a:latin typeface="Lucida Console" pitchFamily="49" charset="0"/>
              </a:rPr>
              <a:t>slt</a:t>
            </a:r>
            <a:r>
              <a:rPr lang="en-AU" dirty="0">
                <a:latin typeface="Lucida Console" pitchFamily="49" charset="0"/>
              </a:rPr>
              <a:t>  $t0, $s0, $</a:t>
            </a:r>
            <a:r>
              <a:rPr lang="en-AU">
                <a:latin typeface="Lucida Console" pitchFamily="49" charset="0"/>
              </a:rPr>
              <a:t>s1  </a:t>
            </a:r>
            <a:r>
              <a:rPr lang="en-AU" smtClean="0">
                <a:latin typeface="Lucida Console" pitchFamily="49" charset="0"/>
              </a:rPr>
              <a:t># </a:t>
            </a:r>
            <a:r>
              <a:rPr lang="en-AU" b="1" smtClean="0">
                <a:latin typeface="Arial" pitchFamily="34" charset="0"/>
                <a:cs typeface="Arial" pitchFamily="34" charset="0"/>
              </a:rPr>
              <a:t>có đấu</a:t>
            </a:r>
            <a:endParaRPr lang="en-AU" b="1" dirty="0">
              <a:latin typeface="Arial" pitchFamily="34" charset="0"/>
              <a:cs typeface="Arial" pitchFamily="34" charset="0"/>
            </a:endParaRPr>
          </a:p>
          <a:p>
            <a:pPr lvl="2"/>
            <a:r>
              <a:rPr lang="en-AU" dirty="0">
                <a:cs typeface="Arial" charset="0"/>
              </a:rPr>
              <a:t>–1 &lt; +1 </a:t>
            </a:r>
            <a:r>
              <a:rPr lang="en-AU" dirty="0">
                <a:cs typeface="Arial" charset="0"/>
                <a:sym typeface="Symbol" pitchFamily="18" charset="2"/>
              </a:rPr>
              <a:t> $t0 = 1</a:t>
            </a:r>
          </a:p>
          <a:p>
            <a:pPr lvl="1"/>
            <a:r>
              <a:rPr lang="en-AU" dirty="0" err="1">
                <a:latin typeface="Lucida Console" pitchFamily="49" charset="0"/>
                <a:cs typeface="Arial" charset="0"/>
                <a:sym typeface="Symbol" pitchFamily="18" charset="2"/>
              </a:rPr>
              <a:t>sltu</a:t>
            </a:r>
            <a:r>
              <a:rPr lang="en-AU" dirty="0">
                <a:latin typeface="Lucida Console" pitchFamily="49" charset="0"/>
                <a:cs typeface="Arial" charset="0"/>
                <a:sym typeface="Symbol" pitchFamily="18" charset="2"/>
              </a:rPr>
              <a:t> $t0, $s0, $s1  </a:t>
            </a:r>
            <a:r>
              <a:rPr lang="en-AU">
                <a:latin typeface="Lucida Console" pitchFamily="49" charset="0"/>
                <a:cs typeface="Arial" charset="0"/>
                <a:sym typeface="Symbol" pitchFamily="18" charset="2"/>
              </a:rPr>
              <a:t># </a:t>
            </a:r>
            <a:r>
              <a:rPr lang="en-AU" b="1" smtClean="0">
                <a:latin typeface="Arial" pitchFamily="34" charset="0"/>
                <a:cs typeface="Arial" pitchFamily="34" charset="0"/>
                <a:sym typeface="Symbol" pitchFamily="18" charset="2"/>
              </a:rPr>
              <a:t>không dấu</a:t>
            </a:r>
            <a:endParaRPr lang="en-AU" b="1" dirty="0"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lvl="2"/>
            <a:r>
              <a:rPr lang="en-US" dirty="0"/>
              <a:t>+4,294,967,295 &gt; +1 </a:t>
            </a:r>
            <a:r>
              <a:rPr lang="en-AU" dirty="0">
                <a:cs typeface="Arial" charset="0"/>
                <a:sym typeface="Symbol" pitchFamily="18" charset="2"/>
              </a:rPr>
              <a:t> $t0 = 0</a:t>
            </a:r>
          </a:p>
        </p:txBody>
      </p:sp>
    </p:spTree>
    <p:extLst>
      <p:ext uri="{BB962C8B-B14F-4D97-AF65-F5344CB8AC3E}">
        <p14:creationId xmlns:p14="http://schemas.microsoft.com/office/powerpoint/2010/main" val="1679066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Gọi thủ tục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40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/>
            <a:r>
              <a:rPr lang="en-US" smtClean="0"/>
              <a:t>Các bước thực hiện gọi thủ tục</a:t>
            </a:r>
            <a:endParaRPr lang="en-US" dirty="0"/>
          </a:p>
          <a:p>
            <a:pPr marL="990600" lvl="1" indent="-533400">
              <a:buSzTx/>
              <a:buFont typeface="Wingdings" pitchFamily="2" charset="2"/>
              <a:buAutoNum type="arabicPeriod"/>
            </a:pPr>
            <a:r>
              <a:rPr lang="en-US" smtClean="0"/>
              <a:t>Chuyển thông số vào vị trí (thanh ghi)</a:t>
            </a:r>
            <a:endParaRPr lang="en-US" dirty="0"/>
          </a:p>
          <a:p>
            <a:pPr marL="990600" lvl="1" indent="-533400">
              <a:buSzTx/>
              <a:buFont typeface="Wingdings" pitchFamily="2" charset="2"/>
              <a:buAutoNum type="arabicPeriod"/>
            </a:pPr>
            <a:r>
              <a:rPr lang="en-US" smtClean="0"/>
              <a:t>Chuyển quyền điều khiển cho thủ tục</a:t>
            </a:r>
          </a:p>
          <a:p>
            <a:pPr marL="990600" lvl="1" indent="-533400">
              <a:buSzTx/>
              <a:buFont typeface="Wingdings" pitchFamily="2" charset="2"/>
              <a:buAutoNum type="arabicPeriod"/>
            </a:pPr>
            <a:r>
              <a:rPr lang="en-US" smtClean="0"/>
              <a:t>Nhận tài nguyên lưu trữ cấp cho thủ tục</a:t>
            </a:r>
          </a:p>
          <a:p>
            <a:pPr marL="990600" lvl="1" indent="-533400">
              <a:buSzTx/>
              <a:buFont typeface="Wingdings" pitchFamily="2" charset="2"/>
              <a:buAutoNum type="arabicPeriod"/>
            </a:pPr>
            <a:r>
              <a:rPr lang="en-US" smtClean="0"/>
              <a:t>Thực hiện công việc của thủ tục</a:t>
            </a:r>
            <a:endParaRPr lang="en-US" dirty="0"/>
          </a:p>
          <a:p>
            <a:pPr marL="990600" lvl="1" indent="-533400">
              <a:buSzTx/>
              <a:buFont typeface="Wingdings" pitchFamily="2" charset="2"/>
              <a:buAutoNum type="arabicPeriod"/>
            </a:pPr>
            <a:r>
              <a:rPr lang="en-US" smtClean="0"/>
              <a:t>Chuyển kết quả vào vị trí (thanh ghi) để trả về cho chương trình gọi</a:t>
            </a:r>
            <a:endParaRPr lang="en-US" dirty="0"/>
          </a:p>
          <a:p>
            <a:pPr marL="990600" lvl="1" indent="-533400">
              <a:buSzTx/>
              <a:buFont typeface="Wingdings" pitchFamily="2" charset="2"/>
              <a:buAutoNum type="arabicPeriod"/>
            </a:pPr>
            <a:r>
              <a:rPr lang="en-US" smtClean="0"/>
              <a:t>Trở về chương trình gọi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128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Ý đồ sử dụng các thanh ghi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41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$a0 – $a3: </a:t>
            </a:r>
            <a:r>
              <a:rPr lang="en-US" sz="2800" smtClean="0"/>
              <a:t>chứa thông số </a:t>
            </a:r>
            <a:r>
              <a:rPr lang="en-US" sz="2800"/>
              <a:t>(reg’s 4 – 7)</a:t>
            </a:r>
          </a:p>
          <a:p>
            <a:pPr>
              <a:lnSpc>
                <a:spcPct val="90000"/>
              </a:lnSpc>
            </a:pPr>
            <a:r>
              <a:rPr lang="en-US" sz="2800"/>
              <a:t>$v0, $v1: </a:t>
            </a:r>
            <a:r>
              <a:rPr lang="en-US" sz="2800" smtClean="0"/>
              <a:t>giá trị trả về </a:t>
            </a:r>
            <a:r>
              <a:rPr lang="en-US" sz="2800"/>
              <a:t>(reg’s 2 and 3)</a:t>
            </a:r>
          </a:p>
          <a:p>
            <a:pPr>
              <a:lnSpc>
                <a:spcPct val="90000"/>
              </a:lnSpc>
            </a:pPr>
            <a:r>
              <a:rPr lang="en-US" sz="2800"/>
              <a:t>$t0 – $t9: </a:t>
            </a:r>
            <a:r>
              <a:rPr lang="en-US" sz="2800" smtClean="0"/>
              <a:t>chứa giá trị tạm</a:t>
            </a:r>
            <a:endParaRPr lang="en-US" sz="2800"/>
          </a:p>
          <a:p>
            <a:pPr lvl="1">
              <a:lnSpc>
                <a:spcPct val="90000"/>
              </a:lnSpc>
            </a:pPr>
            <a:r>
              <a:rPr lang="en-US" sz="2400" smtClean="0"/>
              <a:t>Có thể thay đổi nội dung khi thực hiện thủ tục</a:t>
            </a:r>
            <a:endParaRPr lang="en-US" sz="2400"/>
          </a:p>
          <a:p>
            <a:pPr>
              <a:lnSpc>
                <a:spcPct val="90000"/>
              </a:lnSpc>
            </a:pPr>
            <a:r>
              <a:rPr lang="en-US" sz="2800"/>
              <a:t>$s0 – $s7: </a:t>
            </a:r>
            <a:r>
              <a:rPr lang="en-US" sz="2800" smtClean="0"/>
              <a:t>bảo vệ</a:t>
            </a:r>
            <a:endParaRPr lang="en-US" sz="2800"/>
          </a:p>
          <a:p>
            <a:pPr lvl="1">
              <a:lnSpc>
                <a:spcPct val="90000"/>
              </a:lnSpc>
            </a:pPr>
            <a:r>
              <a:rPr lang="en-US" sz="2400" smtClean="0"/>
              <a:t>Cất/khôi phục bởi thủ tục</a:t>
            </a:r>
            <a:endParaRPr lang="en-US" sz="2400"/>
          </a:p>
          <a:p>
            <a:pPr>
              <a:lnSpc>
                <a:spcPct val="90000"/>
              </a:lnSpc>
            </a:pPr>
            <a:r>
              <a:rPr lang="en-US" sz="2800"/>
              <a:t>$gp: </a:t>
            </a:r>
            <a:r>
              <a:rPr lang="en-US" sz="2800" smtClean="0"/>
              <a:t>Con trỏ toàn cục dữ liệu tĩnh </a:t>
            </a:r>
            <a:r>
              <a:rPr lang="en-US" sz="2800"/>
              <a:t>(reg 28)</a:t>
            </a:r>
          </a:p>
          <a:p>
            <a:pPr>
              <a:lnSpc>
                <a:spcPct val="90000"/>
              </a:lnSpc>
            </a:pPr>
            <a:r>
              <a:rPr lang="en-US" sz="2800"/>
              <a:t>$sp: stack pointer (reg 29)</a:t>
            </a:r>
          </a:p>
          <a:p>
            <a:pPr>
              <a:lnSpc>
                <a:spcPct val="90000"/>
              </a:lnSpc>
            </a:pPr>
            <a:r>
              <a:rPr lang="en-US" sz="2800"/>
              <a:t>$fp: frame pointer (reg 30)</a:t>
            </a:r>
          </a:p>
          <a:p>
            <a:pPr>
              <a:lnSpc>
                <a:spcPct val="90000"/>
              </a:lnSpc>
            </a:pPr>
            <a:r>
              <a:rPr lang="en-US" sz="2800"/>
              <a:t>$ra: </a:t>
            </a:r>
            <a:r>
              <a:rPr lang="en-US" sz="2800" smtClean="0"/>
              <a:t>Địa chỉ trở về </a:t>
            </a:r>
            <a:r>
              <a:rPr lang="en-US" sz="2800"/>
              <a:t>(reg 31)</a:t>
            </a:r>
          </a:p>
        </p:txBody>
      </p:sp>
    </p:spTree>
    <p:extLst>
      <p:ext uri="{BB962C8B-B14F-4D97-AF65-F5344CB8AC3E}">
        <p14:creationId xmlns:p14="http://schemas.microsoft.com/office/powerpoint/2010/main" val="1303187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Lệnh gọi thủ tục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42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Gọi thủ tục: </a:t>
            </a:r>
            <a:r>
              <a:rPr lang="en-US" dirty="0"/>
              <a:t>jump </a:t>
            </a:r>
            <a:r>
              <a:rPr lang="en-US"/>
              <a:t>and </a:t>
            </a:r>
            <a:r>
              <a:rPr lang="en-US" smtClean="0"/>
              <a:t>link (jal)</a:t>
            </a:r>
            <a:endParaRPr lang="en-US" dirty="0"/>
          </a:p>
          <a:p>
            <a:pPr>
              <a:buFont typeface="Wingdings" pitchFamily="2" charset="2"/>
              <a:buNone/>
            </a:pPr>
            <a:r>
              <a:rPr lang="en-US" sz="2800" dirty="0">
                <a:latin typeface="Lucida Console" pitchFamily="49" charset="0"/>
              </a:rPr>
              <a:t>	</a:t>
            </a:r>
            <a:r>
              <a:rPr lang="en-US" sz="2800" dirty="0" err="1">
                <a:latin typeface="Lucida Console" pitchFamily="49" charset="0"/>
              </a:rPr>
              <a:t>jal</a:t>
            </a:r>
            <a:r>
              <a:rPr lang="en-US" sz="2800" dirty="0">
                <a:latin typeface="Lucida Console" pitchFamily="49" charset="0"/>
              </a:rPr>
              <a:t> </a:t>
            </a:r>
            <a:r>
              <a:rPr lang="en-US" sz="2800" dirty="0" err="1">
                <a:latin typeface="Lucida Console" pitchFamily="49" charset="0"/>
              </a:rPr>
              <a:t>ProcedureLabel</a:t>
            </a:r>
            <a:endParaRPr lang="en-US" sz="2800" dirty="0">
              <a:latin typeface="Lucida Console" pitchFamily="49" charset="0"/>
            </a:endParaRPr>
          </a:p>
          <a:p>
            <a:pPr lvl="1"/>
            <a:r>
              <a:rPr lang="en-US" smtClean="0"/>
              <a:t>Địa chỉ lệnh kế chứa trong thanh ghi $</a:t>
            </a:r>
            <a:r>
              <a:rPr lang="en-US" dirty="0" err="1"/>
              <a:t>ra</a:t>
            </a:r>
            <a:endParaRPr lang="en-US" dirty="0"/>
          </a:p>
          <a:p>
            <a:pPr lvl="1"/>
            <a:r>
              <a:rPr lang="en-US" smtClean="0"/>
              <a:t>Nhảy đến địa chỉ đích</a:t>
            </a:r>
            <a:endParaRPr lang="en-US" dirty="0"/>
          </a:p>
          <a:p>
            <a:r>
              <a:rPr lang="en-US" smtClean="0"/>
              <a:t>Trở về chương trình gọi: </a:t>
            </a:r>
            <a:r>
              <a:rPr lang="en-US" dirty="0"/>
              <a:t>jump register</a:t>
            </a:r>
          </a:p>
          <a:p>
            <a:pPr>
              <a:buFont typeface="Wingdings" pitchFamily="2" charset="2"/>
              <a:buNone/>
            </a:pPr>
            <a:r>
              <a:rPr lang="en-US" sz="2800" dirty="0">
                <a:latin typeface="Lucida Console" pitchFamily="49" charset="0"/>
              </a:rPr>
              <a:t>	</a:t>
            </a:r>
            <a:r>
              <a:rPr lang="en-US" sz="2800" dirty="0" err="1">
                <a:latin typeface="Lucida Console" pitchFamily="49" charset="0"/>
              </a:rPr>
              <a:t>jr</a:t>
            </a:r>
            <a:r>
              <a:rPr lang="en-US" sz="2800" dirty="0">
                <a:latin typeface="Lucida Console" pitchFamily="49" charset="0"/>
              </a:rPr>
              <a:t> $</a:t>
            </a:r>
            <a:r>
              <a:rPr lang="en-US" sz="2800" dirty="0" err="1">
                <a:latin typeface="Lucida Console" pitchFamily="49" charset="0"/>
              </a:rPr>
              <a:t>ra</a:t>
            </a:r>
            <a:endParaRPr lang="en-US" sz="2800" dirty="0">
              <a:latin typeface="Lucida Console" pitchFamily="49" charset="0"/>
            </a:endParaRPr>
          </a:p>
          <a:p>
            <a:pPr lvl="1"/>
            <a:r>
              <a:rPr lang="en-US" smtClean="0"/>
              <a:t>Sao giá trị của $</a:t>
            </a:r>
            <a:r>
              <a:rPr lang="en-US" err="1"/>
              <a:t>ra</a:t>
            </a:r>
            <a:r>
              <a:rPr lang="en-US"/>
              <a:t> </a:t>
            </a:r>
            <a:r>
              <a:rPr lang="en-US" smtClean="0"/>
              <a:t>vào PC</a:t>
            </a:r>
            <a:endParaRPr lang="en-US" dirty="0"/>
          </a:p>
          <a:p>
            <a:pPr lvl="1"/>
            <a:r>
              <a:rPr lang="en-US" smtClean="0"/>
              <a:t>Có thể dùng nhảy theo điều kiện</a:t>
            </a:r>
            <a:endParaRPr lang="en-US" dirty="0"/>
          </a:p>
          <a:p>
            <a:pPr lvl="2"/>
            <a:r>
              <a:rPr lang="en-US" smtClean="0"/>
              <a:t>Ví dụ:</a:t>
            </a:r>
            <a:r>
              <a:rPr lang="en-US"/>
              <a:t> </a:t>
            </a:r>
            <a:r>
              <a:rPr lang="en-US" smtClean="0"/>
              <a:t>phát biểu case/switch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35557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Ví dụ: gọi thủ tục (leaf)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43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1182688" y="1470991"/>
            <a:ext cx="7732712" cy="4853609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2800" dirty="0"/>
              <a:t>C code:</a:t>
            </a:r>
          </a:p>
          <a:p>
            <a:pPr>
              <a:spcBef>
                <a:spcPts val="0"/>
              </a:spcBef>
              <a:buFont typeface="Wingdings" pitchFamily="2" charset="2"/>
              <a:buNone/>
            </a:pPr>
            <a:r>
              <a:rPr lang="en-US" sz="2800" dirty="0">
                <a:latin typeface="Lucida Console" pitchFamily="49" charset="0"/>
              </a:rPr>
              <a:t>	</a:t>
            </a:r>
            <a:r>
              <a:rPr lang="en-US" sz="2800" dirty="0" err="1">
                <a:latin typeface="Lucida Console" pitchFamily="49" charset="0"/>
              </a:rPr>
              <a:t>int</a:t>
            </a:r>
            <a:r>
              <a:rPr lang="en-US" sz="2800" dirty="0">
                <a:latin typeface="Lucida Console" pitchFamily="49" charset="0"/>
              </a:rPr>
              <a:t> </a:t>
            </a:r>
            <a:r>
              <a:rPr lang="en-US" sz="2800" dirty="0" err="1">
                <a:latin typeface="Lucida Console" pitchFamily="49" charset="0"/>
              </a:rPr>
              <a:t>leaf_example</a:t>
            </a:r>
            <a:r>
              <a:rPr lang="en-US" sz="2800" dirty="0">
                <a:latin typeface="Lucida Console" pitchFamily="49" charset="0"/>
              </a:rPr>
              <a:t> (</a:t>
            </a:r>
            <a:r>
              <a:rPr lang="en-US" sz="2800" dirty="0" err="1">
                <a:latin typeface="Lucida Console" pitchFamily="49" charset="0"/>
              </a:rPr>
              <a:t>int</a:t>
            </a:r>
            <a:r>
              <a:rPr lang="en-US" sz="2800" dirty="0">
                <a:latin typeface="Lucida Console" pitchFamily="49" charset="0"/>
              </a:rPr>
              <a:t> g, h, i, j)</a:t>
            </a:r>
            <a:br>
              <a:rPr lang="en-US" sz="2800" dirty="0">
                <a:latin typeface="Lucida Console" pitchFamily="49" charset="0"/>
              </a:rPr>
            </a:br>
            <a:r>
              <a:rPr lang="en-US" sz="2800" dirty="0">
                <a:latin typeface="Lucida Console" pitchFamily="49" charset="0"/>
              </a:rPr>
              <a:t>{ </a:t>
            </a:r>
            <a:r>
              <a:rPr lang="en-US" sz="2800" dirty="0" err="1">
                <a:latin typeface="Lucida Console" pitchFamily="49" charset="0"/>
              </a:rPr>
              <a:t>int</a:t>
            </a:r>
            <a:r>
              <a:rPr lang="en-US" sz="2800" dirty="0">
                <a:latin typeface="Lucida Console" pitchFamily="49" charset="0"/>
              </a:rPr>
              <a:t> f;</a:t>
            </a:r>
            <a:br>
              <a:rPr lang="en-US" sz="2800" dirty="0">
                <a:latin typeface="Lucida Console" pitchFamily="49" charset="0"/>
              </a:rPr>
            </a:br>
            <a:r>
              <a:rPr lang="en-US" sz="2800" dirty="0">
                <a:latin typeface="Lucida Console" pitchFamily="49" charset="0"/>
              </a:rPr>
              <a:t>  f = (g + h) - (i + j);</a:t>
            </a:r>
            <a:br>
              <a:rPr lang="en-US" sz="2800" dirty="0">
                <a:latin typeface="Lucida Console" pitchFamily="49" charset="0"/>
              </a:rPr>
            </a:br>
            <a:r>
              <a:rPr lang="en-US" sz="2800" dirty="0">
                <a:latin typeface="Lucida Console" pitchFamily="49" charset="0"/>
              </a:rPr>
              <a:t>  return f;</a:t>
            </a:r>
            <a:br>
              <a:rPr lang="en-US" sz="2800" dirty="0">
                <a:latin typeface="Lucida Console" pitchFamily="49" charset="0"/>
              </a:rPr>
            </a:br>
            <a:r>
              <a:rPr lang="en-US" sz="2800" dirty="0">
                <a:latin typeface="Lucida Console" pitchFamily="49" charset="0"/>
              </a:rPr>
              <a:t>}</a:t>
            </a:r>
          </a:p>
          <a:p>
            <a:pPr lvl="1">
              <a:spcBef>
                <a:spcPts val="0"/>
              </a:spcBef>
            </a:pPr>
            <a:r>
              <a:rPr lang="en-US" smtClean="0"/>
              <a:t>Thông số </a:t>
            </a:r>
            <a:r>
              <a:rPr lang="en-US" dirty="0"/>
              <a:t>g, …, </a:t>
            </a:r>
            <a:r>
              <a:rPr lang="en-US"/>
              <a:t>j </a:t>
            </a:r>
            <a:r>
              <a:rPr lang="en-US" smtClean="0"/>
              <a:t>chứa trong </a:t>
            </a:r>
            <a:r>
              <a:rPr lang="en-US" dirty="0"/>
              <a:t>$a0, …, $a3</a:t>
            </a:r>
          </a:p>
          <a:p>
            <a:pPr lvl="1">
              <a:spcBef>
                <a:spcPts val="0"/>
              </a:spcBef>
            </a:pPr>
            <a:r>
              <a:rPr lang="en-US"/>
              <a:t>f </a:t>
            </a:r>
            <a:r>
              <a:rPr lang="en-US" smtClean="0"/>
              <a:t>trong </a:t>
            </a:r>
            <a:r>
              <a:rPr lang="en-US" dirty="0"/>
              <a:t>$</a:t>
            </a:r>
            <a:r>
              <a:rPr lang="en-US"/>
              <a:t>s0 </a:t>
            </a:r>
            <a:r>
              <a:rPr lang="en-US" smtClean="0"/>
              <a:t>(vì vậy, </a:t>
            </a:r>
            <a:r>
              <a:rPr lang="en-US" dirty="0"/>
              <a:t>$</a:t>
            </a:r>
            <a:r>
              <a:rPr lang="en-US"/>
              <a:t>s0 </a:t>
            </a:r>
            <a:r>
              <a:rPr lang="en-US" smtClean="0"/>
              <a:t>cất trong </a:t>
            </a:r>
            <a:r>
              <a:rPr lang="en-US" dirty="0"/>
              <a:t>stack)</a:t>
            </a:r>
          </a:p>
          <a:p>
            <a:pPr lvl="1">
              <a:spcBef>
                <a:spcPts val="0"/>
              </a:spcBef>
            </a:pPr>
            <a:r>
              <a:rPr lang="en-US" smtClean="0"/>
              <a:t>Kết quả trả về trong </a:t>
            </a:r>
            <a:r>
              <a:rPr lang="en-US" dirty="0"/>
              <a:t>$v0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72221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0039A6"/>
                </a:solidFill>
                <a:latin typeface="Arial"/>
              </a:rPr>
              <a:t>Ví dụ: gọi thủ </a:t>
            </a:r>
            <a:r>
              <a:rPr lang="en-US" b="1" smtClean="0">
                <a:solidFill>
                  <a:srgbClr val="0039A6"/>
                </a:solidFill>
                <a:latin typeface="Arial"/>
              </a:rPr>
              <a:t>tục (tt.)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44</a:t>
            </a:fld>
            <a:endParaRPr lang="vi-VN"/>
          </a:p>
        </p:txBody>
      </p:sp>
      <p:sp>
        <p:nvSpPr>
          <p:cNvPr id="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mtClean="0"/>
              <a:t>Sau khi biên dịch thành MIPS </a:t>
            </a:r>
            <a:r>
              <a:rPr lang="en-US" dirty="0"/>
              <a:t>code: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>
                <a:latin typeface="Lucida Console" pitchFamily="49" charset="0"/>
              </a:rPr>
              <a:t>	</a:t>
            </a:r>
            <a:r>
              <a:rPr lang="en-US" sz="2800" dirty="0" err="1">
                <a:latin typeface="Lucida Console" pitchFamily="49" charset="0"/>
              </a:rPr>
              <a:t>leaf_example</a:t>
            </a:r>
            <a:r>
              <a:rPr lang="en-US" sz="2800" dirty="0">
                <a:latin typeface="Lucida Console" pitchFamily="49" charset="0"/>
              </a:rPr>
              <a:t>:</a:t>
            </a:r>
            <a:br>
              <a:rPr lang="en-US" sz="2800" dirty="0">
                <a:latin typeface="Lucida Console" pitchFamily="49" charset="0"/>
              </a:rPr>
            </a:br>
            <a:r>
              <a:rPr lang="en-US" sz="2800" dirty="0">
                <a:latin typeface="Lucida Console" pitchFamily="49" charset="0"/>
              </a:rPr>
              <a:t>  </a:t>
            </a:r>
            <a:r>
              <a:rPr lang="en-US" sz="2800" dirty="0" err="1">
                <a:latin typeface="Lucida Console" pitchFamily="49" charset="0"/>
              </a:rPr>
              <a:t>addi</a:t>
            </a:r>
            <a:r>
              <a:rPr lang="en-US" sz="2800" dirty="0">
                <a:latin typeface="Lucida Console" pitchFamily="49" charset="0"/>
              </a:rPr>
              <a:t> $</a:t>
            </a:r>
            <a:r>
              <a:rPr lang="en-US" sz="2800" dirty="0" err="1">
                <a:latin typeface="Lucida Console" pitchFamily="49" charset="0"/>
              </a:rPr>
              <a:t>sp</a:t>
            </a:r>
            <a:r>
              <a:rPr lang="en-US" sz="2800" dirty="0">
                <a:latin typeface="Lucida Console" pitchFamily="49" charset="0"/>
              </a:rPr>
              <a:t>, $</a:t>
            </a:r>
            <a:r>
              <a:rPr lang="en-US" sz="2800" dirty="0" err="1">
                <a:latin typeface="Lucida Console" pitchFamily="49" charset="0"/>
              </a:rPr>
              <a:t>sp</a:t>
            </a:r>
            <a:r>
              <a:rPr lang="en-US" sz="2800" dirty="0">
                <a:latin typeface="Lucida Console" pitchFamily="49" charset="0"/>
              </a:rPr>
              <a:t>, -4</a:t>
            </a:r>
            <a:br>
              <a:rPr lang="en-US" sz="2800" dirty="0">
                <a:latin typeface="Lucida Console" pitchFamily="49" charset="0"/>
              </a:rPr>
            </a:br>
            <a:r>
              <a:rPr lang="en-US" sz="2800" dirty="0">
                <a:latin typeface="Lucida Console" pitchFamily="49" charset="0"/>
              </a:rPr>
              <a:t>  </a:t>
            </a:r>
            <a:r>
              <a:rPr lang="en-US" sz="2800" dirty="0" err="1">
                <a:latin typeface="Lucida Console" pitchFamily="49" charset="0"/>
              </a:rPr>
              <a:t>sw</a:t>
            </a:r>
            <a:r>
              <a:rPr lang="en-US" sz="2800" dirty="0">
                <a:latin typeface="Lucida Console" pitchFamily="49" charset="0"/>
              </a:rPr>
              <a:t>   $s0, 0($</a:t>
            </a:r>
            <a:r>
              <a:rPr lang="en-US" sz="2800" dirty="0" err="1">
                <a:latin typeface="Lucida Console" pitchFamily="49" charset="0"/>
              </a:rPr>
              <a:t>sp</a:t>
            </a:r>
            <a:r>
              <a:rPr lang="en-US" sz="2800" dirty="0">
                <a:latin typeface="Lucida Console" pitchFamily="49" charset="0"/>
              </a:rPr>
              <a:t>)</a:t>
            </a:r>
            <a:br>
              <a:rPr lang="en-US" sz="2800" dirty="0">
                <a:latin typeface="Lucida Console" pitchFamily="49" charset="0"/>
              </a:rPr>
            </a:br>
            <a:r>
              <a:rPr lang="en-US" sz="2800" dirty="0">
                <a:latin typeface="Lucida Console" pitchFamily="49" charset="0"/>
              </a:rPr>
              <a:t>  add  $t0, $a0, $a1</a:t>
            </a:r>
            <a:br>
              <a:rPr lang="en-US" sz="2800" dirty="0">
                <a:latin typeface="Lucida Console" pitchFamily="49" charset="0"/>
              </a:rPr>
            </a:br>
            <a:r>
              <a:rPr lang="en-US" sz="2800" dirty="0">
                <a:latin typeface="Lucida Console" pitchFamily="49" charset="0"/>
              </a:rPr>
              <a:t>  add  $t1, $a2, $a3</a:t>
            </a:r>
            <a:br>
              <a:rPr lang="en-US" sz="2800" dirty="0">
                <a:latin typeface="Lucida Console" pitchFamily="49" charset="0"/>
              </a:rPr>
            </a:br>
            <a:r>
              <a:rPr lang="en-US" sz="2800" dirty="0">
                <a:latin typeface="Lucida Console" pitchFamily="49" charset="0"/>
              </a:rPr>
              <a:t>  sub  $s0, $t0, $t1</a:t>
            </a:r>
            <a:br>
              <a:rPr lang="en-US" sz="2800" dirty="0">
                <a:latin typeface="Lucida Console" pitchFamily="49" charset="0"/>
              </a:rPr>
            </a:br>
            <a:r>
              <a:rPr lang="en-US" sz="2800" dirty="0">
                <a:latin typeface="Lucida Console" pitchFamily="49" charset="0"/>
              </a:rPr>
              <a:t>  add  $v0, $s0, $zero</a:t>
            </a:r>
            <a:br>
              <a:rPr lang="en-US" sz="2800" dirty="0">
                <a:latin typeface="Lucida Console" pitchFamily="49" charset="0"/>
              </a:rPr>
            </a:br>
            <a:r>
              <a:rPr lang="en-US" sz="2800" dirty="0">
                <a:latin typeface="Lucida Console" pitchFamily="49" charset="0"/>
              </a:rPr>
              <a:t>  </a:t>
            </a:r>
            <a:r>
              <a:rPr lang="en-US" sz="2800" dirty="0" err="1">
                <a:latin typeface="Lucida Console" pitchFamily="49" charset="0"/>
              </a:rPr>
              <a:t>lw</a:t>
            </a:r>
            <a:r>
              <a:rPr lang="en-US" sz="2800" dirty="0">
                <a:latin typeface="Lucida Console" pitchFamily="49" charset="0"/>
              </a:rPr>
              <a:t>   $s0, 0($</a:t>
            </a:r>
            <a:r>
              <a:rPr lang="en-US" sz="2800" dirty="0" err="1">
                <a:latin typeface="Lucida Console" pitchFamily="49" charset="0"/>
              </a:rPr>
              <a:t>sp</a:t>
            </a:r>
            <a:r>
              <a:rPr lang="en-US" sz="2800" dirty="0">
                <a:latin typeface="Lucida Console" pitchFamily="49" charset="0"/>
              </a:rPr>
              <a:t>)</a:t>
            </a:r>
            <a:br>
              <a:rPr lang="en-US" sz="2800" dirty="0">
                <a:latin typeface="Lucida Console" pitchFamily="49" charset="0"/>
              </a:rPr>
            </a:br>
            <a:r>
              <a:rPr lang="en-US" sz="2800" dirty="0">
                <a:latin typeface="Lucida Console" pitchFamily="49" charset="0"/>
              </a:rPr>
              <a:t>  </a:t>
            </a:r>
            <a:r>
              <a:rPr lang="en-US" sz="2800" dirty="0" err="1">
                <a:latin typeface="Lucida Console" pitchFamily="49" charset="0"/>
              </a:rPr>
              <a:t>addi</a:t>
            </a:r>
            <a:r>
              <a:rPr lang="en-US" sz="2800" dirty="0">
                <a:latin typeface="Lucida Console" pitchFamily="49" charset="0"/>
              </a:rPr>
              <a:t> $</a:t>
            </a:r>
            <a:r>
              <a:rPr lang="en-US" sz="2800" dirty="0" err="1">
                <a:latin typeface="Lucida Console" pitchFamily="49" charset="0"/>
              </a:rPr>
              <a:t>sp</a:t>
            </a:r>
            <a:r>
              <a:rPr lang="en-US" sz="2800" dirty="0">
                <a:latin typeface="Lucida Console" pitchFamily="49" charset="0"/>
              </a:rPr>
              <a:t>, $</a:t>
            </a:r>
            <a:r>
              <a:rPr lang="en-US" sz="2800" dirty="0" err="1">
                <a:latin typeface="Lucida Console" pitchFamily="49" charset="0"/>
              </a:rPr>
              <a:t>sp</a:t>
            </a:r>
            <a:r>
              <a:rPr lang="en-US" sz="2800" dirty="0">
                <a:latin typeface="Lucida Console" pitchFamily="49" charset="0"/>
              </a:rPr>
              <a:t>, 4</a:t>
            </a:r>
            <a:br>
              <a:rPr lang="en-US" sz="2800" dirty="0">
                <a:latin typeface="Lucida Console" pitchFamily="49" charset="0"/>
              </a:rPr>
            </a:br>
            <a:r>
              <a:rPr lang="en-US" sz="2800" dirty="0">
                <a:latin typeface="Lucida Console" pitchFamily="49" charset="0"/>
              </a:rPr>
              <a:t>  </a:t>
            </a:r>
            <a:r>
              <a:rPr lang="en-US" sz="2800" dirty="0" err="1">
                <a:latin typeface="Lucida Console" pitchFamily="49" charset="0"/>
              </a:rPr>
              <a:t>jr</a:t>
            </a:r>
            <a:r>
              <a:rPr lang="en-US" sz="2800" dirty="0">
                <a:latin typeface="Lucida Console" pitchFamily="49" charset="0"/>
              </a:rPr>
              <a:t>   $</a:t>
            </a:r>
            <a:r>
              <a:rPr lang="en-US" sz="2800" dirty="0" err="1">
                <a:latin typeface="Lucida Console" pitchFamily="49" charset="0"/>
              </a:rPr>
              <a:t>ra</a:t>
            </a:r>
            <a:endParaRPr lang="en-US" sz="2800" dirty="0">
              <a:latin typeface="Lucida Console" pitchFamily="49" charset="0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2757702"/>
            <a:ext cx="2116137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7836" y="3473378"/>
            <a:ext cx="1871663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3123" y="4267200"/>
            <a:ext cx="9144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3123" y="4953000"/>
            <a:ext cx="1481137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978" y="5359473"/>
            <a:ext cx="969963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49733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Gọi thủ tục (Non-Leaf)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45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Thủ tục gọi thủ tục khác</a:t>
            </a:r>
            <a:endParaRPr lang="en-US" dirty="0"/>
          </a:p>
          <a:p>
            <a:r>
              <a:rPr lang="en-US" smtClean="0"/>
              <a:t>Gọi đệ quy, thủ tục gọi phải cất vào stack thông tin:</a:t>
            </a:r>
            <a:endParaRPr lang="en-US" dirty="0"/>
          </a:p>
          <a:p>
            <a:pPr lvl="1"/>
            <a:r>
              <a:rPr lang="en-US" smtClean="0"/>
              <a:t>Địa chỉ trở về của nó trong thủ tục “cha”</a:t>
            </a:r>
            <a:endParaRPr lang="en-US" dirty="0"/>
          </a:p>
          <a:p>
            <a:pPr lvl="1"/>
            <a:r>
              <a:rPr lang="en-US" smtClean="0"/>
              <a:t>Tất cả các thông số và giá trị tạm thời </a:t>
            </a:r>
          </a:p>
          <a:p>
            <a:r>
              <a:rPr lang="en-US" smtClean="0"/>
              <a:t>Phục hồi từ stack sau khi thủ tục kết thúc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0876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smtClean="0">
                <a:solidFill>
                  <a:srgbClr val="0039A6"/>
                </a:solidFill>
                <a:latin typeface="Arial"/>
              </a:rPr>
              <a:t>Ví dụ: gọi thủ tục (Non-Leaf)</a:t>
            </a:r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46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 code:</a:t>
            </a:r>
          </a:p>
          <a:p>
            <a:pPr>
              <a:buFont typeface="Wingdings" pitchFamily="2" charset="2"/>
              <a:buNone/>
            </a:pPr>
            <a:r>
              <a:rPr lang="en-US" sz="2800" dirty="0">
                <a:latin typeface="Lucida Console" pitchFamily="49" charset="0"/>
              </a:rPr>
              <a:t>	</a:t>
            </a:r>
            <a:r>
              <a:rPr lang="en-US" sz="2800" dirty="0" err="1">
                <a:latin typeface="Lucida Console" pitchFamily="49" charset="0"/>
              </a:rPr>
              <a:t>int</a:t>
            </a:r>
            <a:r>
              <a:rPr lang="en-US" sz="2800" dirty="0">
                <a:latin typeface="Lucida Console" pitchFamily="49" charset="0"/>
              </a:rPr>
              <a:t> fact (</a:t>
            </a:r>
            <a:r>
              <a:rPr lang="en-US" sz="2800" dirty="0" err="1">
                <a:latin typeface="Lucida Console" pitchFamily="49" charset="0"/>
              </a:rPr>
              <a:t>int</a:t>
            </a:r>
            <a:r>
              <a:rPr lang="en-US" sz="2800" dirty="0">
                <a:latin typeface="Lucida Console" pitchFamily="49" charset="0"/>
              </a:rPr>
              <a:t> n)</a:t>
            </a:r>
            <a:br>
              <a:rPr lang="en-US" sz="2800" dirty="0">
                <a:latin typeface="Lucida Console" pitchFamily="49" charset="0"/>
              </a:rPr>
            </a:br>
            <a:r>
              <a:rPr lang="en-US" sz="2800" dirty="0">
                <a:latin typeface="Lucida Console" pitchFamily="49" charset="0"/>
              </a:rPr>
              <a:t>{ </a:t>
            </a:r>
            <a:br>
              <a:rPr lang="en-US" sz="2800" dirty="0">
                <a:latin typeface="Lucida Console" pitchFamily="49" charset="0"/>
              </a:rPr>
            </a:br>
            <a:r>
              <a:rPr lang="en-US" sz="2800" dirty="0">
                <a:latin typeface="Lucida Console" pitchFamily="49" charset="0"/>
              </a:rPr>
              <a:t>  if (n &lt; 1) return f;</a:t>
            </a:r>
            <a:br>
              <a:rPr lang="en-US" sz="2800" dirty="0">
                <a:latin typeface="Lucida Console" pitchFamily="49" charset="0"/>
              </a:rPr>
            </a:br>
            <a:r>
              <a:rPr lang="en-US" sz="2800" dirty="0">
                <a:latin typeface="Lucida Console" pitchFamily="49" charset="0"/>
              </a:rPr>
              <a:t>  else return n * fact(n - 1);</a:t>
            </a:r>
            <a:br>
              <a:rPr lang="en-US" sz="2800" dirty="0">
                <a:latin typeface="Lucida Console" pitchFamily="49" charset="0"/>
              </a:rPr>
            </a:br>
            <a:r>
              <a:rPr lang="en-US" sz="2800" dirty="0">
                <a:latin typeface="Lucida Console" pitchFamily="49" charset="0"/>
              </a:rPr>
              <a:t>}</a:t>
            </a:r>
          </a:p>
          <a:p>
            <a:pPr lvl="1"/>
            <a:r>
              <a:rPr lang="en-US" smtClean="0"/>
              <a:t>Thông số </a:t>
            </a:r>
            <a:r>
              <a:rPr lang="en-US"/>
              <a:t>n </a:t>
            </a:r>
            <a:r>
              <a:rPr lang="en-US" smtClean="0"/>
              <a:t>chứa trong </a:t>
            </a:r>
            <a:r>
              <a:rPr lang="en-US" dirty="0"/>
              <a:t>$a0</a:t>
            </a:r>
          </a:p>
          <a:p>
            <a:pPr lvl="1"/>
            <a:r>
              <a:rPr lang="en-US" smtClean="0"/>
              <a:t>Kết quả trả về chứa trong </a:t>
            </a:r>
            <a:r>
              <a:rPr lang="en-US" dirty="0"/>
              <a:t>$v0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43146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>
                <a:solidFill>
                  <a:srgbClr val="0039A6"/>
                </a:solidFill>
                <a:latin typeface="Arial"/>
              </a:rPr>
              <a:t>Ví dụ: gọi thủ tục (Non-Leaf</a:t>
            </a:r>
            <a:r>
              <a:rPr lang="en-US" sz="4000" b="1" smtClean="0">
                <a:solidFill>
                  <a:srgbClr val="0039A6"/>
                </a:solidFill>
                <a:latin typeface="Arial"/>
              </a:rPr>
              <a:t>) tt.</a:t>
            </a:r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47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1295400"/>
            <a:ext cx="7772400" cy="5029200"/>
          </a:xfrm>
        </p:spPr>
        <p:txBody>
          <a:bodyPr/>
          <a:lstStyle/>
          <a:p>
            <a:r>
              <a:rPr lang="en-US" sz="2800" smtClean="0"/>
              <a:t>Sau khi biên dịch thành MIPS </a:t>
            </a:r>
            <a:r>
              <a:rPr lang="en-US" sz="2800" dirty="0"/>
              <a:t>code:</a:t>
            </a:r>
          </a:p>
          <a:p>
            <a:pPr>
              <a:buFont typeface="Wingdings" pitchFamily="2" charset="2"/>
              <a:buNone/>
            </a:pPr>
            <a:r>
              <a:rPr lang="en-US" sz="1800" dirty="0">
                <a:latin typeface="Lucida Console" pitchFamily="49" charset="0"/>
              </a:rPr>
              <a:t>	fact:</a:t>
            </a:r>
            <a:br>
              <a:rPr lang="en-US" sz="1800" dirty="0">
                <a:latin typeface="Lucida Console" pitchFamily="49" charset="0"/>
              </a:rPr>
            </a:br>
            <a:r>
              <a:rPr lang="en-US" sz="1800" dirty="0">
                <a:latin typeface="Lucida Console" pitchFamily="49" charset="0"/>
              </a:rPr>
              <a:t>    </a:t>
            </a:r>
            <a:r>
              <a:rPr lang="en-US" sz="1800" dirty="0" err="1">
                <a:latin typeface="Lucida Console" pitchFamily="49" charset="0"/>
              </a:rPr>
              <a:t>addi</a:t>
            </a:r>
            <a:r>
              <a:rPr lang="en-US" sz="1800" dirty="0">
                <a:latin typeface="Lucida Console" pitchFamily="49" charset="0"/>
              </a:rPr>
              <a:t> $</a:t>
            </a:r>
            <a:r>
              <a:rPr lang="en-US" sz="1800" dirty="0" err="1">
                <a:latin typeface="Lucida Console" pitchFamily="49" charset="0"/>
              </a:rPr>
              <a:t>sp</a:t>
            </a:r>
            <a:r>
              <a:rPr lang="en-US" sz="1800" dirty="0">
                <a:latin typeface="Lucida Console" pitchFamily="49" charset="0"/>
              </a:rPr>
              <a:t>, $</a:t>
            </a:r>
            <a:r>
              <a:rPr lang="en-US" sz="1800" dirty="0" err="1">
                <a:latin typeface="Lucida Console" pitchFamily="49" charset="0"/>
              </a:rPr>
              <a:t>sp</a:t>
            </a:r>
            <a:r>
              <a:rPr lang="en-US" sz="1800" dirty="0">
                <a:latin typeface="Lucida Console" pitchFamily="49" charset="0"/>
              </a:rPr>
              <a:t>, -8     # adjust stack for 2 items</a:t>
            </a:r>
            <a:br>
              <a:rPr lang="en-US" sz="1800" dirty="0">
                <a:latin typeface="Lucida Console" pitchFamily="49" charset="0"/>
              </a:rPr>
            </a:br>
            <a:r>
              <a:rPr lang="en-US" sz="1800" dirty="0">
                <a:latin typeface="Lucida Console" pitchFamily="49" charset="0"/>
              </a:rPr>
              <a:t>    </a:t>
            </a:r>
            <a:r>
              <a:rPr lang="en-US" sz="1800" dirty="0" err="1">
                <a:latin typeface="Lucida Console" pitchFamily="49" charset="0"/>
              </a:rPr>
              <a:t>sw</a:t>
            </a:r>
            <a:r>
              <a:rPr lang="en-US" sz="1800" dirty="0">
                <a:latin typeface="Lucida Console" pitchFamily="49" charset="0"/>
              </a:rPr>
              <a:t>   $</a:t>
            </a:r>
            <a:r>
              <a:rPr lang="en-US" sz="1800" dirty="0" err="1">
                <a:latin typeface="Lucida Console" pitchFamily="49" charset="0"/>
              </a:rPr>
              <a:t>ra</a:t>
            </a:r>
            <a:r>
              <a:rPr lang="en-US" sz="1800" dirty="0">
                <a:latin typeface="Lucida Console" pitchFamily="49" charset="0"/>
              </a:rPr>
              <a:t>, 4($</a:t>
            </a:r>
            <a:r>
              <a:rPr lang="en-US" sz="1800" dirty="0" err="1">
                <a:latin typeface="Lucida Console" pitchFamily="49" charset="0"/>
              </a:rPr>
              <a:t>sp</a:t>
            </a:r>
            <a:r>
              <a:rPr lang="en-US" sz="1800" dirty="0">
                <a:latin typeface="Lucida Console" pitchFamily="49" charset="0"/>
              </a:rPr>
              <a:t>)      # save return address</a:t>
            </a:r>
            <a:br>
              <a:rPr lang="en-US" sz="1800" dirty="0">
                <a:latin typeface="Lucida Console" pitchFamily="49" charset="0"/>
              </a:rPr>
            </a:br>
            <a:r>
              <a:rPr lang="en-US" sz="1800" dirty="0">
                <a:latin typeface="Lucida Console" pitchFamily="49" charset="0"/>
              </a:rPr>
              <a:t>    </a:t>
            </a:r>
            <a:r>
              <a:rPr lang="en-US" sz="1800" dirty="0" err="1">
                <a:latin typeface="Lucida Console" pitchFamily="49" charset="0"/>
              </a:rPr>
              <a:t>sw</a:t>
            </a:r>
            <a:r>
              <a:rPr lang="en-US" sz="1800" dirty="0">
                <a:latin typeface="Lucida Console" pitchFamily="49" charset="0"/>
              </a:rPr>
              <a:t>   $a0, 0($</a:t>
            </a:r>
            <a:r>
              <a:rPr lang="en-US" sz="1800" dirty="0" err="1">
                <a:latin typeface="Lucida Console" pitchFamily="49" charset="0"/>
              </a:rPr>
              <a:t>sp</a:t>
            </a:r>
            <a:r>
              <a:rPr lang="en-US" sz="1800" dirty="0">
                <a:latin typeface="Lucida Console" pitchFamily="49" charset="0"/>
              </a:rPr>
              <a:t>)      # save argument</a:t>
            </a:r>
            <a:br>
              <a:rPr lang="en-US" sz="1800" dirty="0">
                <a:latin typeface="Lucida Console" pitchFamily="49" charset="0"/>
              </a:rPr>
            </a:br>
            <a:r>
              <a:rPr lang="en-US" sz="1800" dirty="0">
                <a:latin typeface="Lucida Console" pitchFamily="49" charset="0"/>
              </a:rPr>
              <a:t>    </a:t>
            </a:r>
            <a:r>
              <a:rPr lang="en-US" sz="1800" dirty="0" err="1">
                <a:latin typeface="Lucida Console" pitchFamily="49" charset="0"/>
              </a:rPr>
              <a:t>slti</a:t>
            </a:r>
            <a:r>
              <a:rPr lang="en-US" sz="1800" dirty="0">
                <a:latin typeface="Lucida Console" pitchFamily="49" charset="0"/>
              </a:rPr>
              <a:t> $t0, $a0, 1      # test for n &lt; 1</a:t>
            </a:r>
            <a:br>
              <a:rPr lang="en-US" sz="1800" dirty="0">
                <a:latin typeface="Lucida Console" pitchFamily="49" charset="0"/>
              </a:rPr>
            </a:br>
            <a:r>
              <a:rPr lang="en-US" sz="1800" dirty="0">
                <a:latin typeface="Lucida Console" pitchFamily="49" charset="0"/>
              </a:rPr>
              <a:t>    </a:t>
            </a:r>
            <a:r>
              <a:rPr lang="en-US" sz="1800" dirty="0" err="1">
                <a:latin typeface="Lucida Console" pitchFamily="49" charset="0"/>
              </a:rPr>
              <a:t>beq</a:t>
            </a:r>
            <a:r>
              <a:rPr lang="en-US" sz="1800" dirty="0">
                <a:latin typeface="Lucida Console" pitchFamily="49" charset="0"/>
              </a:rPr>
              <a:t>  $t0, $zero, L1</a:t>
            </a:r>
            <a:br>
              <a:rPr lang="en-US" sz="1800" dirty="0">
                <a:latin typeface="Lucida Console" pitchFamily="49" charset="0"/>
              </a:rPr>
            </a:br>
            <a:r>
              <a:rPr lang="en-US" sz="1800" dirty="0">
                <a:latin typeface="Lucida Console" pitchFamily="49" charset="0"/>
              </a:rPr>
              <a:t>    </a:t>
            </a:r>
            <a:r>
              <a:rPr lang="en-US" sz="1800" dirty="0" err="1">
                <a:latin typeface="Lucida Console" pitchFamily="49" charset="0"/>
              </a:rPr>
              <a:t>addi</a:t>
            </a:r>
            <a:r>
              <a:rPr lang="en-US" sz="1800" dirty="0">
                <a:latin typeface="Lucida Console" pitchFamily="49" charset="0"/>
              </a:rPr>
              <a:t> $v0, $zero, 1    # if so, result is 1</a:t>
            </a:r>
            <a:br>
              <a:rPr lang="en-US" sz="1800" dirty="0">
                <a:latin typeface="Lucida Console" pitchFamily="49" charset="0"/>
              </a:rPr>
            </a:br>
            <a:r>
              <a:rPr lang="en-US" sz="1800" dirty="0">
                <a:latin typeface="Lucida Console" pitchFamily="49" charset="0"/>
              </a:rPr>
              <a:t>    </a:t>
            </a:r>
            <a:r>
              <a:rPr lang="en-US" sz="1800" dirty="0" err="1">
                <a:latin typeface="Lucida Console" pitchFamily="49" charset="0"/>
              </a:rPr>
              <a:t>addi</a:t>
            </a:r>
            <a:r>
              <a:rPr lang="en-US" sz="1800" dirty="0">
                <a:latin typeface="Lucida Console" pitchFamily="49" charset="0"/>
              </a:rPr>
              <a:t> $</a:t>
            </a:r>
            <a:r>
              <a:rPr lang="en-US" sz="1800" dirty="0" err="1">
                <a:latin typeface="Lucida Console" pitchFamily="49" charset="0"/>
              </a:rPr>
              <a:t>sp</a:t>
            </a:r>
            <a:r>
              <a:rPr lang="en-US" sz="1800" dirty="0">
                <a:latin typeface="Lucida Console" pitchFamily="49" charset="0"/>
              </a:rPr>
              <a:t>, $</a:t>
            </a:r>
            <a:r>
              <a:rPr lang="en-US" sz="1800" dirty="0" err="1">
                <a:latin typeface="Lucida Console" pitchFamily="49" charset="0"/>
              </a:rPr>
              <a:t>sp</a:t>
            </a:r>
            <a:r>
              <a:rPr lang="en-US" sz="1800" dirty="0">
                <a:latin typeface="Lucida Console" pitchFamily="49" charset="0"/>
              </a:rPr>
              <a:t>, 8      #   pop 2 items from stack</a:t>
            </a:r>
            <a:br>
              <a:rPr lang="en-US" sz="1800" dirty="0">
                <a:latin typeface="Lucida Console" pitchFamily="49" charset="0"/>
              </a:rPr>
            </a:br>
            <a:r>
              <a:rPr lang="en-US" sz="1800" dirty="0">
                <a:latin typeface="Lucida Console" pitchFamily="49" charset="0"/>
              </a:rPr>
              <a:t>    </a:t>
            </a:r>
            <a:r>
              <a:rPr lang="en-US" sz="1800" dirty="0" err="1">
                <a:latin typeface="Lucida Console" pitchFamily="49" charset="0"/>
              </a:rPr>
              <a:t>jr</a:t>
            </a:r>
            <a:r>
              <a:rPr lang="en-US" sz="1800" dirty="0">
                <a:latin typeface="Lucida Console" pitchFamily="49" charset="0"/>
              </a:rPr>
              <a:t>   $</a:t>
            </a:r>
            <a:r>
              <a:rPr lang="en-US" sz="1800" dirty="0" err="1">
                <a:latin typeface="Lucida Console" pitchFamily="49" charset="0"/>
              </a:rPr>
              <a:t>ra</a:t>
            </a:r>
            <a:r>
              <a:rPr lang="en-US" sz="1800" dirty="0">
                <a:latin typeface="Lucida Console" pitchFamily="49" charset="0"/>
              </a:rPr>
              <a:t>              #   and return</a:t>
            </a:r>
            <a:br>
              <a:rPr lang="en-US" sz="1800" dirty="0">
                <a:latin typeface="Lucida Console" pitchFamily="49" charset="0"/>
              </a:rPr>
            </a:br>
            <a:r>
              <a:rPr lang="en-US" sz="1800" dirty="0">
                <a:latin typeface="Lucida Console" pitchFamily="49" charset="0"/>
              </a:rPr>
              <a:t>L1: </a:t>
            </a:r>
            <a:r>
              <a:rPr lang="en-US" sz="1800" dirty="0" err="1">
                <a:latin typeface="Lucida Console" pitchFamily="49" charset="0"/>
              </a:rPr>
              <a:t>addi</a:t>
            </a:r>
            <a:r>
              <a:rPr lang="en-US" sz="1800" dirty="0">
                <a:latin typeface="Lucida Console" pitchFamily="49" charset="0"/>
              </a:rPr>
              <a:t> $a0, $a0, -1     # else decrement n  </a:t>
            </a:r>
            <a:br>
              <a:rPr lang="en-US" sz="1800" dirty="0">
                <a:latin typeface="Lucida Console" pitchFamily="49" charset="0"/>
              </a:rPr>
            </a:br>
            <a:r>
              <a:rPr lang="en-US" sz="1800" dirty="0">
                <a:latin typeface="Lucida Console" pitchFamily="49" charset="0"/>
              </a:rPr>
              <a:t>    </a:t>
            </a:r>
            <a:r>
              <a:rPr lang="en-US" sz="1800" dirty="0" err="1">
                <a:latin typeface="Lucida Console" pitchFamily="49" charset="0"/>
              </a:rPr>
              <a:t>jal</a:t>
            </a:r>
            <a:r>
              <a:rPr lang="en-US" sz="1800" dirty="0">
                <a:latin typeface="Lucida Console" pitchFamily="49" charset="0"/>
              </a:rPr>
              <a:t>  fact             # recursive call</a:t>
            </a:r>
            <a:br>
              <a:rPr lang="en-US" sz="1800" dirty="0">
                <a:latin typeface="Lucida Console" pitchFamily="49" charset="0"/>
              </a:rPr>
            </a:br>
            <a:r>
              <a:rPr lang="en-US" sz="1800" dirty="0">
                <a:latin typeface="Lucida Console" pitchFamily="49" charset="0"/>
              </a:rPr>
              <a:t>    </a:t>
            </a:r>
            <a:r>
              <a:rPr lang="en-US" sz="1800" dirty="0" err="1">
                <a:latin typeface="Lucida Console" pitchFamily="49" charset="0"/>
              </a:rPr>
              <a:t>lw</a:t>
            </a:r>
            <a:r>
              <a:rPr lang="en-US" sz="1800" dirty="0">
                <a:latin typeface="Lucida Console" pitchFamily="49" charset="0"/>
              </a:rPr>
              <a:t>   $a0, 0($</a:t>
            </a:r>
            <a:r>
              <a:rPr lang="en-US" sz="1800" dirty="0" err="1">
                <a:latin typeface="Lucida Console" pitchFamily="49" charset="0"/>
              </a:rPr>
              <a:t>sp</a:t>
            </a:r>
            <a:r>
              <a:rPr lang="en-US" sz="1800" dirty="0">
                <a:latin typeface="Lucida Console" pitchFamily="49" charset="0"/>
              </a:rPr>
              <a:t>)      # restore original n</a:t>
            </a:r>
            <a:br>
              <a:rPr lang="en-US" sz="1800" dirty="0">
                <a:latin typeface="Lucida Console" pitchFamily="49" charset="0"/>
              </a:rPr>
            </a:br>
            <a:r>
              <a:rPr lang="en-US" sz="1800" dirty="0">
                <a:latin typeface="Lucida Console" pitchFamily="49" charset="0"/>
              </a:rPr>
              <a:t>    </a:t>
            </a:r>
            <a:r>
              <a:rPr lang="en-US" sz="1800" dirty="0" err="1">
                <a:latin typeface="Lucida Console" pitchFamily="49" charset="0"/>
              </a:rPr>
              <a:t>lw</a:t>
            </a:r>
            <a:r>
              <a:rPr lang="en-US" sz="1800" dirty="0">
                <a:latin typeface="Lucida Console" pitchFamily="49" charset="0"/>
              </a:rPr>
              <a:t>   $</a:t>
            </a:r>
            <a:r>
              <a:rPr lang="en-US" sz="1800" dirty="0" err="1">
                <a:latin typeface="Lucida Console" pitchFamily="49" charset="0"/>
              </a:rPr>
              <a:t>ra</a:t>
            </a:r>
            <a:r>
              <a:rPr lang="en-US" sz="1800" dirty="0">
                <a:latin typeface="Lucida Console" pitchFamily="49" charset="0"/>
              </a:rPr>
              <a:t>, 4($</a:t>
            </a:r>
            <a:r>
              <a:rPr lang="en-US" sz="1800" dirty="0" err="1">
                <a:latin typeface="Lucida Console" pitchFamily="49" charset="0"/>
              </a:rPr>
              <a:t>sp</a:t>
            </a:r>
            <a:r>
              <a:rPr lang="en-US" sz="1800" dirty="0">
                <a:latin typeface="Lucida Console" pitchFamily="49" charset="0"/>
              </a:rPr>
              <a:t>)      #   and return address</a:t>
            </a:r>
            <a:br>
              <a:rPr lang="en-US" sz="1800" dirty="0">
                <a:latin typeface="Lucida Console" pitchFamily="49" charset="0"/>
              </a:rPr>
            </a:br>
            <a:r>
              <a:rPr lang="en-US" sz="1800" dirty="0">
                <a:latin typeface="Lucida Console" pitchFamily="49" charset="0"/>
              </a:rPr>
              <a:t>    </a:t>
            </a:r>
            <a:r>
              <a:rPr lang="en-US" sz="1800" dirty="0" err="1">
                <a:latin typeface="Lucida Console" pitchFamily="49" charset="0"/>
              </a:rPr>
              <a:t>addi</a:t>
            </a:r>
            <a:r>
              <a:rPr lang="en-US" sz="1800" dirty="0">
                <a:latin typeface="Lucida Console" pitchFamily="49" charset="0"/>
              </a:rPr>
              <a:t> $</a:t>
            </a:r>
            <a:r>
              <a:rPr lang="en-US" sz="1800" dirty="0" err="1">
                <a:latin typeface="Lucida Console" pitchFamily="49" charset="0"/>
              </a:rPr>
              <a:t>sp</a:t>
            </a:r>
            <a:r>
              <a:rPr lang="en-US" sz="1800" dirty="0">
                <a:latin typeface="Lucida Console" pitchFamily="49" charset="0"/>
              </a:rPr>
              <a:t>, $</a:t>
            </a:r>
            <a:r>
              <a:rPr lang="en-US" sz="1800" dirty="0" err="1">
                <a:latin typeface="Lucida Console" pitchFamily="49" charset="0"/>
              </a:rPr>
              <a:t>sp</a:t>
            </a:r>
            <a:r>
              <a:rPr lang="en-US" sz="1800" dirty="0">
                <a:latin typeface="Lucida Console" pitchFamily="49" charset="0"/>
              </a:rPr>
              <a:t>, 8      # pop 2 items from stack</a:t>
            </a:r>
            <a:br>
              <a:rPr lang="en-US" sz="1800" dirty="0">
                <a:latin typeface="Lucida Console" pitchFamily="49" charset="0"/>
              </a:rPr>
            </a:br>
            <a:r>
              <a:rPr lang="en-US" sz="1800" dirty="0">
                <a:latin typeface="Lucida Console" pitchFamily="49" charset="0"/>
              </a:rPr>
              <a:t>    </a:t>
            </a:r>
            <a:r>
              <a:rPr lang="en-US" sz="1800" dirty="0" err="1">
                <a:latin typeface="Lucida Console" pitchFamily="49" charset="0"/>
              </a:rPr>
              <a:t>mul</a:t>
            </a:r>
            <a:r>
              <a:rPr lang="en-US" sz="1800" dirty="0">
                <a:latin typeface="Lucida Console" pitchFamily="49" charset="0"/>
              </a:rPr>
              <a:t>  $v0, $a0, $v0    # multiply to get result</a:t>
            </a:r>
            <a:br>
              <a:rPr lang="en-US" sz="1800" dirty="0">
                <a:latin typeface="Lucida Console" pitchFamily="49" charset="0"/>
              </a:rPr>
            </a:br>
            <a:r>
              <a:rPr lang="en-US" sz="1800" dirty="0">
                <a:latin typeface="Lucida Console" pitchFamily="49" charset="0"/>
              </a:rPr>
              <a:t>    </a:t>
            </a:r>
            <a:r>
              <a:rPr lang="en-US" sz="1800" dirty="0" err="1">
                <a:latin typeface="Lucida Console" pitchFamily="49" charset="0"/>
              </a:rPr>
              <a:t>jr</a:t>
            </a:r>
            <a:r>
              <a:rPr lang="en-US" sz="1800" dirty="0">
                <a:latin typeface="Lucida Console" pitchFamily="49" charset="0"/>
              </a:rPr>
              <a:t>   $</a:t>
            </a:r>
            <a:r>
              <a:rPr lang="en-US" sz="1800" dirty="0" err="1">
                <a:latin typeface="Lucida Console" pitchFamily="49" charset="0"/>
              </a:rPr>
              <a:t>ra</a:t>
            </a:r>
            <a:r>
              <a:rPr lang="en-US" sz="1800" dirty="0">
                <a:latin typeface="Lucida Console" pitchFamily="49" charset="0"/>
              </a:rPr>
              <a:t>              # and return</a:t>
            </a:r>
          </a:p>
        </p:txBody>
      </p:sp>
    </p:spTree>
    <p:extLst>
      <p:ext uri="{BB962C8B-B14F-4D97-AF65-F5344CB8AC3E}">
        <p14:creationId xmlns:p14="http://schemas.microsoft.com/office/powerpoint/2010/main" val="2702719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Cách lưu trữ trong Stack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48</a:t>
            </a:fld>
            <a:endParaRPr lang="vi-VN"/>
          </a:p>
        </p:txBody>
      </p:sp>
      <p:sp>
        <p:nvSpPr>
          <p:cNvPr id="7" name="Rectangle 7"/>
          <p:cNvSpPr txBox="1">
            <a:spLocks noChangeArrowheads="1"/>
          </p:cNvSpPr>
          <p:nvPr/>
        </p:nvSpPr>
        <p:spPr bwMode="auto">
          <a:xfrm>
            <a:off x="684213" y="4581525"/>
            <a:ext cx="8270875" cy="1655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2800" smtClean="0"/>
              <a:t>Dữ liệu cục bộ được cấp phát tại thủ tục</a:t>
            </a:r>
          </a:p>
          <a:p>
            <a:pPr lvl="1">
              <a:lnSpc>
                <a:spcPct val="80000"/>
              </a:lnSpc>
            </a:pPr>
            <a:r>
              <a:rPr lang="en-US" sz="2400" smtClean="0"/>
              <a:t>e.g., C automatic variables</a:t>
            </a:r>
          </a:p>
          <a:p>
            <a:pPr>
              <a:lnSpc>
                <a:spcPct val="80000"/>
              </a:lnSpc>
            </a:pPr>
            <a:r>
              <a:rPr lang="en-US" sz="2800" smtClean="0"/>
              <a:t>Procedure frame (activation record)</a:t>
            </a:r>
          </a:p>
          <a:p>
            <a:pPr lvl="1">
              <a:lnSpc>
                <a:spcPct val="80000"/>
              </a:lnSpc>
            </a:pPr>
            <a:r>
              <a:rPr lang="en-US" sz="2400" smtClean="0"/>
              <a:t>Compiler sử dụng để quản lý lưu trữ trong stack</a:t>
            </a:r>
            <a:endParaRPr lang="en-AU" sz="2400" dirty="0"/>
          </a:p>
        </p:txBody>
      </p:sp>
      <p:pic>
        <p:nvPicPr>
          <p:cNvPr id="8" name="Picture 9" descr="f02-12-P37449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163" y="1268413"/>
            <a:ext cx="6567487" cy="318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3012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Bố cục chứa trong bộ nhớ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49</a:t>
            </a:fld>
            <a:endParaRPr lang="vi-VN"/>
          </a:p>
        </p:txBody>
      </p:sp>
      <p:sp>
        <p:nvSpPr>
          <p:cNvPr id="7" name="Rectangle 7"/>
          <p:cNvSpPr>
            <a:spLocks noGrp="1" noChangeArrowheads="1"/>
          </p:cNvSpPr>
          <p:nvPr>
            <p:ph idx="1"/>
          </p:nvPr>
        </p:nvSpPr>
        <p:spPr>
          <a:xfrm>
            <a:off x="533400" y="1470991"/>
            <a:ext cx="5105400" cy="466152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smtClean="0"/>
              <a:t>Text: mã lệnh chương trình</a:t>
            </a: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smtClean="0"/>
              <a:t>Dữ liệu tĩnh: biến toàn cục</a:t>
            </a:r>
            <a:endParaRPr lang="en-US" sz="2800" dirty="0"/>
          </a:p>
          <a:p>
            <a:pPr lvl="1">
              <a:lnSpc>
                <a:spcPct val="90000"/>
              </a:lnSpc>
            </a:pPr>
            <a:r>
              <a:rPr lang="en-US" sz="2400" smtClean="0"/>
              <a:t>Ví dụ: </a:t>
            </a:r>
            <a:r>
              <a:rPr lang="en-US" sz="2400" dirty="0"/>
              <a:t>static variables in C, constant arrays and strings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$</a:t>
            </a:r>
            <a:r>
              <a:rPr lang="en-US" sz="2400" dirty="0" err="1"/>
              <a:t>gp</a:t>
            </a:r>
            <a:r>
              <a:rPr lang="en-US" sz="2400" dirty="0"/>
              <a:t> initialized to address allowing ±offsets into this segment</a:t>
            </a:r>
          </a:p>
          <a:p>
            <a:pPr>
              <a:lnSpc>
                <a:spcPct val="90000"/>
              </a:lnSpc>
            </a:pPr>
            <a:r>
              <a:rPr lang="en-US" sz="2800" smtClean="0"/>
              <a:t>Dữ liệu động: </a:t>
            </a:r>
            <a:r>
              <a:rPr lang="en-US" sz="2800" dirty="0"/>
              <a:t>heap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E.g., </a:t>
            </a:r>
            <a:r>
              <a:rPr lang="en-US" sz="2400" dirty="0" err="1"/>
              <a:t>malloc</a:t>
            </a:r>
            <a:r>
              <a:rPr lang="en-US" sz="2400" dirty="0"/>
              <a:t> in C, new in Java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Stack</a:t>
            </a:r>
            <a:r>
              <a:rPr lang="en-US" sz="2800"/>
              <a:t>: </a:t>
            </a:r>
            <a:r>
              <a:rPr lang="en-US" sz="2800" smtClean="0"/>
              <a:t>lưu trữ tự động</a:t>
            </a:r>
            <a:endParaRPr lang="en-AU" sz="28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2160587"/>
            <a:ext cx="3200400" cy="253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67750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Dữ liệu ký tự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50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Tập ký tự dạng Byte-encoded</a:t>
            </a:r>
            <a:endParaRPr lang="en-US" dirty="0"/>
          </a:p>
          <a:p>
            <a:pPr lvl="1"/>
            <a:r>
              <a:rPr lang="en-US" dirty="0"/>
              <a:t>ASCII: </a:t>
            </a:r>
            <a:r>
              <a:rPr lang="en-US"/>
              <a:t>128 </a:t>
            </a:r>
            <a:r>
              <a:rPr lang="en-US" smtClean="0"/>
              <a:t>Ký tự</a:t>
            </a:r>
            <a:endParaRPr lang="en-US" dirty="0"/>
          </a:p>
          <a:p>
            <a:pPr lvl="2"/>
            <a:r>
              <a:rPr lang="en-US" dirty="0"/>
              <a:t>95 graphic, </a:t>
            </a:r>
            <a:r>
              <a:rPr lang="en-US"/>
              <a:t>33 </a:t>
            </a:r>
            <a:r>
              <a:rPr lang="en-US" smtClean="0"/>
              <a:t>điều khiển</a:t>
            </a:r>
            <a:endParaRPr lang="en-US" dirty="0"/>
          </a:p>
          <a:p>
            <a:pPr lvl="1"/>
            <a:r>
              <a:rPr lang="en-US" dirty="0"/>
              <a:t>Latin-1: </a:t>
            </a:r>
            <a:r>
              <a:rPr lang="en-US"/>
              <a:t>256 </a:t>
            </a:r>
            <a:r>
              <a:rPr lang="en-US" smtClean="0"/>
              <a:t>Ký tự</a:t>
            </a:r>
            <a:endParaRPr lang="en-US" dirty="0"/>
          </a:p>
          <a:p>
            <a:pPr lvl="2"/>
            <a:r>
              <a:rPr lang="en-US" dirty="0"/>
              <a:t>ASCII, +</a:t>
            </a:r>
            <a:r>
              <a:rPr lang="en-US"/>
              <a:t>96 </a:t>
            </a:r>
            <a:r>
              <a:rPr lang="en-US" smtClean="0"/>
              <a:t>ký tự graphics</a:t>
            </a:r>
          </a:p>
          <a:p>
            <a:r>
              <a:rPr lang="en-US" smtClean="0"/>
              <a:t>Tập ký tự 32-bit dạng Unicode:</a:t>
            </a:r>
          </a:p>
          <a:p>
            <a:pPr lvl="1"/>
            <a:r>
              <a:rPr lang="en-US" sz="2400" smtClean="0"/>
              <a:t>Sử dụng trong </a:t>
            </a:r>
            <a:r>
              <a:rPr lang="en-US" sz="2400" dirty="0"/>
              <a:t>Java, C++ wide characters, …</a:t>
            </a:r>
          </a:p>
          <a:p>
            <a:pPr lvl="1"/>
            <a:r>
              <a:rPr lang="en-US" sz="2400" smtClean="0"/>
              <a:t>Chứa toàn bộ mã ký tự thế giới, cùng với </a:t>
            </a:r>
            <a:r>
              <a:rPr lang="en-US" sz="2400" dirty="0"/>
              <a:t>symbols</a:t>
            </a:r>
          </a:p>
          <a:p>
            <a:pPr lvl="1"/>
            <a:r>
              <a:rPr lang="en-US" sz="2400" dirty="0"/>
              <a:t>UTF-8, UTF-16: variable-length encodings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4210211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smtClean="0">
                <a:solidFill>
                  <a:srgbClr val="0039A6"/>
                </a:solidFill>
                <a:latin typeface="Arial"/>
              </a:rPr>
              <a:t>Nhóm các lệnh Byte/Halfword</a:t>
            </a:r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5600" y="6324600"/>
            <a:ext cx="4343400" cy="381000"/>
          </a:xfrm>
        </p:spPr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51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470991"/>
            <a:ext cx="8839200" cy="4661521"/>
          </a:xfrm>
        </p:spPr>
        <p:txBody>
          <a:bodyPr/>
          <a:lstStyle/>
          <a:p>
            <a:r>
              <a:rPr lang="en-US" smtClean="0"/>
              <a:t>Dùng cho các tác vụ xử lý theo bit</a:t>
            </a:r>
            <a:endParaRPr lang="en-US" dirty="0"/>
          </a:p>
          <a:p>
            <a:r>
              <a:rPr lang="en-US" dirty="0"/>
              <a:t>MIPS byte/</a:t>
            </a:r>
            <a:r>
              <a:rPr lang="en-US" dirty="0" err="1"/>
              <a:t>halfword</a:t>
            </a:r>
            <a:r>
              <a:rPr lang="en-US" dirty="0"/>
              <a:t> load/store</a:t>
            </a:r>
          </a:p>
          <a:p>
            <a:pPr lvl="1"/>
            <a:r>
              <a:rPr lang="en-US" smtClean="0"/>
              <a:t>Xử lý chuỗi khá phổ biến</a:t>
            </a:r>
            <a:endParaRPr lang="en-US" dirty="0"/>
          </a:p>
          <a:p>
            <a:pPr>
              <a:buFont typeface="Wingdings" pitchFamily="2" charset="2"/>
              <a:buNone/>
            </a:pPr>
            <a:r>
              <a:rPr lang="en-US" sz="2600" dirty="0" err="1">
                <a:latin typeface="Lucida Console" pitchFamily="49" charset="0"/>
              </a:rPr>
              <a:t>lb</a:t>
            </a:r>
            <a:r>
              <a:rPr lang="en-US" sz="2600" dirty="0">
                <a:latin typeface="Lucida Console" pitchFamily="49" charset="0"/>
              </a:rPr>
              <a:t> </a:t>
            </a:r>
            <a:r>
              <a:rPr lang="en-US" sz="2600" dirty="0" err="1">
                <a:latin typeface="Lucida Console" pitchFamily="49" charset="0"/>
              </a:rPr>
              <a:t>rt</a:t>
            </a:r>
            <a:r>
              <a:rPr lang="en-US" sz="2600" dirty="0">
                <a:latin typeface="Lucida Console" pitchFamily="49" charset="0"/>
              </a:rPr>
              <a:t>, offset(</a:t>
            </a:r>
            <a:r>
              <a:rPr lang="en-US" sz="2600" dirty="0" err="1">
                <a:latin typeface="Lucida Console" pitchFamily="49" charset="0"/>
              </a:rPr>
              <a:t>rs</a:t>
            </a:r>
            <a:r>
              <a:rPr lang="en-US" sz="2600" dirty="0">
                <a:latin typeface="Lucida Console" pitchFamily="49" charset="0"/>
              </a:rPr>
              <a:t>)     </a:t>
            </a:r>
            <a:r>
              <a:rPr lang="en-US" sz="2600" dirty="0" err="1">
                <a:latin typeface="Lucida Console" pitchFamily="49" charset="0"/>
              </a:rPr>
              <a:t>lh</a:t>
            </a:r>
            <a:r>
              <a:rPr lang="en-US" sz="2600" dirty="0">
                <a:latin typeface="Lucida Console" pitchFamily="49" charset="0"/>
              </a:rPr>
              <a:t> </a:t>
            </a:r>
            <a:r>
              <a:rPr lang="en-US" sz="2600" dirty="0" err="1">
                <a:latin typeface="Lucida Console" pitchFamily="49" charset="0"/>
              </a:rPr>
              <a:t>rt</a:t>
            </a:r>
            <a:r>
              <a:rPr lang="en-US" sz="2600" dirty="0">
                <a:latin typeface="Lucida Console" pitchFamily="49" charset="0"/>
              </a:rPr>
              <a:t>, offset(</a:t>
            </a:r>
            <a:r>
              <a:rPr lang="en-US" sz="2600" dirty="0" err="1">
                <a:latin typeface="Lucida Console" pitchFamily="49" charset="0"/>
              </a:rPr>
              <a:t>rs</a:t>
            </a:r>
            <a:r>
              <a:rPr lang="en-US" sz="2600" dirty="0">
                <a:latin typeface="Lucida Console" pitchFamily="49" charset="0"/>
              </a:rPr>
              <a:t>)</a:t>
            </a:r>
          </a:p>
          <a:p>
            <a:pPr lvl="1"/>
            <a:r>
              <a:rPr lang="en-US" dirty="0"/>
              <a:t>Sign extend to 32 bits in </a:t>
            </a:r>
            <a:r>
              <a:rPr lang="en-US" dirty="0" err="1"/>
              <a:t>rt</a:t>
            </a:r>
            <a:endParaRPr lang="en-US" dirty="0"/>
          </a:p>
          <a:p>
            <a:pPr>
              <a:buFont typeface="Wingdings" pitchFamily="2" charset="2"/>
              <a:buNone/>
            </a:pPr>
            <a:r>
              <a:rPr lang="en-US" sz="2600" dirty="0" err="1">
                <a:latin typeface="Lucida Console" pitchFamily="49" charset="0"/>
              </a:rPr>
              <a:t>lbu</a:t>
            </a:r>
            <a:r>
              <a:rPr lang="en-US" sz="2600" dirty="0">
                <a:latin typeface="Lucida Console" pitchFamily="49" charset="0"/>
              </a:rPr>
              <a:t> </a:t>
            </a:r>
            <a:r>
              <a:rPr lang="en-US" sz="2600" dirty="0" err="1">
                <a:latin typeface="Lucida Console" pitchFamily="49" charset="0"/>
              </a:rPr>
              <a:t>rt</a:t>
            </a:r>
            <a:r>
              <a:rPr lang="en-US" sz="2600" dirty="0">
                <a:latin typeface="Lucida Console" pitchFamily="49" charset="0"/>
              </a:rPr>
              <a:t>, offset(</a:t>
            </a:r>
            <a:r>
              <a:rPr lang="en-US" sz="2600" dirty="0" err="1">
                <a:latin typeface="Lucida Console" pitchFamily="49" charset="0"/>
              </a:rPr>
              <a:t>rs</a:t>
            </a:r>
            <a:r>
              <a:rPr lang="en-US" sz="2600" dirty="0">
                <a:latin typeface="Lucida Console" pitchFamily="49" charset="0"/>
              </a:rPr>
              <a:t>)    </a:t>
            </a:r>
            <a:r>
              <a:rPr lang="en-US" sz="2600" dirty="0" err="1">
                <a:latin typeface="Lucida Console" pitchFamily="49" charset="0"/>
              </a:rPr>
              <a:t>lhu</a:t>
            </a:r>
            <a:r>
              <a:rPr lang="en-US" sz="2600" dirty="0">
                <a:latin typeface="Lucida Console" pitchFamily="49" charset="0"/>
              </a:rPr>
              <a:t> </a:t>
            </a:r>
            <a:r>
              <a:rPr lang="en-US" sz="2600" dirty="0" err="1">
                <a:latin typeface="Lucida Console" pitchFamily="49" charset="0"/>
              </a:rPr>
              <a:t>rt</a:t>
            </a:r>
            <a:r>
              <a:rPr lang="en-US" sz="2600" dirty="0">
                <a:latin typeface="Lucida Console" pitchFamily="49" charset="0"/>
              </a:rPr>
              <a:t>, offset(</a:t>
            </a:r>
            <a:r>
              <a:rPr lang="en-US" sz="2600" dirty="0" err="1">
                <a:latin typeface="Lucida Console" pitchFamily="49" charset="0"/>
              </a:rPr>
              <a:t>rs</a:t>
            </a:r>
            <a:r>
              <a:rPr lang="en-US" sz="2600" dirty="0">
                <a:latin typeface="Lucida Console" pitchFamily="49" charset="0"/>
              </a:rPr>
              <a:t>)</a:t>
            </a:r>
          </a:p>
          <a:p>
            <a:pPr lvl="1"/>
            <a:r>
              <a:rPr lang="en-US" dirty="0"/>
              <a:t>Zero extend to 32 bits in </a:t>
            </a:r>
            <a:r>
              <a:rPr lang="en-US" dirty="0" err="1"/>
              <a:t>rt</a:t>
            </a:r>
            <a:endParaRPr lang="en-US" dirty="0"/>
          </a:p>
          <a:p>
            <a:pPr>
              <a:buFont typeface="Wingdings" pitchFamily="2" charset="2"/>
              <a:buNone/>
            </a:pPr>
            <a:r>
              <a:rPr lang="en-US" sz="2600" dirty="0" err="1">
                <a:latin typeface="Lucida Console" pitchFamily="49" charset="0"/>
              </a:rPr>
              <a:t>sb</a:t>
            </a:r>
            <a:r>
              <a:rPr lang="en-US" sz="2600" dirty="0">
                <a:latin typeface="Lucida Console" pitchFamily="49" charset="0"/>
              </a:rPr>
              <a:t> </a:t>
            </a:r>
            <a:r>
              <a:rPr lang="en-US" sz="2600" dirty="0" err="1">
                <a:latin typeface="Lucida Console" pitchFamily="49" charset="0"/>
              </a:rPr>
              <a:t>rt</a:t>
            </a:r>
            <a:r>
              <a:rPr lang="en-US" sz="2600" dirty="0">
                <a:latin typeface="Lucida Console" pitchFamily="49" charset="0"/>
              </a:rPr>
              <a:t>, offset(</a:t>
            </a:r>
            <a:r>
              <a:rPr lang="en-US" sz="2600" dirty="0" err="1">
                <a:latin typeface="Lucida Console" pitchFamily="49" charset="0"/>
              </a:rPr>
              <a:t>rs</a:t>
            </a:r>
            <a:r>
              <a:rPr lang="en-US" sz="2600" dirty="0">
                <a:latin typeface="Lucida Console" pitchFamily="49" charset="0"/>
              </a:rPr>
              <a:t>)     </a:t>
            </a:r>
            <a:r>
              <a:rPr lang="en-US" sz="2600" dirty="0" err="1">
                <a:latin typeface="Lucida Console" pitchFamily="49" charset="0"/>
              </a:rPr>
              <a:t>sh</a:t>
            </a:r>
            <a:r>
              <a:rPr lang="en-US" sz="2600" dirty="0">
                <a:latin typeface="Lucida Console" pitchFamily="49" charset="0"/>
              </a:rPr>
              <a:t> </a:t>
            </a:r>
            <a:r>
              <a:rPr lang="en-US" sz="2600" dirty="0" err="1">
                <a:latin typeface="Lucida Console" pitchFamily="49" charset="0"/>
              </a:rPr>
              <a:t>rt</a:t>
            </a:r>
            <a:r>
              <a:rPr lang="en-US" sz="2600" dirty="0">
                <a:latin typeface="Lucida Console" pitchFamily="49" charset="0"/>
              </a:rPr>
              <a:t>, offset(</a:t>
            </a:r>
            <a:r>
              <a:rPr lang="en-US" sz="2600" dirty="0" err="1">
                <a:latin typeface="Lucida Console" pitchFamily="49" charset="0"/>
              </a:rPr>
              <a:t>rs</a:t>
            </a:r>
            <a:r>
              <a:rPr lang="en-US" sz="2600" dirty="0">
                <a:latin typeface="Lucida Console" pitchFamily="49" charset="0"/>
              </a:rPr>
              <a:t>)</a:t>
            </a:r>
          </a:p>
          <a:p>
            <a:pPr lvl="1"/>
            <a:r>
              <a:rPr lang="en-US" smtClean="0"/>
              <a:t>Chỉ ghi phần giá trị thấp </a:t>
            </a:r>
            <a:r>
              <a:rPr lang="en-US" dirty="0"/>
              <a:t>byte/</a:t>
            </a:r>
            <a:r>
              <a:rPr lang="en-US" dirty="0" err="1"/>
              <a:t>halfword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78231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smtClean="0">
                <a:solidFill>
                  <a:srgbClr val="0039A6"/>
                </a:solidFill>
                <a:latin typeface="Arial"/>
              </a:rPr>
              <a:t>Ví dụ: Sao chuỗi (String Copy)</a:t>
            </a:r>
            <a:endParaRPr lang="en-US" sz="4000" dirty="0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dirty="0"/>
              <a:t>C code (naïve):</a:t>
            </a:r>
          </a:p>
          <a:p>
            <a:pPr lvl="1">
              <a:spcBef>
                <a:spcPts val="0"/>
              </a:spcBef>
            </a:pPr>
            <a:r>
              <a:rPr lang="en-US" smtClean="0"/>
              <a:t>Ký tự Null- đánh dấu kết thúc </a:t>
            </a:r>
            <a:r>
              <a:rPr lang="en-US" dirty="0"/>
              <a:t>string</a:t>
            </a:r>
          </a:p>
          <a:p>
            <a:pPr>
              <a:spcBef>
                <a:spcPts val="0"/>
              </a:spcBef>
              <a:buFont typeface="Wingdings" pitchFamily="2" charset="2"/>
              <a:buNone/>
            </a:pPr>
            <a:r>
              <a:rPr lang="en-US" sz="2800" dirty="0">
                <a:latin typeface="Lucida Console" pitchFamily="49" charset="0"/>
              </a:rPr>
              <a:t>	void </a:t>
            </a:r>
            <a:r>
              <a:rPr lang="en-US" sz="2800" dirty="0" err="1">
                <a:latin typeface="Lucida Console" pitchFamily="49" charset="0"/>
              </a:rPr>
              <a:t>strcpy</a:t>
            </a:r>
            <a:r>
              <a:rPr lang="en-US" sz="2800" dirty="0">
                <a:latin typeface="Lucida Console" pitchFamily="49" charset="0"/>
              </a:rPr>
              <a:t> (char x[], char y[])</a:t>
            </a:r>
            <a:br>
              <a:rPr lang="en-US" sz="2800" dirty="0">
                <a:latin typeface="Lucida Console" pitchFamily="49" charset="0"/>
              </a:rPr>
            </a:br>
            <a:r>
              <a:rPr lang="en-US" sz="2800" dirty="0">
                <a:latin typeface="Lucida Console" pitchFamily="49" charset="0"/>
              </a:rPr>
              <a:t>{ </a:t>
            </a:r>
            <a:r>
              <a:rPr lang="en-US" sz="2800" dirty="0" err="1">
                <a:latin typeface="Lucida Console" pitchFamily="49" charset="0"/>
              </a:rPr>
              <a:t>int</a:t>
            </a:r>
            <a:r>
              <a:rPr lang="en-US" sz="2800" dirty="0">
                <a:latin typeface="Lucida Console" pitchFamily="49" charset="0"/>
              </a:rPr>
              <a:t> i;</a:t>
            </a:r>
            <a:br>
              <a:rPr lang="en-US" sz="2800" dirty="0">
                <a:latin typeface="Lucida Console" pitchFamily="49" charset="0"/>
              </a:rPr>
            </a:br>
            <a:r>
              <a:rPr lang="en-US" sz="2800" dirty="0">
                <a:latin typeface="Lucida Console" pitchFamily="49" charset="0"/>
              </a:rPr>
              <a:t>  i = 0;</a:t>
            </a:r>
            <a:br>
              <a:rPr lang="en-US" sz="2800" dirty="0">
                <a:latin typeface="Lucida Console" pitchFamily="49" charset="0"/>
              </a:rPr>
            </a:br>
            <a:r>
              <a:rPr lang="en-US" sz="2800" dirty="0">
                <a:latin typeface="Lucida Console" pitchFamily="49" charset="0"/>
              </a:rPr>
              <a:t>  while ((x[i]=y[i])!='\0')</a:t>
            </a:r>
            <a:br>
              <a:rPr lang="en-US" sz="2800" dirty="0">
                <a:latin typeface="Lucida Console" pitchFamily="49" charset="0"/>
              </a:rPr>
            </a:br>
            <a:r>
              <a:rPr lang="en-US" sz="2800" dirty="0">
                <a:latin typeface="Lucida Console" pitchFamily="49" charset="0"/>
              </a:rPr>
              <a:t>    i += 1;</a:t>
            </a:r>
            <a:br>
              <a:rPr lang="en-US" sz="2800" dirty="0">
                <a:latin typeface="Lucida Console" pitchFamily="49" charset="0"/>
              </a:rPr>
            </a:br>
            <a:r>
              <a:rPr lang="en-US" sz="2800" dirty="0">
                <a:latin typeface="Lucida Console" pitchFamily="49" charset="0"/>
              </a:rPr>
              <a:t>}</a:t>
            </a:r>
          </a:p>
          <a:p>
            <a:pPr lvl="1">
              <a:spcBef>
                <a:spcPts val="0"/>
              </a:spcBef>
            </a:pPr>
            <a:r>
              <a:rPr lang="en-US" smtClean="0"/>
              <a:t>Địa chỉ của </a:t>
            </a:r>
            <a:r>
              <a:rPr lang="en-US" dirty="0"/>
              <a:t>x, </a:t>
            </a:r>
            <a:r>
              <a:rPr lang="en-US"/>
              <a:t>y </a:t>
            </a:r>
            <a:r>
              <a:rPr lang="en-US" smtClean="0"/>
              <a:t>chứa trong </a:t>
            </a:r>
            <a:r>
              <a:rPr lang="en-US" dirty="0"/>
              <a:t>$a0, $a1</a:t>
            </a:r>
          </a:p>
          <a:p>
            <a:pPr lvl="1">
              <a:spcBef>
                <a:spcPts val="0"/>
              </a:spcBef>
            </a:pPr>
            <a:r>
              <a:rPr lang="en-US"/>
              <a:t>i </a:t>
            </a:r>
            <a:r>
              <a:rPr lang="en-US" smtClean="0"/>
              <a:t>chứa trong </a:t>
            </a:r>
            <a:r>
              <a:rPr lang="en-US" dirty="0"/>
              <a:t>$s0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52</a:t>
            </a:fld>
            <a:endParaRPr lang="vi-V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5600" y="6324600"/>
            <a:ext cx="4343400" cy="381000"/>
          </a:xfrm>
        </p:spPr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63886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0039A6"/>
                </a:solidFill>
                <a:latin typeface="Arial"/>
              </a:rPr>
              <a:t>Ví dụ: String </a:t>
            </a:r>
            <a:r>
              <a:rPr lang="en-US" b="1" smtClean="0">
                <a:solidFill>
                  <a:srgbClr val="0039A6"/>
                </a:solidFill>
                <a:latin typeface="Arial"/>
              </a:rPr>
              <a:t>Copy (tt.)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53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182688" y="1470991"/>
            <a:ext cx="7772400" cy="46615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Sau khi biên</a:t>
            </a:r>
            <a:r>
              <a:rPr kumimoji="0" lang="en-US" sz="2800" b="0" i="0" u="none" strike="noStrike" kern="0" cap="none" spc="0" normalizeH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dịch thành </a:t>
            </a:r>
            <a:r>
              <a:rPr kumimoji="0" lang="en-US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MIPS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code: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strcpy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:</a:t>
            </a:r>
            <a:b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</a:b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    </a:t>
            </a:r>
            <a:r>
              <a:rPr kumimoji="0" lang="en-US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addi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 $</a:t>
            </a:r>
            <a:r>
              <a:rPr kumimoji="0" lang="en-US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sp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, $</a:t>
            </a:r>
            <a:r>
              <a:rPr kumimoji="0" lang="en-US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sp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, -4      # adjust stack for 1 item</a:t>
            </a:r>
            <a:b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</a:b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    </a:t>
            </a:r>
            <a:r>
              <a:rPr kumimoji="0" lang="en-US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sw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   $s0, 0($</a:t>
            </a:r>
            <a:r>
              <a:rPr kumimoji="0" lang="en-US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sp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)       # save $s0</a:t>
            </a:r>
            <a:b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</a:b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    add  $s0, $zero, $zero # i = 0</a:t>
            </a:r>
            <a:b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</a:b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L1: add  $t1, $s0, $a1     # </a:t>
            </a:r>
            <a:r>
              <a:rPr kumimoji="0" lang="en-US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addr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 of y[i] in $t1</a:t>
            </a:r>
            <a:b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</a:b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    </a:t>
            </a:r>
            <a:r>
              <a:rPr kumimoji="0" lang="en-US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lbu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  $t2, 0($t1)       # $t2 = y[i]</a:t>
            </a:r>
            <a:b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</a:b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    add  $t3, $s0, $a0     # </a:t>
            </a:r>
            <a:r>
              <a:rPr kumimoji="0" lang="en-US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addr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 of x[i] in $t3</a:t>
            </a:r>
            <a:b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</a:b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    </a:t>
            </a:r>
            <a:r>
              <a:rPr kumimoji="0" lang="en-US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sb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   $t2, 0($t3)       # x[i] = y[i]</a:t>
            </a:r>
            <a:b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</a:b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    </a:t>
            </a:r>
            <a:r>
              <a:rPr kumimoji="0" lang="en-US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beq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  $t2, $zero, L2    # exit loop if y[i] == 0  </a:t>
            </a:r>
            <a:b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</a:b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    </a:t>
            </a:r>
            <a:r>
              <a:rPr kumimoji="0" lang="en-US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addi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 $s0, $s0, 1       # i = i + 1</a:t>
            </a:r>
            <a:b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</a:b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    j    L1                # next iteration of loop</a:t>
            </a:r>
            <a:b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</a:b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L2: </a:t>
            </a:r>
            <a:r>
              <a:rPr kumimoji="0" lang="en-US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lw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   $s0, 0($</a:t>
            </a:r>
            <a:r>
              <a:rPr kumimoji="0" lang="en-US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sp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)       # restore saved $s0</a:t>
            </a:r>
            <a:b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</a:b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    </a:t>
            </a:r>
            <a:r>
              <a:rPr kumimoji="0" lang="en-US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addi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 $</a:t>
            </a:r>
            <a:r>
              <a:rPr kumimoji="0" lang="en-US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sp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, $</a:t>
            </a:r>
            <a:r>
              <a:rPr kumimoji="0" lang="en-US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sp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, 4       # pop 1 item from stack</a:t>
            </a:r>
            <a:b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</a:b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    </a:t>
            </a:r>
            <a:r>
              <a:rPr kumimoji="0" lang="en-US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jr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   $</a:t>
            </a:r>
            <a:r>
              <a:rPr kumimoji="0" lang="en-US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ra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Console" pitchFamily="49" charset="0"/>
              </a:rPr>
              <a:t>               # and return</a:t>
            </a:r>
          </a:p>
        </p:txBody>
      </p:sp>
    </p:spTree>
    <p:extLst>
      <p:ext uri="{BB962C8B-B14F-4D97-AF65-F5344CB8AC3E}">
        <p14:creationId xmlns:p14="http://schemas.microsoft.com/office/powerpoint/2010/main" val="4223686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Hằng 32-bit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54</a:t>
            </a:fld>
            <a:endParaRPr lang="vi-VN"/>
          </a:p>
        </p:txBody>
      </p:sp>
      <p:sp>
        <p:nvSpPr>
          <p:cNvPr id="7" name="Rectangle 10"/>
          <p:cNvSpPr>
            <a:spLocks noGrp="1" noChangeArrowheads="1"/>
          </p:cNvSpPr>
          <p:nvPr>
            <p:ph idx="1"/>
          </p:nvPr>
        </p:nvSpPr>
        <p:spPr>
          <a:xfrm>
            <a:off x="533400" y="1277027"/>
            <a:ext cx="8421688" cy="4661521"/>
          </a:xfrm>
        </p:spPr>
        <p:txBody>
          <a:bodyPr/>
          <a:lstStyle/>
          <a:p>
            <a:r>
              <a:rPr lang="en-US" smtClean="0"/>
              <a:t>Phần lớn các hằng hạn chế trong 16-bit</a:t>
            </a:r>
            <a:endParaRPr lang="en-US" dirty="0"/>
          </a:p>
          <a:p>
            <a:pPr lvl="1"/>
            <a:r>
              <a:rPr lang="en-US" smtClean="0"/>
              <a:t>Đáp ứng đủ cho các toán hạng trực tiếp 16-bit</a:t>
            </a:r>
            <a:endParaRPr lang="en-US" dirty="0"/>
          </a:p>
          <a:p>
            <a:r>
              <a:rPr lang="en-US" smtClean="0"/>
              <a:t>Với các Hằng lớn hơn (32-bit)</a:t>
            </a:r>
            <a:endParaRPr lang="en-US" dirty="0"/>
          </a:p>
          <a:p>
            <a:pPr>
              <a:buFont typeface="Wingdings" pitchFamily="2" charset="2"/>
              <a:buNone/>
            </a:pPr>
            <a:r>
              <a:rPr lang="en-US" dirty="0"/>
              <a:t>	</a:t>
            </a:r>
            <a:r>
              <a:rPr lang="en-US" dirty="0" err="1">
                <a:latin typeface="Lucida Console" pitchFamily="49" charset="0"/>
              </a:rPr>
              <a:t>lui</a:t>
            </a:r>
            <a:r>
              <a:rPr lang="en-US" dirty="0">
                <a:latin typeface="Lucida Console" pitchFamily="49" charset="0"/>
              </a:rPr>
              <a:t> </a:t>
            </a:r>
            <a:r>
              <a:rPr lang="en-US" dirty="0" err="1">
                <a:latin typeface="Lucida Console" pitchFamily="49" charset="0"/>
              </a:rPr>
              <a:t>rt</a:t>
            </a:r>
            <a:r>
              <a:rPr lang="en-US" dirty="0">
                <a:latin typeface="Lucida Console" pitchFamily="49" charset="0"/>
              </a:rPr>
              <a:t>, constant</a:t>
            </a:r>
          </a:p>
          <a:p>
            <a:pPr lvl="1"/>
            <a:r>
              <a:rPr lang="en-US" smtClean="0"/>
              <a:t>Sao </a:t>
            </a:r>
            <a:r>
              <a:rPr lang="en-US"/>
              <a:t>16-bit </a:t>
            </a:r>
            <a:r>
              <a:rPr lang="en-US" smtClean="0"/>
              <a:t>của hằng vào 16 </a:t>
            </a:r>
            <a:r>
              <a:rPr lang="en-US"/>
              <a:t>bits </a:t>
            </a:r>
            <a:r>
              <a:rPr lang="en-US" smtClean="0"/>
              <a:t>bên trái của </a:t>
            </a:r>
            <a:r>
              <a:rPr lang="en-US" dirty="0" err="1"/>
              <a:t>rt</a:t>
            </a:r>
            <a:endParaRPr lang="en-US" dirty="0"/>
          </a:p>
          <a:p>
            <a:pPr lvl="1"/>
            <a:r>
              <a:rPr lang="en-US" smtClean="0"/>
              <a:t>Xóa 16 </a:t>
            </a:r>
            <a:r>
              <a:rPr lang="en-US"/>
              <a:t>bits </a:t>
            </a:r>
            <a:r>
              <a:rPr lang="en-US" smtClean="0"/>
              <a:t>bên phải của </a:t>
            </a:r>
            <a:r>
              <a:rPr lang="en-US" err="1"/>
              <a:t>rt</a:t>
            </a:r>
            <a:r>
              <a:rPr lang="en-US"/>
              <a:t> </a:t>
            </a:r>
            <a:r>
              <a:rPr lang="en-US" smtClean="0"/>
              <a:t>về </a:t>
            </a:r>
            <a:r>
              <a:rPr lang="en-US" dirty="0"/>
              <a:t>0</a:t>
            </a:r>
            <a:endParaRPr lang="en-AU" dirty="0"/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3363913" y="4660901"/>
            <a:ext cx="2570162" cy="411162"/>
          </a:xfrm>
          <a:prstGeom prst="rect">
            <a:avLst/>
          </a:prstGeom>
          <a:solidFill>
            <a:srgbClr val="ECEAAC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3363913" y="4665663"/>
            <a:ext cx="5203825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0000 0000 0111 1101 0000 0000 0000 0000</a:t>
            </a:r>
            <a:endParaRPr kumimoji="0" lang="en-AU" sz="20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" name="Rectangle 12"/>
          <p:cNvSpPr>
            <a:spLocks noChangeArrowheads="1"/>
          </p:cNvSpPr>
          <p:nvPr/>
        </p:nvSpPr>
        <p:spPr bwMode="auto">
          <a:xfrm>
            <a:off x="5934075" y="5308601"/>
            <a:ext cx="2633663" cy="411162"/>
          </a:xfrm>
          <a:prstGeom prst="rect">
            <a:avLst/>
          </a:prstGeom>
          <a:solidFill>
            <a:srgbClr val="ECEAAC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107950" y="4672013"/>
            <a:ext cx="205376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200" smtClean="0">
                <a:latin typeface="Lucida Console" pitchFamily="49" charset="0"/>
              </a:rPr>
              <a:t>lui </a:t>
            </a:r>
            <a:r>
              <a:rPr lang="en-US" sz="2200" dirty="0">
                <a:latin typeface="Lucida Console" pitchFamily="49" charset="0"/>
              </a:rPr>
              <a:t>$s0, 61</a:t>
            </a:r>
            <a:endParaRPr lang="en-AU" sz="2200" dirty="0">
              <a:latin typeface="Lucida Console" pitchFamily="49" charset="0"/>
            </a:endParaRP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3363913" y="5313363"/>
            <a:ext cx="5203825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0000 0000 0111 1101 0000 1001 0000 0000</a:t>
            </a:r>
            <a:endParaRPr kumimoji="0" lang="en-AU" sz="20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107950" y="5319713"/>
            <a:ext cx="32131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200" dirty="0" err="1">
                <a:latin typeface="Lucida Console" pitchFamily="49" charset="0"/>
              </a:rPr>
              <a:t>ori</a:t>
            </a:r>
            <a:r>
              <a:rPr lang="en-US" sz="2200" dirty="0">
                <a:latin typeface="Lucida Console" pitchFamily="49" charset="0"/>
              </a:rPr>
              <a:t> $s0, $s0, 2304</a:t>
            </a:r>
            <a:endParaRPr lang="en-AU" sz="2200" dirty="0">
              <a:latin typeface="Lucida Console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130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Xác định địa chỉ rẽ nhánh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55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706582" y="1295400"/>
            <a:ext cx="8208818" cy="4661521"/>
          </a:xfrm>
        </p:spPr>
        <p:txBody>
          <a:bodyPr/>
          <a:lstStyle/>
          <a:p>
            <a:r>
              <a:rPr lang="en-US" smtClean="0"/>
              <a:t>Dạng lệnh rẽ nhánh gồm:</a:t>
            </a:r>
            <a:endParaRPr lang="en-US" dirty="0"/>
          </a:p>
          <a:p>
            <a:pPr lvl="1"/>
            <a:r>
              <a:rPr lang="en-US" dirty="0" err="1"/>
              <a:t>Opcode</a:t>
            </a:r>
            <a:r>
              <a:rPr lang="en-US"/>
              <a:t>, 2</a:t>
            </a:r>
            <a:r>
              <a:rPr lang="en-US" smtClean="0"/>
              <a:t> thanh ghi, </a:t>
            </a:r>
            <a:r>
              <a:rPr lang="en-US" dirty="0"/>
              <a:t>target address</a:t>
            </a:r>
          </a:p>
          <a:p>
            <a:r>
              <a:rPr lang="en-US" smtClean="0"/>
              <a:t>Vị trí nhảy đến địa chỉ rẽ nhánh thường gần lệnh rẽ nhánh: nhảy tới hoặc lui</a:t>
            </a:r>
            <a:endParaRPr lang="en-AU" dirty="0"/>
          </a:p>
        </p:txBody>
      </p:sp>
      <p:grpSp>
        <p:nvGrpSpPr>
          <p:cNvPr id="8" name="Group 4"/>
          <p:cNvGrpSpPr>
            <a:grpSpLocks/>
          </p:cNvGrpSpPr>
          <p:nvPr/>
        </p:nvGrpSpPr>
        <p:grpSpPr bwMode="auto">
          <a:xfrm>
            <a:off x="1403350" y="3740150"/>
            <a:ext cx="6913563" cy="773113"/>
            <a:chOff x="884" y="981"/>
            <a:chExt cx="4355" cy="487"/>
          </a:xfrm>
        </p:grpSpPr>
        <p:sp>
          <p:nvSpPr>
            <p:cNvPr id="9" name="Text Box 5"/>
            <p:cNvSpPr txBox="1">
              <a:spLocks noChangeArrowheads="1"/>
            </p:cNvSpPr>
            <p:nvPr/>
          </p:nvSpPr>
          <p:spPr bwMode="auto">
            <a:xfrm>
              <a:off x="884" y="981"/>
              <a:ext cx="817" cy="26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op</a:t>
              </a:r>
              <a:endParaRPr kumimoji="0" lang="en-AU" sz="2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Text Box 6"/>
            <p:cNvSpPr txBox="1">
              <a:spLocks noChangeArrowheads="1"/>
            </p:cNvSpPr>
            <p:nvPr/>
          </p:nvSpPr>
          <p:spPr bwMode="auto">
            <a:xfrm>
              <a:off x="1701" y="981"/>
              <a:ext cx="680" cy="26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rs</a:t>
              </a:r>
              <a:endParaRPr kumimoji="0" lang="en-AU" sz="20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Text Box 7"/>
            <p:cNvSpPr txBox="1">
              <a:spLocks noChangeArrowheads="1"/>
            </p:cNvSpPr>
            <p:nvPr/>
          </p:nvSpPr>
          <p:spPr bwMode="auto">
            <a:xfrm>
              <a:off x="2381" y="981"/>
              <a:ext cx="680" cy="26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rt</a:t>
              </a:r>
              <a:endParaRPr kumimoji="0" lang="en-AU" sz="20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3061" y="981"/>
              <a:ext cx="2178" cy="26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constant or address</a:t>
              </a:r>
              <a:endParaRPr kumimoji="0" lang="en-AU" sz="20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Text Box 9"/>
            <p:cNvSpPr txBox="1">
              <a:spLocks noChangeArrowheads="1"/>
            </p:cNvSpPr>
            <p:nvPr/>
          </p:nvSpPr>
          <p:spPr bwMode="auto">
            <a:xfrm>
              <a:off x="1067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6 bits</a:t>
              </a:r>
              <a:endParaRPr kumimoji="0" lang="en-AU" sz="16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Text Box 10"/>
            <p:cNvSpPr txBox="1">
              <a:spLocks noChangeArrowheads="1"/>
            </p:cNvSpPr>
            <p:nvPr/>
          </p:nvSpPr>
          <p:spPr bwMode="auto">
            <a:xfrm>
              <a:off x="1838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5 bits</a:t>
              </a:r>
              <a:endParaRPr kumimoji="0" lang="en-AU" sz="16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Text Box 11"/>
            <p:cNvSpPr txBox="1">
              <a:spLocks noChangeArrowheads="1"/>
            </p:cNvSpPr>
            <p:nvPr/>
          </p:nvSpPr>
          <p:spPr bwMode="auto">
            <a:xfrm>
              <a:off x="2519" y="1256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5 bits</a:t>
              </a:r>
              <a:endParaRPr kumimoji="0" lang="en-AU" sz="16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Text Box 12"/>
            <p:cNvSpPr txBox="1">
              <a:spLocks noChangeArrowheads="1"/>
            </p:cNvSpPr>
            <p:nvPr/>
          </p:nvSpPr>
          <p:spPr bwMode="auto">
            <a:xfrm>
              <a:off x="3935" y="1256"/>
              <a:ext cx="49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16 bits</a:t>
              </a:r>
              <a:endParaRPr kumimoji="0" lang="en-AU" sz="16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973138" y="4605193"/>
            <a:ext cx="7772400" cy="168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3200" smtClean="0"/>
              <a:t>Tương đối với giá trị PC</a:t>
            </a:r>
            <a:endParaRPr lang="en-US" sz="3200" dirty="0"/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2800" smtClean="0"/>
              <a:t>Địa chỉ đích </a:t>
            </a:r>
            <a:r>
              <a:rPr lang="en-US" sz="2800" dirty="0"/>
              <a:t>= PC + offset × 4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2800"/>
              <a:t>PC </a:t>
            </a:r>
            <a:r>
              <a:rPr lang="en-US" sz="2800" smtClean="0"/>
              <a:t>đã tăng lên 4, khi lệnh thực hiện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99043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Địa chỉ nhảy trực tiếp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56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Đích của lệnh Jump </a:t>
            </a:r>
            <a:r>
              <a:rPr lang="en-US" dirty="0"/>
              <a:t>(</a:t>
            </a:r>
            <a:r>
              <a:rPr lang="en-US" dirty="0">
                <a:latin typeface="Lucida Console" pitchFamily="49" charset="0"/>
              </a:rPr>
              <a:t>j</a:t>
            </a:r>
            <a:r>
              <a:rPr lang="en-US" dirty="0"/>
              <a:t> and </a:t>
            </a:r>
            <a:r>
              <a:rPr lang="en-US" dirty="0" err="1">
                <a:latin typeface="Lucida Console" pitchFamily="49" charset="0"/>
              </a:rPr>
              <a:t>jal</a:t>
            </a:r>
            <a:r>
              <a:rPr lang="en-US"/>
              <a:t>) </a:t>
            </a:r>
            <a:r>
              <a:rPr lang="en-US" smtClean="0"/>
              <a:t>bất cứ đâu trong đoạn lệnh chương trình</a:t>
            </a:r>
            <a:endParaRPr lang="en-US" dirty="0"/>
          </a:p>
        </p:txBody>
      </p:sp>
      <p:grpSp>
        <p:nvGrpSpPr>
          <p:cNvPr id="8" name="Group 4"/>
          <p:cNvGrpSpPr>
            <a:grpSpLocks/>
          </p:cNvGrpSpPr>
          <p:nvPr/>
        </p:nvGrpSpPr>
        <p:grpSpPr bwMode="auto">
          <a:xfrm>
            <a:off x="1403350" y="3165475"/>
            <a:ext cx="6913563" cy="773113"/>
            <a:chOff x="884" y="2356"/>
            <a:chExt cx="4355" cy="487"/>
          </a:xfrm>
        </p:grpSpPr>
        <p:sp>
          <p:nvSpPr>
            <p:cNvPr id="9" name="Text Box 5"/>
            <p:cNvSpPr txBox="1">
              <a:spLocks noChangeArrowheads="1"/>
            </p:cNvSpPr>
            <p:nvPr/>
          </p:nvSpPr>
          <p:spPr bwMode="auto">
            <a:xfrm>
              <a:off x="884" y="2356"/>
              <a:ext cx="817" cy="26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op</a:t>
              </a:r>
              <a:endParaRPr kumimoji="0" lang="en-AU" sz="20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Text Box 6"/>
            <p:cNvSpPr txBox="1">
              <a:spLocks noChangeArrowheads="1"/>
            </p:cNvSpPr>
            <p:nvPr/>
          </p:nvSpPr>
          <p:spPr bwMode="auto">
            <a:xfrm>
              <a:off x="1701" y="2356"/>
              <a:ext cx="3538" cy="26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address</a:t>
              </a:r>
              <a:endParaRPr kumimoji="0" lang="en-AU" sz="20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Text Box 7"/>
            <p:cNvSpPr txBox="1">
              <a:spLocks noChangeArrowheads="1"/>
            </p:cNvSpPr>
            <p:nvPr/>
          </p:nvSpPr>
          <p:spPr bwMode="auto">
            <a:xfrm>
              <a:off x="1067" y="2631"/>
              <a:ext cx="42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6 bits</a:t>
              </a:r>
              <a:endParaRPr kumimoji="0" lang="en-AU" sz="16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3244" y="2617"/>
              <a:ext cx="49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26 bits</a:t>
              </a:r>
              <a:endParaRPr kumimoji="0" lang="en-AU" sz="16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1169122" y="4090554"/>
            <a:ext cx="7772400" cy="168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3200"/>
              <a:t>(</a:t>
            </a:r>
            <a:r>
              <a:rPr lang="en-US" sz="3200" smtClean="0"/>
              <a:t>Pseudo) Địa chỉ đích</a:t>
            </a:r>
            <a:endParaRPr lang="en-US" sz="3200" dirty="0"/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2800" smtClean="0"/>
              <a:t> </a:t>
            </a:r>
            <a:r>
              <a:rPr lang="en-US" sz="2800" dirty="0"/>
              <a:t>= PC</a:t>
            </a:r>
            <a:r>
              <a:rPr lang="en-US" sz="2800" baseline="-25000" dirty="0"/>
              <a:t>31…28</a:t>
            </a:r>
            <a:r>
              <a:rPr lang="en-US" sz="2800" dirty="0"/>
              <a:t> : (address × 4)</a:t>
            </a:r>
          </a:p>
        </p:txBody>
      </p:sp>
    </p:spTree>
    <p:extLst>
      <p:ext uri="{BB962C8B-B14F-4D97-AF65-F5344CB8AC3E}">
        <p14:creationId xmlns:p14="http://schemas.microsoft.com/office/powerpoint/2010/main" val="3731385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Ví dụ: Xác định địa chỉ đích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57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70991"/>
            <a:ext cx="8534400" cy="4661521"/>
          </a:xfrm>
        </p:spPr>
        <p:txBody>
          <a:bodyPr/>
          <a:lstStyle/>
          <a:p>
            <a:r>
              <a:rPr lang="en-US" smtClean="0"/>
              <a:t>Sử dụng lại đoạn code vòng lặp trước đây</a:t>
            </a:r>
            <a:endParaRPr lang="en-US" dirty="0"/>
          </a:p>
          <a:p>
            <a:pPr lvl="1"/>
            <a:r>
              <a:rPr lang="en-US" smtClean="0"/>
              <a:t>Giả sử </a:t>
            </a:r>
            <a:r>
              <a:rPr lang="en-US"/>
              <a:t>Loop </a:t>
            </a:r>
            <a:r>
              <a:rPr lang="en-US" smtClean="0"/>
              <a:t>bắt đầu từ địa chỉ </a:t>
            </a:r>
            <a:r>
              <a:rPr lang="en-US" dirty="0"/>
              <a:t>80000</a:t>
            </a:r>
            <a:endParaRPr lang="en-AU" sz="2000" dirty="0">
              <a:solidFill>
                <a:schemeClr val="folHlink"/>
              </a:solidFill>
              <a:latin typeface="Lucida Console" pitchFamily="49" charset="0"/>
            </a:endParaRPr>
          </a:p>
        </p:txBody>
      </p:sp>
      <p:graphicFrame>
        <p:nvGraphicFramePr>
          <p:cNvPr id="8" name="Group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116166"/>
              </p:ext>
            </p:extLst>
          </p:nvPr>
        </p:nvGraphicFramePr>
        <p:xfrm>
          <a:off x="838200" y="3200400"/>
          <a:ext cx="8202612" cy="2952751"/>
        </p:xfrm>
        <a:graphic>
          <a:graphicData uri="http://schemas.openxmlformats.org/drawingml/2006/table">
            <a:tbl>
              <a:tblPr/>
              <a:tblGrid>
                <a:gridCol w="3671887"/>
                <a:gridCol w="863600"/>
                <a:gridCol w="611188"/>
                <a:gridCol w="611187"/>
                <a:gridCol w="611188"/>
                <a:gridCol w="611187"/>
                <a:gridCol w="611188"/>
                <a:gridCol w="611187"/>
              </a:tblGrid>
              <a:tr h="4222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Loop: sll  $t1, $s3, 2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80000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06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      add  $t1, $t1, $s6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80004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22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32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22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      lw   $t0, 0($t1)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80008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35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222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      bne  $t0, $s5, Exit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80012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21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222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      addi $s3, $s3, 1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80016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206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      j    Loop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80020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20000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222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Exit: …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80024</a:t>
                      </a:r>
                      <a:endParaRPr kumimoji="0" lang="en-A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6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A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2886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smtClean="0">
                <a:solidFill>
                  <a:srgbClr val="0039A6"/>
                </a:solidFill>
                <a:latin typeface="Arial"/>
              </a:rPr>
              <a:t>Rẽ nhánh xa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58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619250" algn="l"/>
              </a:tabLst>
            </a:pPr>
            <a:r>
              <a:rPr lang="en-AU" smtClean="0"/>
              <a:t>Trong trường hợp địa chỉ đích rẽ nhánh quá xa (vượt giá trị độ dời 16-bit), Hợp ngữ sẽ điều chỉnh lại code.</a:t>
            </a:r>
          </a:p>
          <a:p>
            <a:pPr>
              <a:tabLst>
                <a:tab pos="1619250" algn="l"/>
              </a:tabLst>
            </a:pPr>
            <a:r>
              <a:rPr lang="en-AU" smtClean="0"/>
              <a:t>Ví dụ:</a:t>
            </a:r>
          </a:p>
          <a:p>
            <a:pPr lvl="1">
              <a:buFont typeface="Wingdings" pitchFamily="2" charset="2"/>
              <a:buNone/>
              <a:tabLst>
                <a:tab pos="1619250" algn="l"/>
              </a:tabLst>
            </a:pPr>
            <a:r>
              <a:rPr lang="en-AU">
                <a:latin typeface="Lucida Console" pitchFamily="49" charset="0"/>
              </a:rPr>
              <a:t>		beq $s0,$s1, L1</a:t>
            </a:r>
          </a:p>
          <a:p>
            <a:pPr lvl="1">
              <a:buFont typeface="Wingdings" pitchFamily="2" charset="2"/>
              <a:buNone/>
              <a:tabLst>
                <a:tab pos="1619250" algn="l"/>
              </a:tabLst>
            </a:pPr>
            <a:r>
              <a:rPr lang="en-AU">
                <a:cs typeface="Arial" charset="0"/>
              </a:rPr>
              <a:t>				↓</a:t>
            </a:r>
          </a:p>
          <a:p>
            <a:pPr lvl="1">
              <a:buFont typeface="Wingdings" pitchFamily="2" charset="2"/>
              <a:buNone/>
              <a:tabLst>
                <a:tab pos="1619250" algn="l"/>
              </a:tabLst>
            </a:pPr>
            <a:r>
              <a:rPr lang="en-AU">
                <a:latin typeface="Lucida Console" pitchFamily="49" charset="0"/>
              </a:rPr>
              <a:t>		bne $s0,$s1, L2</a:t>
            </a:r>
            <a:br>
              <a:rPr lang="en-AU">
                <a:latin typeface="Lucida Console" pitchFamily="49" charset="0"/>
              </a:rPr>
            </a:br>
            <a:r>
              <a:rPr lang="en-AU">
                <a:latin typeface="Lucida Console" pitchFamily="49" charset="0"/>
              </a:rPr>
              <a:t>	j L1</a:t>
            </a:r>
            <a:br>
              <a:rPr lang="en-AU">
                <a:latin typeface="Lucida Console" pitchFamily="49" charset="0"/>
              </a:rPr>
            </a:br>
            <a:r>
              <a:rPr lang="en-AU">
                <a:latin typeface="Lucida Console" pitchFamily="49" charset="0"/>
              </a:rPr>
              <a:t>L2:	…</a:t>
            </a:r>
          </a:p>
        </p:txBody>
      </p:sp>
    </p:spTree>
    <p:extLst>
      <p:ext uri="{BB962C8B-B14F-4D97-AF65-F5344CB8AC3E}">
        <p14:creationId xmlns:p14="http://schemas.microsoft.com/office/powerpoint/2010/main" val="2527992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Tóm tắt Addressing Mode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59</a:t>
            </a:fld>
            <a:endParaRPr lang="vi-VN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2515" y="1471613"/>
            <a:ext cx="3892746" cy="466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68782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smtClean="0">
                <a:solidFill>
                  <a:srgbClr val="0039A6"/>
                </a:solidFill>
                <a:latin typeface="Arial"/>
              </a:rPr>
              <a:t>Đồng bộ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60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845126" y="1343891"/>
            <a:ext cx="8109961" cy="4904509"/>
          </a:xfrm>
        </p:spPr>
        <p:txBody>
          <a:bodyPr/>
          <a:lstStyle/>
          <a:p>
            <a:r>
              <a:rPr lang="en-AU" sz="2800" smtClean="0"/>
              <a:t>Hai bộ xử lý dùng chung 1 vùng bộ nhớ</a:t>
            </a:r>
            <a:endParaRPr lang="en-AU" sz="2800" dirty="0"/>
          </a:p>
          <a:p>
            <a:pPr lvl="1"/>
            <a:r>
              <a:rPr lang="en-AU" sz="2400"/>
              <a:t>P1 </a:t>
            </a:r>
            <a:r>
              <a:rPr lang="en-AU" sz="2400" smtClean="0"/>
              <a:t>ghi thông tin, sau đó </a:t>
            </a:r>
            <a:r>
              <a:rPr lang="en-AU" sz="2400"/>
              <a:t>P2 </a:t>
            </a:r>
            <a:r>
              <a:rPr lang="en-AU" sz="2400" smtClean="0"/>
              <a:t>đọc</a:t>
            </a:r>
            <a:endParaRPr lang="en-AU" sz="2400" dirty="0"/>
          </a:p>
          <a:p>
            <a:pPr lvl="1"/>
            <a:r>
              <a:rPr lang="en-AU" sz="2400" smtClean="0"/>
              <a:t>Có sự tranh chấp truy cập, nếu </a:t>
            </a:r>
            <a:r>
              <a:rPr lang="en-AU" sz="2400"/>
              <a:t>P1 &amp;</a:t>
            </a:r>
            <a:r>
              <a:rPr lang="en-AU" sz="2400" smtClean="0"/>
              <a:t> </a:t>
            </a:r>
            <a:r>
              <a:rPr lang="en-AU" sz="2400"/>
              <a:t>P2 </a:t>
            </a:r>
            <a:r>
              <a:rPr lang="en-AU" sz="2400" smtClean="0"/>
              <a:t>không đòng bộ với nhau </a:t>
            </a:r>
            <a:r>
              <a:rPr lang="en-AU" sz="2400" smtClean="0">
                <a:sym typeface="Wingdings" pitchFamily="2" charset="2"/>
              </a:rPr>
              <a:t> Kết quả không xác định được</a:t>
            </a:r>
            <a:endParaRPr lang="en-AU" sz="2400" dirty="0"/>
          </a:p>
          <a:p>
            <a:r>
              <a:rPr lang="en-AU" sz="2800" smtClean="0"/>
              <a:t>Hỗ trợ phần cứng yêu cầu</a:t>
            </a:r>
          </a:p>
          <a:p>
            <a:pPr lvl="1"/>
            <a:r>
              <a:rPr lang="en-AU" sz="2400" smtClean="0"/>
              <a:t>Tác vụ Atomic đọc/ghi bộ nhớ</a:t>
            </a:r>
          </a:p>
          <a:p>
            <a:pPr lvl="1"/>
            <a:r>
              <a:rPr lang="en-AU" sz="2400" smtClean="0"/>
              <a:t>Không cho phép truy cập nào khác, khi xảy ra tác vụ đọc hoặc ghi</a:t>
            </a:r>
            <a:endParaRPr lang="en-AU" sz="2400" dirty="0"/>
          </a:p>
          <a:p>
            <a:r>
              <a:rPr lang="en-AU" sz="2800" smtClean="0"/>
              <a:t>Các tác vụ thực hiện chỉ với 1 lệnh</a:t>
            </a:r>
          </a:p>
          <a:p>
            <a:pPr lvl="1"/>
            <a:r>
              <a:rPr lang="en-AU" sz="2400" smtClean="0"/>
              <a:t>Ví dụ: hoán vị register </a:t>
            </a:r>
            <a:r>
              <a:rPr lang="en-AU" sz="2400" smtClean="0">
                <a:cs typeface="Arial" charset="0"/>
              </a:rPr>
              <a:t>↔ memory</a:t>
            </a:r>
          </a:p>
          <a:p>
            <a:pPr lvl="1"/>
            <a:r>
              <a:rPr lang="en-AU" sz="2400" smtClean="0">
                <a:cs typeface="Arial" charset="0"/>
              </a:rPr>
              <a:t>Hoặc 1 cặp atomic lệnh</a:t>
            </a:r>
            <a:endParaRPr lang="en-AU" sz="2400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980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smtClean="0">
                <a:solidFill>
                  <a:srgbClr val="0039A6"/>
                </a:solidFill>
                <a:latin typeface="Arial"/>
              </a:rPr>
              <a:t>Đồng bộ trong MIPS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61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470991"/>
            <a:ext cx="8726488" cy="477740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AU" sz="2800"/>
              <a:t>Load linked: </a:t>
            </a:r>
            <a:r>
              <a:rPr lang="en-AU" sz="2800">
                <a:latin typeface="Lucida Console" pitchFamily="49" charset="0"/>
              </a:rPr>
              <a:t>ll </a:t>
            </a:r>
            <a:r>
              <a:rPr lang="en-US" sz="2800">
                <a:latin typeface="Lucida Console" pitchFamily="49" charset="0"/>
              </a:rPr>
              <a:t>rt, offset(rs)</a:t>
            </a:r>
          </a:p>
          <a:p>
            <a:pPr>
              <a:lnSpc>
                <a:spcPct val="90000"/>
              </a:lnSpc>
            </a:pPr>
            <a:r>
              <a:rPr lang="en-AU" sz="2800"/>
              <a:t>Store conditional: </a:t>
            </a:r>
            <a:r>
              <a:rPr lang="en-AU" sz="2800">
                <a:latin typeface="Lucida Console" pitchFamily="49" charset="0"/>
              </a:rPr>
              <a:t>sc rt, </a:t>
            </a:r>
            <a:r>
              <a:rPr lang="en-US" sz="2800">
                <a:latin typeface="Lucida Console" pitchFamily="49" charset="0"/>
              </a:rPr>
              <a:t>offset(rs)</a:t>
            </a:r>
          </a:p>
          <a:p>
            <a:pPr lvl="1">
              <a:lnSpc>
                <a:spcPct val="90000"/>
              </a:lnSpc>
            </a:pPr>
            <a:r>
              <a:rPr lang="en-AU" sz="2400"/>
              <a:t>Succeeds if location not changed since the </a:t>
            </a:r>
            <a:r>
              <a:rPr lang="en-AU" sz="2400">
                <a:latin typeface="Lucida Console" pitchFamily="49" charset="0"/>
              </a:rPr>
              <a:t>ll</a:t>
            </a:r>
          </a:p>
          <a:p>
            <a:pPr lvl="2">
              <a:lnSpc>
                <a:spcPct val="90000"/>
              </a:lnSpc>
            </a:pPr>
            <a:r>
              <a:rPr lang="en-AU" sz="2000"/>
              <a:t>Returns 1 in rt</a:t>
            </a:r>
          </a:p>
          <a:p>
            <a:pPr lvl="1">
              <a:lnSpc>
                <a:spcPct val="90000"/>
              </a:lnSpc>
            </a:pPr>
            <a:r>
              <a:rPr lang="en-AU" sz="2400"/>
              <a:t>Fails if location is changed</a:t>
            </a:r>
          </a:p>
          <a:p>
            <a:pPr lvl="2">
              <a:lnSpc>
                <a:spcPct val="90000"/>
              </a:lnSpc>
            </a:pPr>
            <a:r>
              <a:rPr lang="en-AU" sz="2000"/>
              <a:t>Returns 0 in rt</a:t>
            </a:r>
          </a:p>
          <a:p>
            <a:pPr>
              <a:lnSpc>
                <a:spcPct val="90000"/>
              </a:lnSpc>
            </a:pPr>
            <a:r>
              <a:rPr lang="en-AU" sz="2800" smtClean="0"/>
              <a:t>Ví dụ: </a:t>
            </a:r>
            <a:r>
              <a:rPr lang="en-AU" sz="2800"/>
              <a:t>atomic swap (to test/set lock variable)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AU" sz="2200">
                <a:latin typeface="Lucida Console" pitchFamily="49" charset="0"/>
              </a:rPr>
              <a:t>try: add $t0,$zero,$s4 ;copy exchange value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AU" sz="2200">
                <a:latin typeface="Lucida Console" pitchFamily="49" charset="0"/>
              </a:rPr>
              <a:t>     ll  $t1,0($s1)    ;load linked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AU" sz="2200">
                <a:latin typeface="Lucida Console" pitchFamily="49" charset="0"/>
              </a:rPr>
              <a:t>     sc  $t0,0($s1)    ;store conditional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AU" sz="2200">
                <a:latin typeface="Lucida Console" pitchFamily="49" charset="0"/>
              </a:rPr>
              <a:t>     beq $t0,$zero,try ;branch store fails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AU" sz="2200">
                <a:latin typeface="Lucida Console" pitchFamily="49" charset="0"/>
              </a:rPr>
              <a:t>     add $s4,$zero,$t1 ;put load value in $s4</a:t>
            </a:r>
          </a:p>
        </p:txBody>
      </p:sp>
    </p:spTree>
    <p:extLst>
      <p:ext uri="{BB962C8B-B14F-4D97-AF65-F5344CB8AC3E}">
        <p14:creationId xmlns:p14="http://schemas.microsoft.com/office/powerpoint/2010/main" val="2575030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smtClean="0">
                <a:solidFill>
                  <a:srgbClr val="0039A6"/>
                </a:solidFill>
                <a:latin typeface="Arial"/>
              </a:rPr>
              <a:t>Lệnh giả trong hợp ngữ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>
                <a:solidFill>
                  <a:srgbClr val="000000"/>
                </a:solidFill>
              </a:rPr>
              <a:pPr/>
              <a:t>12/10/2015</a:t>
            </a:fld>
            <a:endParaRPr lang="vi-V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333399">
                    <a:lumMod val="60000"/>
                    <a:lumOff val="40000"/>
                  </a:srgbClr>
                </a:solidFill>
              </a:rPr>
              <a:t>Khoa Khoa học &amp; Kỹ thuật Máy tính</a:t>
            </a:r>
            <a:endParaRPr lang="vi-VN">
              <a:solidFill>
                <a:srgbClr val="333399">
                  <a:lumMod val="60000"/>
                  <a:lumOff val="4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>
                <a:solidFill>
                  <a:srgbClr val="000000"/>
                </a:solidFill>
              </a:rPr>
              <a:pPr/>
              <a:t>62</a:t>
            </a:fld>
            <a:endParaRPr lang="vi-VN">
              <a:solidFill>
                <a:srgbClr val="000000"/>
              </a:solidFill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3409950" algn="l"/>
                <a:tab pos="4038600" algn="l"/>
              </a:tabLst>
            </a:pPr>
            <a:r>
              <a:rPr lang="en-US" smtClean="0"/>
              <a:t>Phần lớn lệnh trong hợp ngữ tương đồng 1-1 với lệnh mã máy</a:t>
            </a:r>
            <a:endParaRPr lang="en-US" dirty="0"/>
          </a:p>
          <a:p>
            <a:pPr>
              <a:tabLst>
                <a:tab pos="3409950" algn="l"/>
                <a:tab pos="4038600" algn="l"/>
              </a:tabLst>
            </a:pPr>
            <a:r>
              <a:rPr lang="en-US" smtClean="0"/>
              <a:t>Lệnh giả (Pseudo): dễ nhớ, ví dụ</a:t>
            </a:r>
            <a:endParaRPr lang="en-US" dirty="0"/>
          </a:p>
          <a:p>
            <a:pPr>
              <a:buFont typeface="Wingdings" pitchFamily="2" charset="2"/>
              <a:buNone/>
              <a:tabLst>
                <a:tab pos="3409950" algn="l"/>
                <a:tab pos="4038600" algn="l"/>
              </a:tabLst>
            </a:pPr>
            <a:r>
              <a:rPr lang="en-US" sz="2400" dirty="0">
                <a:latin typeface="Lucida Console" pitchFamily="49" charset="0"/>
              </a:rPr>
              <a:t>	move $t0, $t1</a:t>
            </a:r>
            <a:r>
              <a:rPr lang="en-US" sz="2800" dirty="0"/>
              <a:t>	</a:t>
            </a:r>
            <a:r>
              <a:rPr lang="en-US" sz="2800" dirty="0">
                <a:cs typeface="Arial" charset="0"/>
              </a:rPr>
              <a:t>→</a:t>
            </a:r>
            <a:r>
              <a:rPr lang="en-US" sz="2800" dirty="0"/>
              <a:t>	</a:t>
            </a:r>
            <a:r>
              <a:rPr lang="en-US" sz="2400" dirty="0">
                <a:latin typeface="Lucida Console" pitchFamily="49" charset="0"/>
              </a:rPr>
              <a:t>add $t0, $zero, $t1</a:t>
            </a:r>
          </a:p>
          <a:p>
            <a:pPr>
              <a:buFont typeface="Wingdings" pitchFamily="2" charset="2"/>
              <a:buNone/>
              <a:tabLst>
                <a:tab pos="3409950" algn="l"/>
                <a:tab pos="4038600" algn="l"/>
              </a:tabLst>
            </a:pPr>
            <a:r>
              <a:rPr lang="en-US" sz="2400" dirty="0">
                <a:latin typeface="Lucida Console" pitchFamily="49" charset="0"/>
              </a:rPr>
              <a:t>	</a:t>
            </a:r>
            <a:r>
              <a:rPr lang="en-US" sz="2400" dirty="0" err="1">
                <a:latin typeface="Lucida Console" pitchFamily="49" charset="0"/>
              </a:rPr>
              <a:t>blt</a:t>
            </a:r>
            <a:r>
              <a:rPr lang="en-US" sz="2400" dirty="0">
                <a:latin typeface="Lucida Console" pitchFamily="49" charset="0"/>
              </a:rPr>
              <a:t> $t0, $t1, L</a:t>
            </a:r>
            <a:r>
              <a:rPr lang="en-US" sz="2800" dirty="0"/>
              <a:t>	 </a:t>
            </a:r>
            <a:r>
              <a:rPr lang="en-US" sz="2800" dirty="0">
                <a:cs typeface="Arial" charset="0"/>
              </a:rPr>
              <a:t>→</a:t>
            </a:r>
            <a:r>
              <a:rPr lang="en-US" sz="2800" dirty="0"/>
              <a:t> 	</a:t>
            </a:r>
            <a:r>
              <a:rPr lang="en-US" sz="2400" dirty="0" err="1">
                <a:latin typeface="Lucida Console" pitchFamily="49" charset="0"/>
              </a:rPr>
              <a:t>slt</a:t>
            </a:r>
            <a:r>
              <a:rPr lang="en-US" sz="2400" dirty="0">
                <a:latin typeface="Lucida Console" pitchFamily="49" charset="0"/>
              </a:rPr>
              <a:t> $at, $t0, $t1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		</a:t>
            </a:r>
            <a:r>
              <a:rPr lang="en-US" sz="2400" dirty="0" err="1">
                <a:latin typeface="Lucida Console" pitchFamily="49" charset="0"/>
              </a:rPr>
              <a:t>bne</a:t>
            </a:r>
            <a:r>
              <a:rPr lang="en-US" sz="2400" dirty="0">
                <a:latin typeface="Lucida Console" pitchFamily="49" charset="0"/>
              </a:rPr>
              <a:t> $at, $zero, L</a:t>
            </a:r>
          </a:p>
          <a:p>
            <a:pPr lvl="1">
              <a:tabLst>
                <a:tab pos="3409950" algn="l"/>
                <a:tab pos="4038600" algn="l"/>
              </a:tabLst>
            </a:pPr>
            <a:r>
              <a:rPr lang="en-US" dirty="0"/>
              <a:t>$at (register 1): assembler temporary</a:t>
            </a:r>
          </a:p>
        </p:txBody>
      </p:sp>
    </p:spTree>
    <p:extLst>
      <p:ext uri="{BB962C8B-B14F-4D97-AF65-F5344CB8AC3E}">
        <p14:creationId xmlns:p14="http://schemas.microsoft.com/office/powerpoint/2010/main" val="550036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Biên dịch và thực hiện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63</a:t>
            </a:fld>
            <a:endParaRPr lang="vi-VN"/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600200"/>
            <a:ext cx="6029467" cy="4413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3581400"/>
            <a:ext cx="219075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2916" y="4096543"/>
            <a:ext cx="1603375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77296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Tạo Object Module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64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1182688" y="1470991"/>
            <a:ext cx="7772400" cy="479126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Assembler </a:t>
            </a:r>
            <a:r>
              <a:rPr lang="en-US" sz="2800" smtClean="0"/>
              <a:t>(hoặc </a:t>
            </a:r>
            <a:r>
              <a:rPr lang="en-US" sz="2800" dirty="0"/>
              <a:t>compiler</a:t>
            </a:r>
            <a:r>
              <a:rPr lang="en-US" sz="2800"/>
              <a:t>) </a:t>
            </a:r>
            <a:r>
              <a:rPr lang="en-US" sz="2800" smtClean="0"/>
              <a:t>biên dịch chương trình ra lệnh máy</a:t>
            </a: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smtClean="0"/>
              <a:t>Thiết lập các thông tin để xây dựng 1 chương trình để có thể thực thi, bao gồm</a:t>
            </a:r>
            <a:endParaRPr lang="en-US" sz="2800" dirty="0"/>
          </a:p>
          <a:p>
            <a:pPr lvl="1">
              <a:lnSpc>
                <a:spcPct val="90000"/>
              </a:lnSpc>
            </a:pPr>
            <a:r>
              <a:rPr lang="en-US" sz="2400" dirty="0"/>
              <a:t>Header</a:t>
            </a:r>
            <a:r>
              <a:rPr lang="en-US" sz="2400"/>
              <a:t>: </a:t>
            </a:r>
            <a:r>
              <a:rPr lang="en-US" sz="2400" smtClean="0"/>
              <a:t>đặc tả nội dung của </a:t>
            </a:r>
            <a:r>
              <a:rPr lang="en-US" sz="2400" dirty="0"/>
              <a:t>object module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Text segment</a:t>
            </a:r>
            <a:r>
              <a:rPr lang="en-US" sz="2400"/>
              <a:t>: </a:t>
            </a:r>
            <a:r>
              <a:rPr lang="en-US" sz="2400" smtClean="0"/>
              <a:t>các lệnh đã được biên dịch</a:t>
            </a: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400" dirty="0"/>
              <a:t>Static data segment</a:t>
            </a:r>
            <a:r>
              <a:rPr lang="en-US" sz="2400"/>
              <a:t>: </a:t>
            </a:r>
            <a:r>
              <a:rPr lang="en-US" sz="2400" smtClean="0"/>
              <a:t>dữ liệu được cấp phát cho chương trình trong suốt quá trình tực thi</a:t>
            </a:r>
          </a:p>
          <a:p>
            <a:pPr lvl="1">
              <a:lnSpc>
                <a:spcPct val="90000"/>
              </a:lnSpc>
            </a:pPr>
            <a:r>
              <a:rPr lang="en-US" sz="2400" smtClean="0"/>
              <a:t>Relocation </a:t>
            </a:r>
            <a:r>
              <a:rPr lang="en-US" sz="2400" dirty="0"/>
              <a:t>info</a:t>
            </a:r>
            <a:r>
              <a:rPr lang="en-US" sz="2400"/>
              <a:t>: </a:t>
            </a:r>
            <a:r>
              <a:rPr lang="en-US" sz="2400" smtClean="0"/>
              <a:t>định vị tuyệt đối của chương trình được nạp vào bộ nhớ</a:t>
            </a: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400" dirty="0"/>
              <a:t>Symbol table: global definitions and external refs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Debug info</a:t>
            </a:r>
            <a:r>
              <a:rPr lang="en-US" sz="2400"/>
              <a:t>: </a:t>
            </a:r>
            <a:r>
              <a:rPr lang="en-US" sz="2400" smtClean="0"/>
              <a:t>liên quan đến gỡ rối chương trình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043292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Liên kết các </a:t>
            </a:r>
            <a:r>
              <a:rPr lang="en-US" b="1" dirty="0">
                <a:solidFill>
                  <a:srgbClr val="0039A6"/>
                </a:solidFill>
                <a:latin typeface="Arial"/>
              </a:rPr>
              <a:t>Object Modules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65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>
          <a:xfrm>
            <a:off x="374073" y="1219200"/>
            <a:ext cx="8581015" cy="5105399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2400" smtClean="0">
                <a:solidFill>
                  <a:srgbClr val="0000CD"/>
                </a:solidFill>
                <a:latin typeface="ArialMT"/>
              </a:rPr>
              <a:t>Linker: </a:t>
            </a:r>
            <a:r>
              <a:rPr lang="en-US" sz="2400" smtClean="0">
                <a:solidFill>
                  <a:srgbClr val="000065"/>
                </a:solidFill>
                <a:latin typeface="ArialMT"/>
              </a:rPr>
              <a:t>Còn </a:t>
            </a:r>
            <a:r>
              <a:rPr lang="en-US" sz="2400">
                <a:solidFill>
                  <a:srgbClr val="000065"/>
                </a:solidFill>
                <a:latin typeface="ArialMT"/>
              </a:rPr>
              <a:t>gọi là </a:t>
            </a:r>
            <a:r>
              <a:rPr lang="en-US" sz="2400" i="1">
                <a:solidFill>
                  <a:srgbClr val="0000CD"/>
                </a:solidFill>
                <a:latin typeface="Arial-ItalicMT"/>
              </a:rPr>
              <a:t>link editor</a:t>
            </a:r>
            <a:r>
              <a:rPr lang="en-US" sz="2400">
                <a:solidFill>
                  <a:srgbClr val="000065"/>
                </a:solidFill>
                <a:latin typeface="ArialMT"/>
              </a:rPr>
              <a:t>, cho phép ghép các </a:t>
            </a:r>
            <a:r>
              <a:rPr lang="en-US" sz="2400" i="1">
                <a:solidFill>
                  <a:srgbClr val="0000CD"/>
                </a:solidFill>
                <a:latin typeface="Arial-ItalicMT"/>
              </a:rPr>
              <a:t>object file </a:t>
            </a:r>
            <a:r>
              <a:rPr lang="en-US" sz="2400">
                <a:solidFill>
                  <a:srgbClr val="000065"/>
                </a:solidFill>
                <a:latin typeface="ArialMT"/>
              </a:rPr>
              <a:t>riêng lẻ lại </a:t>
            </a:r>
            <a:r>
              <a:rPr lang="en-US" sz="2400" smtClean="0">
                <a:solidFill>
                  <a:srgbClr val="000065"/>
                </a:solidFill>
                <a:latin typeface="ArialMT"/>
              </a:rPr>
              <a:t>với </a:t>
            </a:r>
            <a:r>
              <a:rPr lang="vi-VN" sz="2400" smtClean="0">
                <a:solidFill>
                  <a:srgbClr val="000065"/>
                </a:solidFill>
                <a:latin typeface="ArialMT"/>
              </a:rPr>
              <a:t>nhau </a:t>
            </a:r>
            <a:r>
              <a:rPr lang="vi-VN" sz="2400">
                <a:solidFill>
                  <a:srgbClr val="000065"/>
                </a:solidFill>
                <a:latin typeface="ArialMT"/>
              </a:rPr>
              <a:t>thành </a:t>
            </a:r>
            <a:r>
              <a:rPr lang="vi-VN" sz="2400" smtClean="0">
                <a:solidFill>
                  <a:srgbClr val="000065"/>
                </a:solidFill>
                <a:latin typeface="ArialMT"/>
              </a:rPr>
              <a:t>một</a:t>
            </a:r>
            <a:r>
              <a:rPr lang="en-US" sz="2400" smtClean="0">
                <a:solidFill>
                  <a:srgbClr val="000065"/>
                </a:solidFill>
                <a:latin typeface="ArialMT"/>
              </a:rPr>
              <a:t> </a:t>
            </a:r>
            <a:r>
              <a:rPr lang="vi-VN" sz="2400" smtClean="0">
                <a:solidFill>
                  <a:srgbClr val="000065"/>
                </a:solidFill>
                <a:latin typeface="ArialMT"/>
              </a:rPr>
              <a:t>chương </a:t>
            </a:r>
            <a:r>
              <a:rPr lang="vi-VN" sz="2400">
                <a:solidFill>
                  <a:srgbClr val="000065"/>
                </a:solidFill>
                <a:latin typeface="ArialMT"/>
              </a:rPr>
              <a:t>trình thống nhất có thể thực thi được </a:t>
            </a:r>
            <a:r>
              <a:rPr lang="vi-VN" sz="2400" smtClean="0">
                <a:solidFill>
                  <a:srgbClr val="000065"/>
                </a:solidFill>
                <a:latin typeface="ArialMT"/>
              </a:rPr>
              <a:t>gọi</a:t>
            </a:r>
            <a:r>
              <a:rPr lang="en-US" sz="2400" smtClean="0">
                <a:solidFill>
                  <a:srgbClr val="000065"/>
                </a:solidFill>
                <a:latin typeface="ArialMT"/>
              </a:rPr>
              <a:t> là </a:t>
            </a:r>
            <a:r>
              <a:rPr lang="en-US" sz="2400" i="1" smtClean="0">
                <a:solidFill>
                  <a:srgbClr val="0000CD"/>
                </a:solidFill>
                <a:latin typeface="Arial-ItalicMT"/>
              </a:rPr>
              <a:t>executable </a:t>
            </a:r>
            <a:r>
              <a:rPr lang="en-US" sz="2400" i="1">
                <a:solidFill>
                  <a:srgbClr val="0000CD"/>
                </a:solidFill>
                <a:latin typeface="Arial-ItalicMT"/>
              </a:rPr>
              <a:t>file</a:t>
            </a:r>
          </a:p>
          <a:p>
            <a:pPr>
              <a:spcBef>
                <a:spcPts val="0"/>
              </a:spcBef>
            </a:pPr>
            <a:r>
              <a:rPr lang="vi-VN" sz="2400" smtClean="0">
                <a:solidFill>
                  <a:srgbClr val="000065"/>
                </a:solidFill>
                <a:latin typeface="ArialMT"/>
              </a:rPr>
              <a:t>Quá </a:t>
            </a:r>
            <a:r>
              <a:rPr lang="vi-VN" sz="2400">
                <a:solidFill>
                  <a:srgbClr val="000065"/>
                </a:solidFill>
                <a:latin typeface="ArialMT"/>
              </a:rPr>
              <a:t>trình ghép diễn ra theo 3 bước</a:t>
            </a:r>
          </a:p>
          <a:p>
            <a:pPr lvl="1" algn="just">
              <a:spcBef>
                <a:spcPts val="0"/>
              </a:spcBef>
              <a:buFont typeface="Wingdings" pitchFamily="2" charset="2"/>
              <a:buChar char="Ø"/>
            </a:pPr>
            <a:r>
              <a:rPr lang="vi-VN" sz="2000" smtClean="0">
                <a:solidFill>
                  <a:srgbClr val="000065"/>
                </a:solidFill>
                <a:latin typeface="ArialMT"/>
              </a:rPr>
              <a:t>Xếp </a:t>
            </a:r>
            <a:r>
              <a:rPr lang="vi-VN" sz="2000">
                <a:solidFill>
                  <a:srgbClr val="000065"/>
                </a:solidFill>
                <a:latin typeface="ArialMT"/>
              </a:rPr>
              <a:t>mã chương trình và dữ liệu lại với nhau</a:t>
            </a:r>
          </a:p>
          <a:p>
            <a:pPr lvl="1" algn="just">
              <a:spcBef>
                <a:spcPts val="0"/>
              </a:spcBef>
              <a:buFont typeface="Wingdings" pitchFamily="2" charset="2"/>
              <a:buChar char="Ø"/>
            </a:pPr>
            <a:r>
              <a:rPr lang="vi-VN" sz="2000" smtClean="0">
                <a:solidFill>
                  <a:srgbClr val="000065"/>
                </a:solidFill>
                <a:latin typeface="ArialMT"/>
              </a:rPr>
              <a:t>Xác </a:t>
            </a:r>
            <a:r>
              <a:rPr lang="vi-VN" sz="2000">
                <a:solidFill>
                  <a:srgbClr val="000065"/>
                </a:solidFill>
                <a:latin typeface="ArialMT"/>
              </a:rPr>
              <a:t>định địa chỉ cho các nhãn chương trình và dữ </a:t>
            </a:r>
            <a:r>
              <a:rPr lang="vi-VN" sz="2000" smtClean="0">
                <a:solidFill>
                  <a:srgbClr val="000065"/>
                </a:solidFill>
                <a:latin typeface="ArialMT"/>
              </a:rPr>
              <a:t>liệu</a:t>
            </a:r>
            <a:r>
              <a:rPr lang="en-US" sz="2000" smtClean="0">
                <a:solidFill>
                  <a:srgbClr val="000065"/>
                </a:solidFill>
                <a:latin typeface="ArialMT"/>
              </a:rPr>
              <a:t> So </a:t>
            </a:r>
            <a:r>
              <a:rPr lang="en-US" sz="2000">
                <a:solidFill>
                  <a:srgbClr val="000065"/>
                </a:solidFill>
                <a:latin typeface="ArialMT"/>
              </a:rPr>
              <a:t>trùng các </a:t>
            </a:r>
            <a:r>
              <a:rPr lang="en-US" sz="2000">
                <a:solidFill>
                  <a:srgbClr val="0000CD"/>
                </a:solidFill>
                <a:latin typeface="ArialMT"/>
              </a:rPr>
              <a:t>tham cứu nội </a:t>
            </a:r>
            <a:r>
              <a:rPr lang="en-US" sz="2000">
                <a:solidFill>
                  <a:srgbClr val="000065"/>
                </a:solidFill>
                <a:latin typeface="ArialMT"/>
              </a:rPr>
              <a:t>và </a:t>
            </a:r>
            <a:r>
              <a:rPr lang="en-US" sz="2000" smtClean="0">
                <a:solidFill>
                  <a:srgbClr val="0000CD"/>
                </a:solidFill>
                <a:latin typeface="ArialMT"/>
              </a:rPr>
              <a:t>ngoại </a:t>
            </a:r>
            <a:r>
              <a:rPr lang="en-US" sz="2000" smtClean="0">
                <a:solidFill>
                  <a:srgbClr val="000065"/>
                </a:solidFill>
                <a:latin typeface="ArialMT"/>
              </a:rPr>
              <a:t>(</a:t>
            </a:r>
            <a:r>
              <a:rPr lang="en-US" sz="2000" i="1" smtClean="0">
                <a:solidFill>
                  <a:srgbClr val="008100"/>
                </a:solidFill>
                <a:latin typeface="Arial-ItalicMT"/>
              </a:rPr>
              <a:t>internal/external </a:t>
            </a:r>
            <a:r>
              <a:rPr lang="en-US" sz="2000" i="1">
                <a:solidFill>
                  <a:srgbClr val="008100"/>
                </a:solidFill>
                <a:latin typeface="Arial-ItalicMT"/>
              </a:rPr>
              <a:t>reference</a:t>
            </a:r>
            <a:r>
              <a:rPr lang="en-US" sz="2000">
                <a:solidFill>
                  <a:srgbClr val="000065"/>
                </a:solidFill>
                <a:latin typeface="ArialMT"/>
              </a:rPr>
              <a:t>)</a:t>
            </a:r>
          </a:p>
          <a:p>
            <a:pPr algn="just">
              <a:spcBef>
                <a:spcPts val="0"/>
              </a:spcBef>
            </a:pPr>
            <a:r>
              <a:rPr lang="en-US" sz="2400" smtClean="0">
                <a:solidFill>
                  <a:srgbClr val="000065"/>
                </a:solidFill>
                <a:latin typeface="ArialMT"/>
              </a:rPr>
              <a:t>Một </a:t>
            </a:r>
            <a:r>
              <a:rPr lang="en-US" sz="2400" i="1">
                <a:solidFill>
                  <a:srgbClr val="0000CD"/>
                </a:solidFill>
                <a:latin typeface="Arial-ItalicMT"/>
              </a:rPr>
              <a:t>executable file </a:t>
            </a:r>
            <a:r>
              <a:rPr lang="en-US" sz="2400">
                <a:solidFill>
                  <a:srgbClr val="000065"/>
                </a:solidFill>
                <a:latin typeface="ArialMT"/>
              </a:rPr>
              <a:t>có các thành phần gần giống với </a:t>
            </a:r>
            <a:r>
              <a:rPr lang="en-US" sz="2400" i="1">
                <a:solidFill>
                  <a:srgbClr val="0000CD"/>
                </a:solidFill>
                <a:latin typeface="Arial-ItalicMT"/>
              </a:rPr>
              <a:t>object file </a:t>
            </a:r>
            <a:r>
              <a:rPr lang="en-US" sz="2400" smtClean="0">
                <a:solidFill>
                  <a:srgbClr val="000065"/>
                </a:solidFill>
                <a:latin typeface="ArialMT"/>
              </a:rPr>
              <a:t>trừ các </a:t>
            </a:r>
            <a:r>
              <a:rPr lang="en-US" sz="2400">
                <a:solidFill>
                  <a:srgbClr val="000065"/>
                </a:solidFill>
                <a:latin typeface="ArialMT"/>
              </a:rPr>
              <a:t>phần: </a:t>
            </a:r>
            <a:r>
              <a:rPr lang="en-US" sz="2400" i="1">
                <a:solidFill>
                  <a:srgbClr val="0000CD"/>
                </a:solidFill>
                <a:latin typeface="Arial-ItalicMT"/>
              </a:rPr>
              <a:t>relocation information</a:t>
            </a:r>
            <a:r>
              <a:rPr lang="en-US" sz="2400">
                <a:solidFill>
                  <a:srgbClr val="000065"/>
                </a:solidFill>
                <a:latin typeface="ArialMT"/>
              </a:rPr>
              <a:t>, </a:t>
            </a:r>
            <a:r>
              <a:rPr lang="en-US" sz="2400" i="1">
                <a:solidFill>
                  <a:srgbClr val="0000CD"/>
                </a:solidFill>
                <a:latin typeface="Arial-ItalicMT"/>
              </a:rPr>
              <a:t>symbol table </a:t>
            </a:r>
            <a:r>
              <a:rPr lang="en-US" sz="2400">
                <a:solidFill>
                  <a:srgbClr val="000065"/>
                </a:solidFill>
                <a:latin typeface="ArialMT"/>
              </a:rPr>
              <a:t>và </a:t>
            </a:r>
            <a:r>
              <a:rPr lang="en-US" sz="2400" i="1" smtClean="0">
                <a:solidFill>
                  <a:srgbClr val="0000CD"/>
                </a:solidFill>
                <a:latin typeface="Arial-ItalicMT"/>
              </a:rPr>
              <a:t>debugging information</a:t>
            </a:r>
            <a:endParaRPr lang="en-US" sz="2400" i="1">
              <a:solidFill>
                <a:srgbClr val="0000CD"/>
              </a:solidFill>
              <a:latin typeface="Arial-ItalicMT"/>
            </a:endParaRPr>
          </a:p>
          <a:p>
            <a:pPr algn="just">
              <a:spcBef>
                <a:spcPts val="0"/>
              </a:spcBef>
            </a:pPr>
            <a:r>
              <a:rPr lang="vi-VN" sz="2400" smtClean="0">
                <a:solidFill>
                  <a:srgbClr val="000065"/>
                </a:solidFill>
                <a:latin typeface="ArialMT"/>
              </a:rPr>
              <a:t>Các </a:t>
            </a:r>
            <a:r>
              <a:rPr lang="vi-VN" sz="2400" i="1">
                <a:solidFill>
                  <a:srgbClr val="0000CD"/>
                </a:solidFill>
                <a:latin typeface="Arial-ItalicMT"/>
              </a:rPr>
              <a:t>object file</a:t>
            </a:r>
            <a:r>
              <a:rPr lang="vi-VN" sz="2400">
                <a:solidFill>
                  <a:srgbClr val="000065"/>
                </a:solidFill>
                <a:latin typeface="ArialMT"/>
              </a:rPr>
              <a:t>, ngoài các chương trình do </a:t>
            </a:r>
            <a:r>
              <a:rPr lang="vi-VN" sz="2400">
                <a:solidFill>
                  <a:srgbClr val="0000CD"/>
                </a:solidFill>
                <a:latin typeface="ArialMT"/>
              </a:rPr>
              <a:t>người dùng </a:t>
            </a:r>
            <a:r>
              <a:rPr lang="vi-VN" sz="2400">
                <a:solidFill>
                  <a:srgbClr val="000065"/>
                </a:solidFill>
                <a:latin typeface="ArialMT"/>
              </a:rPr>
              <a:t>(</a:t>
            </a:r>
            <a:r>
              <a:rPr lang="vi-VN" sz="2400" i="1">
                <a:solidFill>
                  <a:srgbClr val="008100"/>
                </a:solidFill>
                <a:latin typeface="Arial-ItalicMT"/>
              </a:rPr>
              <a:t>user</a:t>
            </a:r>
            <a:r>
              <a:rPr lang="vi-VN" sz="2400">
                <a:solidFill>
                  <a:srgbClr val="000065"/>
                </a:solidFill>
                <a:latin typeface="ArialMT"/>
              </a:rPr>
              <a:t>) </a:t>
            </a:r>
            <a:r>
              <a:rPr lang="vi-VN" sz="2400" smtClean="0">
                <a:solidFill>
                  <a:srgbClr val="000065"/>
                </a:solidFill>
                <a:latin typeface="ArialMT"/>
              </a:rPr>
              <a:t>viết,</a:t>
            </a:r>
            <a:r>
              <a:rPr lang="en-US" sz="2400" smtClean="0">
                <a:solidFill>
                  <a:srgbClr val="000065"/>
                </a:solidFill>
                <a:latin typeface="ArialMT"/>
              </a:rPr>
              <a:t> </a:t>
            </a:r>
            <a:r>
              <a:rPr lang="vi-VN" sz="2400" smtClean="0">
                <a:solidFill>
                  <a:srgbClr val="000065"/>
                </a:solidFill>
                <a:latin typeface="ArialMT"/>
              </a:rPr>
              <a:t>còn </a:t>
            </a:r>
            <a:r>
              <a:rPr lang="vi-VN" sz="2400">
                <a:solidFill>
                  <a:srgbClr val="000065"/>
                </a:solidFill>
                <a:latin typeface="ArialMT"/>
              </a:rPr>
              <a:t>có các trình con viết sẵn trong </a:t>
            </a:r>
            <a:r>
              <a:rPr lang="vi-VN" sz="2400">
                <a:solidFill>
                  <a:srgbClr val="0000CD"/>
                </a:solidFill>
                <a:latin typeface="ArialMT"/>
              </a:rPr>
              <a:t>thư viện </a:t>
            </a:r>
            <a:r>
              <a:rPr lang="vi-VN" sz="2400">
                <a:solidFill>
                  <a:srgbClr val="000065"/>
                </a:solidFill>
                <a:latin typeface="ArialMT"/>
              </a:rPr>
              <a:t>(</a:t>
            </a:r>
            <a:r>
              <a:rPr lang="vi-VN" sz="2400" i="1">
                <a:solidFill>
                  <a:srgbClr val="008100"/>
                </a:solidFill>
                <a:latin typeface="Arial-ItalicMT"/>
              </a:rPr>
              <a:t>library</a:t>
            </a:r>
            <a:r>
              <a:rPr lang="vi-VN" sz="2400">
                <a:solidFill>
                  <a:srgbClr val="000065"/>
                </a:solidFill>
                <a:latin typeface="ArialMT"/>
              </a:rPr>
              <a:t>) do </a:t>
            </a:r>
            <a:r>
              <a:rPr lang="vi-VN" sz="2400" i="1" smtClean="0">
                <a:solidFill>
                  <a:srgbClr val="0000CD"/>
                </a:solidFill>
                <a:latin typeface="Arial-ItalicMT"/>
              </a:rPr>
              <a:t>compiler</a:t>
            </a:r>
            <a:r>
              <a:rPr lang="en-US" sz="2400" i="1" smtClean="0">
                <a:solidFill>
                  <a:srgbClr val="0000CD"/>
                </a:solidFill>
                <a:latin typeface="Arial-ItalicMT"/>
              </a:rPr>
              <a:t> </a:t>
            </a:r>
            <a:r>
              <a:rPr lang="vi-VN" sz="2400" smtClean="0">
                <a:solidFill>
                  <a:srgbClr val="000065"/>
                </a:solidFill>
                <a:latin typeface="ArialMT"/>
              </a:rPr>
              <a:t>cung </a:t>
            </a:r>
            <a:r>
              <a:rPr lang="vi-VN" sz="2400">
                <a:solidFill>
                  <a:srgbClr val="000065"/>
                </a:solidFill>
                <a:latin typeface="ArialMT"/>
              </a:rPr>
              <a:t>cấp, do người dùng tạo lập hay từ các nguồn chuyên biệt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693035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Nạp một chương trình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66</a:t>
            </a:fld>
            <a:endParaRPr lang="vi-VN"/>
          </a:p>
        </p:txBody>
      </p:sp>
      <p:sp>
        <p:nvSpPr>
          <p:cNvPr id="7" name="Rectangle 5"/>
          <p:cNvSpPr>
            <a:spLocks noGrp="1" noChangeArrowheads="1"/>
          </p:cNvSpPr>
          <p:nvPr>
            <p:ph idx="1"/>
          </p:nvPr>
        </p:nvSpPr>
        <p:spPr>
          <a:xfrm>
            <a:off x="152400" y="1295400"/>
            <a:ext cx="8802688" cy="5029200"/>
          </a:xfrm>
        </p:spPr>
        <p:txBody>
          <a:bodyPr/>
          <a:lstStyle/>
          <a:p>
            <a:r>
              <a:rPr lang="en-US" smtClean="0"/>
              <a:t>Nạp tập tin thực thi trên đĩa vào bộ nhớ</a:t>
            </a:r>
            <a:endParaRPr lang="en-US" dirty="0"/>
          </a:p>
          <a:p>
            <a:pPr lvl="1">
              <a:buFont typeface="Wingdings" pitchFamily="2" charset="2"/>
              <a:buNone/>
            </a:pPr>
            <a:r>
              <a:rPr lang="en-US" dirty="0">
                <a:solidFill>
                  <a:schemeClr val="hlink"/>
                </a:solidFill>
              </a:rPr>
              <a:t>1.</a:t>
            </a:r>
            <a:r>
              <a:rPr lang="en-US"/>
              <a:t>	</a:t>
            </a:r>
            <a:r>
              <a:rPr lang="en-US" smtClean="0"/>
              <a:t>Đọc </a:t>
            </a:r>
            <a:r>
              <a:rPr lang="en-US"/>
              <a:t>header </a:t>
            </a:r>
            <a:r>
              <a:rPr lang="en-US" smtClean="0"/>
              <a:t>để xác định dung lượng các đoạn</a:t>
            </a:r>
            <a:endParaRPr lang="en-US" dirty="0"/>
          </a:p>
          <a:p>
            <a:pPr lvl="1">
              <a:buFont typeface="Wingdings" pitchFamily="2" charset="2"/>
              <a:buNone/>
            </a:pPr>
            <a:r>
              <a:rPr lang="en-US" dirty="0">
                <a:solidFill>
                  <a:schemeClr val="hlink"/>
                </a:solidFill>
              </a:rPr>
              <a:t>2.</a:t>
            </a:r>
            <a:r>
              <a:rPr lang="en-US"/>
              <a:t>	</a:t>
            </a:r>
            <a:r>
              <a:rPr lang="en-US" smtClean="0"/>
              <a:t>Tạo không gian địa chỉ ảo</a:t>
            </a:r>
            <a:endParaRPr lang="en-US" dirty="0"/>
          </a:p>
          <a:p>
            <a:pPr lvl="1">
              <a:buFont typeface="Wingdings" pitchFamily="2" charset="2"/>
              <a:buNone/>
            </a:pPr>
            <a:r>
              <a:rPr lang="en-US" dirty="0">
                <a:solidFill>
                  <a:schemeClr val="hlink"/>
                </a:solidFill>
              </a:rPr>
              <a:t>3.</a:t>
            </a:r>
            <a:r>
              <a:rPr lang="en-US"/>
              <a:t>	</a:t>
            </a:r>
            <a:r>
              <a:rPr lang="en-US" smtClean="0"/>
              <a:t>Khởi động dữ liệu trong bộ nhớ</a:t>
            </a:r>
            <a:endParaRPr lang="en-US" dirty="0"/>
          </a:p>
          <a:p>
            <a:pPr lvl="1">
              <a:buFont typeface="Wingdings" pitchFamily="2" charset="2"/>
              <a:buNone/>
            </a:pPr>
            <a:r>
              <a:rPr lang="en-US" dirty="0">
                <a:solidFill>
                  <a:schemeClr val="hlink"/>
                </a:solidFill>
              </a:rPr>
              <a:t>4.</a:t>
            </a:r>
            <a:r>
              <a:rPr lang="en-US" dirty="0"/>
              <a:t>	Set up arguments on stack</a:t>
            </a:r>
          </a:p>
          <a:p>
            <a:pPr lvl="1">
              <a:buFont typeface="Wingdings" pitchFamily="2" charset="2"/>
              <a:buNone/>
            </a:pPr>
            <a:r>
              <a:rPr lang="en-US" dirty="0">
                <a:solidFill>
                  <a:schemeClr val="hlink"/>
                </a:solidFill>
              </a:rPr>
              <a:t>5.</a:t>
            </a:r>
            <a:r>
              <a:rPr lang="en-US"/>
              <a:t>	</a:t>
            </a:r>
            <a:r>
              <a:rPr lang="en-US" smtClean="0"/>
              <a:t>Khởi động các thanh ghi (gồm </a:t>
            </a:r>
            <a:r>
              <a:rPr lang="en-US" dirty="0"/>
              <a:t>$</a:t>
            </a:r>
            <a:r>
              <a:rPr lang="en-US" dirty="0" err="1"/>
              <a:t>sp</a:t>
            </a:r>
            <a:r>
              <a:rPr lang="en-US" dirty="0"/>
              <a:t>, $</a:t>
            </a:r>
            <a:r>
              <a:rPr lang="en-US" dirty="0" err="1"/>
              <a:t>fp</a:t>
            </a:r>
            <a:r>
              <a:rPr lang="en-US" dirty="0"/>
              <a:t>, $</a:t>
            </a:r>
            <a:r>
              <a:rPr lang="en-US" dirty="0" err="1"/>
              <a:t>gp</a:t>
            </a:r>
            <a:r>
              <a:rPr lang="en-US" dirty="0"/>
              <a:t>)</a:t>
            </a:r>
          </a:p>
          <a:p>
            <a:pPr lvl="1">
              <a:buFont typeface="Wingdings" pitchFamily="2" charset="2"/>
              <a:buNone/>
            </a:pPr>
            <a:r>
              <a:rPr lang="en-US" dirty="0">
                <a:solidFill>
                  <a:schemeClr val="hlink"/>
                </a:solidFill>
              </a:rPr>
              <a:t>6.</a:t>
            </a:r>
            <a:r>
              <a:rPr lang="en-US"/>
              <a:t>	</a:t>
            </a:r>
            <a:r>
              <a:rPr lang="en-US" smtClean="0"/>
              <a:t>Nhảy tới đầu chương trình</a:t>
            </a:r>
            <a:endParaRPr lang="en-US" dirty="0"/>
          </a:p>
          <a:p>
            <a:pPr lvl="2"/>
            <a:r>
              <a:rPr lang="en-US" smtClean="0"/>
              <a:t>Sao các thông số vào $a0</a:t>
            </a:r>
            <a:r>
              <a:rPr lang="en-US" dirty="0"/>
              <a:t>, </a:t>
            </a:r>
            <a:r>
              <a:rPr lang="en-US"/>
              <a:t>… </a:t>
            </a:r>
            <a:r>
              <a:rPr lang="en-US" smtClean="0"/>
              <a:t>và gọi </a:t>
            </a:r>
            <a:r>
              <a:rPr lang="en-US" dirty="0"/>
              <a:t>main</a:t>
            </a:r>
          </a:p>
          <a:p>
            <a:pPr lvl="2"/>
            <a:r>
              <a:rPr lang="en-US" smtClean="0"/>
              <a:t>Khi kết thúc trở về từ main, do </a:t>
            </a:r>
            <a:r>
              <a:rPr lang="en-US" dirty="0"/>
              <a:t>exit </a:t>
            </a:r>
            <a:r>
              <a:rPr lang="en-US" dirty="0" err="1"/>
              <a:t>syscall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53821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Liên kết động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67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Chỉ liên kết/nạp khi thủ tục được gọi</a:t>
            </a:r>
            <a:endParaRPr lang="en-US" dirty="0"/>
          </a:p>
          <a:p>
            <a:pPr lvl="1"/>
            <a:r>
              <a:rPr lang="en-US" smtClean="0"/>
              <a:t>Yêu cầu phần code của thủ tục được cấp phát bộ nhớ</a:t>
            </a:r>
            <a:endParaRPr lang="en-US" dirty="0"/>
          </a:p>
          <a:p>
            <a:pPr lvl="1"/>
            <a:r>
              <a:rPr lang="en-US" smtClean="0"/>
              <a:t>Tránh việc phát sinh cấp phát sinh ra bởi kết nối với thư viện</a:t>
            </a:r>
            <a:endParaRPr lang="en-US" dirty="0"/>
          </a:p>
          <a:p>
            <a:pPr lvl="1"/>
            <a:r>
              <a:rPr lang="en-US" smtClean="0"/>
              <a:t>Tự động cập nhật phiên bản mới của thư viện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82021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Kết luận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68</a:t>
            </a:fld>
            <a:endParaRPr lang="vi-VN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mtClean="0"/>
              <a:t>Các nguyên tắc thiết kế</a:t>
            </a:r>
            <a:endParaRPr lang="en-US"/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>
                <a:solidFill>
                  <a:schemeClr val="hlink"/>
                </a:solidFill>
              </a:rPr>
              <a:t>1.</a:t>
            </a:r>
            <a:r>
              <a:rPr lang="en-US"/>
              <a:t>	Simplicity favors regularity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>
                <a:solidFill>
                  <a:schemeClr val="hlink"/>
                </a:solidFill>
              </a:rPr>
              <a:t>2.</a:t>
            </a:r>
            <a:r>
              <a:rPr lang="en-US"/>
              <a:t>	Smaller is faster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>
                <a:solidFill>
                  <a:schemeClr val="hlink"/>
                </a:solidFill>
              </a:rPr>
              <a:t>3.</a:t>
            </a:r>
            <a:r>
              <a:rPr lang="en-US"/>
              <a:t>	Make the common case fast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>
                <a:solidFill>
                  <a:schemeClr val="hlink"/>
                </a:solidFill>
              </a:rPr>
              <a:t>4.</a:t>
            </a:r>
            <a:r>
              <a:rPr lang="en-US"/>
              <a:t>	Good design demands good compromises</a:t>
            </a:r>
          </a:p>
          <a:p>
            <a:pPr>
              <a:lnSpc>
                <a:spcPct val="90000"/>
              </a:lnSpc>
            </a:pPr>
            <a:r>
              <a:rPr lang="en-US" smtClean="0"/>
              <a:t>Các lớp phần mềm/cứng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 smtClean="0"/>
              <a:t>Biên dịch, Hợp ngữ, Phần cứng</a:t>
            </a: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MIPS: </a:t>
            </a:r>
            <a:r>
              <a:rPr lang="en-US" smtClean="0"/>
              <a:t>là mô hình đặc thù kiến trúc tập lệnh RISC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7108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39A6"/>
                </a:solidFill>
                <a:latin typeface="Arial"/>
              </a:rPr>
              <a:t>Kết luận (tt.)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52F2-7A4A-4CD2-89EE-927F9267422C}" type="datetime1">
              <a:rPr lang="en-US" smtClean="0"/>
              <a:t>12/10/2015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Khoa Khoa học &amp; Kỹ thuật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07923-D547-466D-8151-D5B6058EAB81}" type="slidenum">
              <a:rPr lang="vi-VN" smtClean="0"/>
              <a:t>69</a:t>
            </a:fld>
            <a:endParaRPr lang="vi-VN"/>
          </a:p>
        </p:txBody>
      </p:sp>
      <p:sp>
        <p:nvSpPr>
          <p:cNvPr id="8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98239"/>
            <a:ext cx="8534400" cy="5024748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 smtClean="0"/>
          </a:p>
          <a:p>
            <a:pPr>
              <a:lnSpc>
                <a:spcPct val="90000"/>
              </a:lnSpc>
            </a:pPr>
            <a:r>
              <a:rPr lang="en-US" smtClean="0"/>
              <a:t>Đo đạc thực hiện tập lệnh của MIP với chương trình đánh giá</a:t>
            </a:r>
            <a:endParaRPr lang="en-AU" dirty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971800"/>
            <a:ext cx="8271164" cy="3151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6526036"/>
      </p:ext>
    </p:extLst>
  </p:cSld>
  <p:clrMapOvr>
    <a:masterClrMapping/>
  </p:clrMapOvr>
</p:sld>
</file>

<file path=ppt/theme/theme1.xml><?xml version="1.0" encoding="utf-8"?>
<a:theme xmlns:a="http://schemas.openxmlformats.org/drawingml/2006/main" name="Architect_Course_Title">
  <a:themeElements>
    <a:clrScheme name="MySlides200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ySlides2007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4400" b="0" i="0" u="none" strike="noStrike" cap="none" normalizeH="0" baseline="0" smtClean="0">
            <a:ln>
              <a:noFill/>
            </a:ln>
            <a:solidFill>
              <a:srgbClr val="6E797F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4400" b="0" i="0" u="none" strike="noStrike" cap="none" normalizeH="0" baseline="0" smtClean="0">
            <a:ln>
              <a:noFill/>
            </a:ln>
            <a:solidFill>
              <a:srgbClr val="6E797F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MySlides200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lides2007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lides2007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lides2007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lides2007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lides2007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ySlides2007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ySlides2007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ySlides2007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ySlides2007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ySlides2007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ySlides2007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eme1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Architect_Course_Title</Template>
  <TotalTime>2787</TotalTime>
  <Words>4205</Words>
  <Application>Microsoft Office PowerPoint</Application>
  <PresentationFormat>On-screen Show (4:3)</PresentationFormat>
  <Paragraphs>790</Paragraphs>
  <Slides>69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69</vt:i4>
      </vt:variant>
    </vt:vector>
  </HeadingPairs>
  <TitlesOfParts>
    <vt:vector size="83" baseType="lpstr">
      <vt:lpstr>Arial</vt:lpstr>
      <vt:lpstr>Arial Black</vt:lpstr>
      <vt:lpstr>Arial-ItalicMT</vt:lpstr>
      <vt:lpstr>ArialMT</vt:lpstr>
      <vt:lpstr>Calibri</vt:lpstr>
      <vt:lpstr>Lucida Console</vt:lpstr>
      <vt:lpstr>Symbol</vt:lpstr>
      <vt:lpstr>Tahoma</vt:lpstr>
      <vt:lpstr>Times New Roman</vt:lpstr>
      <vt:lpstr>Verdana</vt:lpstr>
      <vt:lpstr>Wingdings</vt:lpstr>
      <vt:lpstr>Architect_Course_Title</vt:lpstr>
      <vt:lpstr>Custom Design</vt:lpstr>
      <vt:lpstr>Theme1</vt:lpstr>
      <vt:lpstr>Kiến trúc Máy tính Khoa học &amp; Kỹ thuật Máy tính</vt:lpstr>
      <vt:lpstr>Các thành phần &amp; Cấu trúc</vt:lpstr>
      <vt:lpstr>Các bước thực hiện lệnh</vt:lpstr>
      <vt:lpstr>Tập lệnh (Instruction Set)</vt:lpstr>
      <vt:lpstr>Các nguyên tắc thiết kế</vt:lpstr>
      <vt:lpstr>Tập lệnh MIPS</vt:lpstr>
      <vt:lpstr>Phép tính số học</vt:lpstr>
      <vt:lpstr>Ví dụ: thực hiện phép số học</vt:lpstr>
      <vt:lpstr>Toán hạng là thanh ghi</vt:lpstr>
      <vt:lpstr>Ví dụ: toán hạng thanh ghi</vt:lpstr>
      <vt:lpstr>Toán hạng là bộ nhớ</vt:lpstr>
      <vt:lpstr>Ví dụ 1: Toán hạng bộ nhớ</vt:lpstr>
      <vt:lpstr>Ví dụ 2: Toán hạng bộ nhớ</vt:lpstr>
      <vt:lpstr>So sánh toán hạng thanh ghi &amp; bộ nhớ</vt:lpstr>
      <vt:lpstr>Toán hạng trực tiếp</vt:lpstr>
      <vt:lpstr>Thanh ghi Hằng 0 (Zero)</vt:lpstr>
      <vt:lpstr>Số nguyên nhị phân không dấu</vt:lpstr>
      <vt:lpstr>Số nguyên có dấu dạng bù 2</vt:lpstr>
      <vt:lpstr>Số nguyên có dấu dạng bù 2 (tt.)</vt:lpstr>
      <vt:lpstr>Số âm có dấu</vt:lpstr>
      <vt:lpstr>Mở  rộng bit với số có dấu</vt:lpstr>
      <vt:lpstr>Biểu diễn lệnh</vt:lpstr>
      <vt:lpstr>Các lệnh dạng R</vt:lpstr>
      <vt:lpstr>Ví dụ: Lệnh dạng R</vt:lpstr>
      <vt:lpstr>Biểu diễn số dạng hệ 16</vt:lpstr>
      <vt:lpstr>Lệnh MIPS dạng I</vt:lpstr>
      <vt:lpstr>Tổ chức chương trình</vt:lpstr>
      <vt:lpstr>Tác tác vụ luận lý</vt:lpstr>
      <vt:lpstr>Các tác vụ dịch (shift)</vt:lpstr>
      <vt:lpstr>Tác vụ “VÀ” (AND)</vt:lpstr>
      <vt:lpstr>Tác vụ “hoặc” (OR)</vt:lpstr>
      <vt:lpstr>Các tác vụ “Not”</vt:lpstr>
      <vt:lpstr>Các tác vụ điều kiện</vt:lpstr>
      <vt:lpstr>Biên dịch các phát biểu if</vt:lpstr>
      <vt:lpstr>Biên dịch các phát biểu Loop</vt:lpstr>
      <vt:lpstr>Khối căn bản (Basic Blocks)</vt:lpstr>
      <vt:lpstr>Các tác vụ kiểm tra điều kiện khác</vt:lpstr>
      <vt:lpstr>Thiết kế lệnh rẽ nhánh</vt:lpstr>
      <vt:lpstr>Dấu và Không dấu</vt:lpstr>
      <vt:lpstr>Gọi thủ tục</vt:lpstr>
      <vt:lpstr>Ý đồ sử dụng các thanh ghi</vt:lpstr>
      <vt:lpstr>Lệnh gọi thủ tục</vt:lpstr>
      <vt:lpstr>Ví dụ: gọi thủ tục (leaf)</vt:lpstr>
      <vt:lpstr>Ví dụ: gọi thủ tục (tt.)</vt:lpstr>
      <vt:lpstr>Gọi thủ tục (Non-Leaf)</vt:lpstr>
      <vt:lpstr>Ví dụ: gọi thủ tục (Non-Leaf)</vt:lpstr>
      <vt:lpstr>Ví dụ: gọi thủ tục (Non-Leaf) tt.</vt:lpstr>
      <vt:lpstr>Cách lưu trữ trong Stack</vt:lpstr>
      <vt:lpstr>Bố cục chứa trong bộ nhớ</vt:lpstr>
      <vt:lpstr>Dữ liệu ký tự</vt:lpstr>
      <vt:lpstr>Nhóm các lệnh Byte/Halfword</vt:lpstr>
      <vt:lpstr>Ví dụ: Sao chuỗi (String Copy)</vt:lpstr>
      <vt:lpstr>Ví dụ: String Copy (tt.)</vt:lpstr>
      <vt:lpstr>Hằng 32-bit</vt:lpstr>
      <vt:lpstr>Xác định địa chỉ rẽ nhánh</vt:lpstr>
      <vt:lpstr>Địa chỉ nhảy trực tiếp</vt:lpstr>
      <vt:lpstr>Ví dụ: Xác định địa chỉ đích</vt:lpstr>
      <vt:lpstr>Rẽ nhánh xa</vt:lpstr>
      <vt:lpstr>Tóm tắt Addressing Mode</vt:lpstr>
      <vt:lpstr>Đồng bộ</vt:lpstr>
      <vt:lpstr>Đồng bộ trong MIPS </vt:lpstr>
      <vt:lpstr>Lệnh giả trong hợp ngữ</vt:lpstr>
      <vt:lpstr>Biên dịch và thực hiện</vt:lpstr>
      <vt:lpstr>Tạo Object Module</vt:lpstr>
      <vt:lpstr>Liên kết các Object Modules</vt:lpstr>
      <vt:lpstr>Nạp một chương trình</vt:lpstr>
      <vt:lpstr>Liên kết động</vt:lpstr>
      <vt:lpstr>Kết luận</vt:lpstr>
      <vt:lpstr>Kết luận (tt.)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Architecture</dc:title>
  <dc:creator>sonsys</dc:creator>
  <cp:lastModifiedBy>Cuong Pham-Quoc</cp:lastModifiedBy>
  <cp:revision>200</cp:revision>
  <dcterms:created xsi:type="dcterms:W3CDTF">2006-08-16T00:00:00Z</dcterms:created>
  <dcterms:modified xsi:type="dcterms:W3CDTF">2015-12-10T08:05:05Z</dcterms:modified>
</cp:coreProperties>
</file>