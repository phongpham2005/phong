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8" r:id="rId2"/>
    <p:sldMasterId id="2147483700" r:id="rId3"/>
    <p:sldMasterId id="2147483712" r:id="rId4"/>
  </p:sldMasterIdLst>
  <p:notesMasterIdLst>
    <p:notesMasterId r:id="rId51"/>
  </p:notesMasterIdLst>
  <p:sldIdLst>
    <p:sldId id="256" r:id="rId5"/>
    <p:sldId id="257" r:id="rId6"/>
    <p:sldId id="304" r:id="rId7"/>
    <p:sldId id="305" r:id="rId8"/>
    <p:sldId id="306" r:id="rId9"/>
    <p:sldId id="308" r:id="rId10"/>
    <p:sldId id="309" r:id="rId11"/>
    <p:sldId id="310" r:id="rId12"/>
    <p:sldId id="258" r:id="rId13"/>
    <p:sldId id="259" r:id="rId14"/>
    <p:sldId id="260" r:id="rId15"/>
    <p:sldId id="262" r:id="rId16"/>
    <p:sldId id="263" r:id="rId17"/>
    <p:sldId id="311" r:id="rId18"/>
    <p:sldId id="264" r:id="rId19"/>
    <p:sldId id="265" r:id="rId20"/>
    <p:sldId id="266" r:id="rId21"/>
    <p:sldId id="267" r:id="rId22"/>
    <p:sldId id="268" r:id="rId23"/>
    <p:sldId id="312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313" r:id="rId33"/>
    <p:sldId id="278" r:id="rId34"/>
    <p:sldId id="279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303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D059D-A283-427F-92E5-8906E07E457E}" type="datetimeFigureOut">
              <a:rPr lang="vi-VN" smtClean="0"/>
              <a:t>27/03/2017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C50C-A260-474F-BA18-7E1AB7BD15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184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npo0000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43708" y="6525660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sp>
        <p:nvSpPr>
          <p:cNvPr id="6" name="AutoShape 11"/>
          <p:cNvSpPr>
            <a:spLocks noChangeAspect="1" noChangeArrowheads="1"/>
          </p:cNvSpPr>
          <p:nvPr/>
        </p:nvSpPr>
        <p:spPr bwMode="auto">
          <a:xfrm>
            <a:off x="0" y="2420939"/>
            <a:ext cx="1043354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1450" y="5303181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algn="ctr" eaLnBrk="1" hangingPunct="1">
                <a:spcAft>
                  <a:spcPct val="10000"/>
                </a:spcAft>
                <a:defRPr/>
              </a:pPr>
              <a:r>
                <a:rPr lang="en-US" sz="1200" b="1" smtClean="0">
                  <a:solidFill>
                    <a:srgbClr val="032B91"/>
                  </a:solidFill>
                </a:rPr>
                <a:t>BK</a:t>
              </a:r>
            </a:p>
            <a:p>
              <a:pPr algn="ctr" eaLnBrk="1" hangingPunct="1">
                <a:defRPr/>
              </a:pPr>
              <a:r>
                <a:rPr lang="en-US" sz="900" b="1" smtClean="0">
                  <a:solidFill>
                    <a:srgbClr val="1488DB"/>
                  </a:solidFill>
                </a:rPr>
                <a:t>TP.HCM</a:t>
              </a:r>
              <a:endParaRPr lang="en-US" sz="900" smtClean="0">
                <a:solidFill>
                  <a:srgbClr val="1488DB"/>
                </a:solidFill>
              </a:endParaRPr>
            </a:p>
          </p:txBody>
        </p:sp>
      </p:grpSp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202753" y="6524625"/>
            <a:ext cx="3921369" cy="333375"/>
          </a:xfrm>
        </p:spPr>
        <p:txBody>
          <a:bodyPr/>
          <a:lstStyle/>
          <a:p>
            <a:fld id="{E6AE4854-63D1-44A6-BDE3-3283E24BC257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88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42B03-E540-4205-8BB4-A6B91BEE30CC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97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A3237F-1445-4C61-84D6-297973A8EE42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7772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5F06D-5BA9-4507-B02B-1BB5BCAB44EA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7017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9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966114-5447-4B7D-93C4-0887D99EFCDD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02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7BFD3-9DDD-44BA-94A3-81B4E5A71933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9232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4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B4263A-A017-484E-86CE-6A447A7F95D3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71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B913DD-3B81-41E5-9320-9D01BDC9C822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55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28EBBD-2873-4AE4-BC60-D849BF1DB4B9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2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A13032-B220-4EC6-AFBB-649027092553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06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8338" y="44451"/>
            <a:ext cx="2057400" cy="6264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6139" y="44451"/>
            <a:ext cx="6031523" cy="6264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EE89A9-E242-4F63-8D1E-C03515DA30DF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8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8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07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3525"/>
            <a:ext cx="78486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579688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0298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6138" y="1125538"/>
            <a:ext cx="8229600" cy="5183187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9CE88-ED52-47D8-ACE0-7DF53D916955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2337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8A4D5-A7A0-48BF-B7A5-677FB51CD97E}" type="datetime1">
              <a:rPr lang="en-US" smtClean="0"/>
              <a:t>3/27/2017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169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37EF-ECF7-47D9-A142-BDB1911A28D6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0528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939A-BD62-4E63-B939-104BE1D513E2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117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FDC2-19BC-47C9-BD5D-ED411ED93436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302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D10C8-5146-4AA1-9CF3-C1F94950D447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4465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FACC-943E-4F15-9479-FBCA7B1DB1AD}" type="datetime1">
              <a:rPr lang="en-US" smtClean="0"/>
              <a:t>3/27/2017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0295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08CA3-63B6-435F-98C6-A312FD24717B}" type="datetime1">
              <a:rPr lang="en-US" smtClean="0"/>
              <a:t>3/27/2017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6541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A33AF-AE45-4A17-924D-13F440075B95}" type="datetime1">
              <a:rPr lang="en-US" smtClean="0"/>
              <a:t>3/27/2017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3163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78B3-206C-463A-9038-CE63DEE2E420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0931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F2F0-FC00-4B49-BFDE-1C858E2B60F1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892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D209-B706-43EE-8EB2-C746C7F926ED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19466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3AA5-CFE4-40CA-86AD-9337AAB327E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7554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124D063-26F0-4E32-BB6D-75AB7389B6E5}" type="datetime1">
              <a:rPr lang="en-US" smtClean="0"/>
              <a:t>3/27/2017</a:t>
            </a:fld>
            <a:endParaRPr lang="vi-VN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4191000" cy="3048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248400"/>
            <a:ext cx="1371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47800" y="6248400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fld id="{02CBF42C-3D8A-4E50-9767-45CF2ABB725A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4419600" cy="304800"/>
          </a:xfrm>
        </p:spPr>
        <p:txBody>
          <a:bodyPr/>
          <a:lstStyle>
            <a:lvl1pPr>
              <a:defRPr b="1" i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243638"/>
            <a:ext cx="13271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7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A86FD7-6541-4D4F-A371-564BF395FA0B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2A7D97-A91F-4213-8CAE-2C1FA9AA6B55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39D9E4-8858-46B8-BBBF-7C0AED99F280}" type="datetime1">
              <a:rPr lang="en-US" smtClean="0"/>
              <a:t>3/27/2017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504950" cy="457200"/>
          </a:xfrm>
        </p:spPr>
        <p:txBody>
          <a:bodyPr/>
          <a:lstStyle>
            <a:lvl1pPr>
              <a:defRPr/>
            </a:lvl1pPr>
          </a:lstStyle>
          <a:p>
            <a:fld id="{8345A9C4-782E-453D-A5C8-3B93BEED40C3}" type="datetime1">
              <a:rPr lang="en-US" smtClean="0"/>
              <a:t>3/27/2017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24800" y="6243638"/>
            <a:ext cx="10223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5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6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3" name="Footer Placeholder 4"/>
          <p:cNvSpPr txBox="1">
            <a:spLocks/>
          </p:cNvSpPr>
          <p:nvPr userDrawn="1"/>
        </p:nvSpPr>
        <p:spPr bwMode="auto">
          <a:xfrm>
            <a:off x="2819400" y="6400800"/>
            <a:ext cx="441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120951-0992-4070-8186-3FD70F41D3E8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357939-8D9F-4FCC-A3FD-7DC56876818F}" type="datetime1">
              <a:rPr lang="en-US" smtClean="0"/>
              <a:t>3/27/2017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B31FDB-B11F-4ACD-8599-764F3CBF053E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8823DC-7493-4B3A-9E6A-49375070B82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vi-VN">
                  <a:solidFill>
                    <a:srgbClr val="000000"/>
                  </a:solidFill>
                </a:endParaRPr>
              </a:p>
            </p:txBody>
          </p:sp>
          <p:sp>
            <p:nvSpPr>
              <p:cNvPr id="51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vi-VN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vi-VN">
                  <a:solidFill>
                    <a:srgbClr val="000000"/>
                  </a:solidFill>
                </a:endParaRPr>
              </a:p>
            </p:txBody>
          </p:sp>
          <p:sp>
            <p:nvSpPr>
              <p:cNvPr id="512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vi-VN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B461141-824D-4529-8D6B-ED8AB65BE820}" type="datetime3">
              <a:rPr lang="en-US" smtClean="0">
                <a:solidFill>
                  <a:srgbClr val="1C1C1C"/>
                </a:solidFill>
              </a:rPr>
              <a:pPr/>
              <a:t>27 March 2017</a:t>
            </a:fld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4191000" cy="3048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smtClean="0">
                <a:solidFill>
                  <a:srgbClr val="1C1C1C"/>
                </a:solidFill>
              </a:rPr>
              <a:t>Faculty of Computer Science and Engineering</a:t>
            </a:r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248400"/>
            <a:ext cx="1371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AAAF785-AF3C-407F-8BFB-0FDB9073B7E1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425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1B2343D-C85D-49D7-8ACF-D08785E43CFF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4419600" cy="304800"/>
          </a:xfrm>
        </p:spPr>
        <p:txBody>
          <a:bodyPr/>
          <a:lstStyle>
            <a:lvl1pPr>
              <a:defRPr b="1" i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 smtClean="0">
                <a:solidFill>
                  <a:srgbClr val="333399">
                    <a:lumMod val="60000"/>
                    <a:lumOff val="40000"/>
                  </a:srgbClr>
                </a:solidFill>
              </a:rPr>
              <a:t>Faculty of Computer Science and Engineering</a:t>
            </a:r>
            <a:endParaRPr lang="en-US" dirty="0">
              <a:solidFill>
                <a:srgbClr val="333399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243638"/>
            <a:ext cx="1327150" cy="457200"/>
          </a:xfrm>
        </p:spPr>
        <p:txBody>
          <a:bodyPr/>
          <a:lstStyle>
            <a:lvl1pPr>
              <a:defRPr/>
            </a:lvl1pPr>
          </a:lstStyle>
          <a:p>
            <a:fld id="{0A50A9D8-192E-4E1E-A137-4438CEA0665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5532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29BCEC-DA72-4F2C-9D18-06F0438A2020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F22AC3-DD75-47C2-B798-DB26CACEFD1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381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7D6869-A2B3-4E7F-92DB-4C32BC617FF9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634EB-34F7-45AC-A99C-DE68452E27E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3109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569601-04B7-4698-98A7-5F40242EA231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17F5EA-63D2-4765-B79F-FD68FC5D4BE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4650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7ED739-CC73-49A9-B8BC-DC10F36C5249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1F5A3-C98E-4332-BF9A-3DB03818A9F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056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63D0A9-BC89-48DC-A91F-BC017647F237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E48668-607C-4599-885A-4150DE8352C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4720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0AF287-4E9C-4E25-8B6A-D29BDF344C1C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82A512-2296-4072-8D1D-941D7AB66A1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95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641212-EB3A-40FB-8EAA-B3BEEAF6EA40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0D6A7-BC67-46D0-A5C7-8C219EBE74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40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D49194-8C27-4093-8E0D-C3F7BCD97C1D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A582C-6FF7-4DCA-81A7-1A53AFA3AE1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007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6192A1-2E1D-4371-B019-F1C7329EA3AB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060BDC-C5FE-45FB-81AC-28CDC3D8401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0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138" y="44450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138" y="1125538"/>
            <a:ext cx="8229600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39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0631" y="6524626"/>
            <a:ext cx="3921369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fld id="{294E9DDC-A658-4A24-B145-6525CF7D911F}" type="datetime1">
              <a:rPr lang="en-US" smtClean="0"/>
              <a:t>3/27/2017</a:t>
            </a:fld>
            <a:endParaRPr lang="en-US"/>
          </a:p>
        </p:txBody>
      </p:sp>
      <p:pic>
        <p:nvPicPr>
          <p:cNvPr id="1031" name="Picture 16" descr="New_BK_HCM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2CE8-914E-44E6-BC2D-1E501B20CB8D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11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381794" y="497991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ltGray">
          <a:xfrm>
            <a:off x="764381" y="49799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ltGray">
          <a:xfrm>
            <a:off x="505619" y="920266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ltGray">
          <a:xfrm>
            <a:off x="875506" y="92026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ltGray">
          <a:xfrm>
            <a:off x="91281" y="84724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gray">
          <a:xfrm>
            <a:off x="726281" y="390041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gray">
          <a:xfrm>
            <a:off x="407194" y="1180616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470991"/>
            <a:ext cx="7772400" cy="46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479D42CE-4C9A-40B2-B8BC-83D90B1E5ED7}" type="datetime1">
              <a:rPr lang="en-US" smtClean="0"/>
              <a:t>3/27/2017</a:t>
            </a:fld>
            <a:endParaRPr lang="en-US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r>
              <a:rPr lang="en-US" smtClean="0"/>
              <a:t>Faculty of Computer Science &amp; Engineering</a:t>
            </a:r>
            <a:endParaRPr lang="en-US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50E144F-35F2-4001-89DB-4F67F07C56F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vi-VN" sz="2400">
              <a:solidFill>
                <a:srgbClr val="000000"/>
              </a:solidFill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CAC8FF-9D1A-435E-B04A-04DE026793FC}" type="datetime3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 March 2017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</a:rPr>
              <a:t>Faculty of Computer Science and Engineering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0E144F-35F2-4001-89DB-4F67F07C56F0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2400"/>
            <a:ext cx="7772400" cy="147002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Architecture</a:t>
            </a:r>
            <a:b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i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Science &amp; Engineering</a:t>
            </a:r>
            <a:endParaRPr lang="vi-V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914400"/>
          </a:xfrm>
        </p:spPr>
        <p:txBody>
          <a:bodyPr/>
          <a:lstStyle/>
          <a:p>
            <a:pPr algn="l"/>
            <a:r>
              <a:rPr lang="en-US" sz="4000" b="1" smtClean="0">
                <a:solidFill>
                  <a:schemeClr val="accent6">
                    <a:lumMod val="75000"/>
                  </a:schemeClr>
                </a:solidFill>
              </a:rPr>
              <a:t>Chương </a:t>
            </a:r>
            <a:r>
              <a:rPr lang="en-US" sz="4000" b="1" dirty="0" smtClean="0">
                <a:solidFill>
                  <a:schemeClr val="accent6">
                    <a:lumMod val="75000"/>
                  </a:schemeClr>
                </a:solidFill>
              </a:rPr>
              <a:t>3 </a:t>
            </a:r>
            <a:endParaRPr lang="vi-VN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1524000" y="3429000"/>
            <a:ext cx="640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endParaRPr lang="vi-VN" sz="5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838200" y="3657600"/>
            <a:ext cx="7315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ECEAAC"/>
              </a:buClr>
              <a:buSzPct val="60000"/>
            </a:pPr>
            <a:r>
              <a:rPr lang="en-AU" sz="4800" b="1" kern="0" smtClean="0">
                <a:solidFill>
                  <a:schemeClr val="accent5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Phép số học</a:t>
            </a:r>
          </a:p>
        </p:txBody>
      </p:sp>
    </p:spTree>
    <p:extLst>
      <p:ext uri="{BB962C8B-B14F-4D97-AF65-F5344CB8AC3E}">
        <p14:creationId xmlns:p14="http://schemas.microsoft.com/office/powerpoint/2010/main" val="3798037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4C13-A755-4CEC-A225-61629A553923}" type="datetime1">
              <a:rPr lang="en-US" smtClean="0"/>
              <a:t>3/27/2017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Các phép số học</a:t>
            </a:r>
            <a:endParaRPr lang="en-US" b="1" dirty="0">
              <a:latin typeface="+mn-lt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Các phép tính trên số nguyên</a:t>
            </a:r>
            <a:endParaRPr lang="en-AU"/>
          </a:p>
          <a:p>
            <a:pPr lvl="1"/>
            <a:r>
              <a:rPr lang="en-AU" smtClean="0"/>
              <a:t>Cộng và Trừ</a:t>
            </a:r>
            <a:endParaRPr lang="en-AU"/>
          </a:p>
          <a:p>
            <a:pPr lvl="1"/>
            <a:r>
              <a:rPr lang="en-AU" smtClean="0"/>
              <a:t>Nhân và Chia</a:t>
            </a:r>
          </a:p>
          <a:p>
            <a:pPr lvl="1"/>
            <a:r>
              <a:rPr lang="en-AU" smtClean="0"/>
              <a:t>Xử lý tràn</a:t>
            </a:r>
          </a:p>
          <a:p>
            <a:r>
              <a:rPr lang="en-AU" smtClean="0"/>
              <a:t>Số thực với dấu chấm di động (Floating-Point)</a:t>
            </a:r>
            <a:endParaRPr lang="en-AU"/>
          </a:p>
          <a:p>
            <a:pPr lvl="1"/>
            <a:r>
              <a:rPr lang="en-AU" smtClean="0"/>
              <a:t>Cách biểu diễn và các phép tính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9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4C13-A755-4CEC-A225-61629A553923}" type="datetime1">
              <a:rPr lang="en-US" smtClean="0"/>
              <a:t>3/27/2017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Nhắc lại mạch số</a:t>
            </a:r>
            <a:endParaRPr lang="en-US" b="1" dirty="0">
              <a:latin typeface="+mn-lt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mtClean="0"/>
              <a:t>Môn học:</a:t>
            </a:r>
          </a:p>
          <a:p>
            <a:r>
              <a:rPr lang="en-AU" smtClean="0"/>
              <a:t>Nhập môn điện toán (Năm I)</a:t>
            </a:r>
          </a:p>
          <a:p>
            <a:r>
              <a:rPr lang="en-AU" smtClean="0"/>
              <a:t>Thiết kế hệ thống số</a:t>
            </a:r>
          </a:p>
          <a:p>
            <a:pPr marL="0" indent="0">
              <a:buNone/>
            </a:pPr>
            <a:endParaRPr lang="en-A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199"/>
            <a:ext cx="69373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68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172200"/>
            <a:ext cx="1981200" cy="533400"/>
          </a:xfrm>
        </p:spPr>
        <p:txBody>
          <a:bodyPr/>
          <a:lstStyle/>
          <a:p>
            <a:fld id="{F3217504-9B38-4510-99E9-1E3B00B022DE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4800600" cy="300038"/>
          </a:xfrm>
        </p:spPr>
        <p:txBody>
          <a:bodyPr/>
          <a:lstStyle/>
          <a:p>
            <a:r>
              <a:rPr lang="en-US" b="1" i="1" smtClean="0">
                <a:solidFill>
                  <a:srgbClr val="333399">
                    <a:lumMod val="75000"/>
                  </a:srgbClr>
                </a:solidFill>
              </a:rPr>
              <a:t>Khoa Khoa học &amp; Kỹ thuật Máy tính</a:t>
            </a:r>
            <a:endParaRPr lang="en-US" b="1" i="1" dirty="0">
              <a:solidFill>
                <a:srgbClr val="333399">
                  <a:lumMod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8668-607C-4599-885A-4150DE8352C6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066800" y="609600"/>
            <a:ext cx="6502400" cy="8477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 smtClean="0">
                <a:solidFill>
                  <a:srgbClr val="000000"/>
                </a:solidFill>
              </a:rPr>
              <a:t>Mạch Half Adder</a:t>
            </a:r>
            <a:endParaRPr lang="en-US" sz="4400" kern="0" dirty="0" smtClean="0">
              <a:solidFill>
                <a:srgbClr val="000000"/>
              </a:solidFill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2286000" y="2819400"/>
            <a:ext cx="25400" cy="812800"/>
          </a:xfrm>
          <a:prstGeom prst="line">
            <a:avLst/>
          </a:prstGeom>
          <a:noFill/>
          <a:ln w="76200">
            <a:solidFill>
              <a:srgbClr val="C0C0C0"/>
            </a:solidFill>
            <a:round/>
            <a:headEnd/>
            <a:tailEnd type="triangle" w="med" len="med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762000" y="1752600"/>
            <a:ext cx="3224213" cy="1128713"/>
            <a:chOff x="3191" y="962"/>
            <a:chExt cx="2031" cy="711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777" y="962"/>
              <a:ext cx="822" cy="67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54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74600" prstMaterial="legacyMatte">
              <a:bevelT w="13500" h="13500" prst="angle"/>
              <a:bevelB w="13500" h="13500" prst="angle"/>
              <a:extrusionClr>
                <a:schemeClr val="folHlink"/>
              </a:extrusionClr>
            </a:sp3d>
          </p:spPr>
          <p:txBody>
            <a:bodyPr lIns="0" tIns="0" rIns="0" bIns="0">
              <a:flatTx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3552" y="1112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552" y="1486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4599" y="1112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4599" y="1486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893" y="1041"/>
              <a:ext cx="591" cy="5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Half adder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3209" y="1319"/>
              <a:ext cx="321" cy="32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y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4901" y="1004"/>
              <a:ext cx="321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4901" y="1346"/>
              <a:ext cx="321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C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3191" y="968"/>
              <a:ext cx="320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x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4953000" y="1897063"/>
            <a:ext cx="3624263" cy="2370137"/>
            <a:chOff x="2948" y="2291"/>
            <a:chExt cx="2283" cy="1493"/>
          </a:xfrm>
        </p:grpSpPr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2948" y="2291"/>
              <a:ext cx="321" cy="3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x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3705" y="3359"/>
              <a:ext cx="27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3488" y="3641"/>
              <a:ext cx="48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H="1">
              <a:off x="4519" y="3500"/>
              <a:ext cx="290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H="1">
              <a:off x="3927" y="2902"/>
              <a:ext cx="15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3857" y="2469"/>
              <a:ext cx="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3857" y="2751"/>
              <a:ext cx="84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7" name="Arc 23"/>
            <p:cNvSpPr>
              <a:spLocks/>
            </p:cNvSpPr>
            <p:nvPr/>
          </p:nvSpPr>
          <p:spPr bwMode="auto">
            <a:xfrm>
              <a:off x="4082" y="2327"/>
              <a:ext cx="496" cy="573"/>
            </a:xfrm>
            <a:custGeom>
              <a:avLst/>
              <a:gdLst>
                <a:gd name="T0" fmla="*/ 0 w 18840"/>
                <a:gd name="T1" fmla="*/ 0 h 21600"/>
                <a:gd name="T2" fmla="*/ 0 w 18840"/>
                <a:gd name="T3" fmla="*/ 0 h 21600"/>
                <a:gd name="T4" fmla="*/ 0 w 18840"/>
                <a:gd name="T5" fmla="*/ 0 h 21600"/>
                <a:gd name="T6" fmla="*/ 0 60000 65536"/>
                <a:gd name="T7" fmla="*/ 0 60000 65536"/>
                <a:gd name="T8" fmla="*/ 0 60000 65536"/>
                <a:gd name="T9" fmla="*/ 0 w 18840"/>
                <a:gd name="T10" fmla="*/ 0 h 21600"/>
                <a:gd name="T11" fmla="*/ 18840 w 1884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40" h="21600" fill="none" extrusionOk="0">
                  <a:moveTo>
                    <a:pt x="-1" y="1"/>
                  </a:moveTo>
                  <a:cubicBezTo>
                    <a:pt x="90" y="0"/>
                    <a:pt x="181" y="-1"/>
                    <a:pt x="273" y="0"/>
                  </a:cubicBezTo>
                  <a:cubicBezTo>
                    <a:pt x="7891" y="0"/>
                    <a:pt x="14947" y="4013"/>
                    <a:pt x="18840" y="10562"/>
                  </a:cubicBezTo>
                </a:path>
                <a:path w="18840" h="21600" stroke="0" extrusionOk="0">
                  <a:moveTo>
                    <a:pt x="-1" y="1"/>
                  </a:moveTo>
                  <a:cubicBezTo>
                    <a:pt x="90" y="0"/>
                    <a:pt x="181" y="-1"/>
                    <a:pt x="273" y="0"/>
                  </a:cubicBezTo>
                  <a:cubicBezTo>
                    <a:pt x="7891" y="0"/>
                    <a:pt x="14947" y="4013"/>
                    <a:pt x="18840" y="10562"/>
                  </a:cubicBezTo>
                  <a:lnTo>
                    <a:pt x="273" y="2160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8" name="Arc 24"/>
            <p:cNvSpPr>
              <a:spLocks/>
            </p:cNvSpPr>
            <p:nvPr/>
          </p:nvSpPr>
          <p:spPr bwMode="auto">
            <a:xfrm>
              <a:off x="3583" y="2325"/>
              <a:ext cx="400" cy="292"/>
            </a:xfrm>
            <a:custGeom>
              <a:avLst/>
              <a:gdLst>
                <a:gd name="T0" fmla="*/ 0 w 21596"/>
                <a:gd name="T1" fmla="*/ 0 h 15652"/>
                <a:gd name="T2" fmla="*/ 0 w 21596"/>
                <a:gd name="T3" fmla="*/ 0 h 15652"/>
                <a:gd name="T4" fmla="*/ 0 w 21596"/>
                <a:gd name="T5" fmla="*/ 0 h 15652"/>
                <a:gd name="T6" fmla="*/ 0 60000 65536"/>
                <a:gd name="T7" fmla="*/ 0 60000 65536"/>
                <a:gd name="T8" fmla="*/ 0 60000 65536"/>
                <a:gd name="T9" fmla="*/ 0 w 21596"/>
                <a:gd name="T10" fmla="*/ 0 h 15652"/>
                <a:gd name="T11" fmla="*/ 21596 w 21596"/>
                <a:gd name="T12" fmla="*/ 15652 h 156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6" h="15652" fill="none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</a:path>
                <a:path w="21596" h="15652" stroke="0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  <a:lnTo>
                    <a:pt x="0" y="15652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9" name="Arc 25"/>
            <p:cNvSpPr>
              <a:spLocks/>
            </p:cNvSpPr>
            <p:nvPr/>
          </p:nvSpPr>
          <p:spPr bwMode="auto">
            <a:xfrm>
              <a:off x="3583" y="2609"/>
              <a:ext cx="400" cy="293"/>
            </a:xfrm>
            <a:custGeom>
              <a:avLst/>
              <a:gdLst>
                <a:gd name="T0" fmla="*/ 0 w 21600"/>
                <a:gd name="T1" fmla="*/ 0 h 15669"/>
                <a:gd name="T2" fmla="*/ 0 w 21600"/>
                <a:gd name="T3" fmla="*/ 0 h 15669"/>
                <a:gd name="T4" fmla="*/ 0 w 21600"/>
                <a:gd name="T5" fmla="*/ 0 h 156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669"/>
                <a:gd name="T11" fmla="*/ 21600 w 21600"/>
                <a:gd name="T12" fmla="*/ 15669 h 15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669" fill="none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</a:path>
                <a:path w="21600" h="15669" stroke="0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  <a:lnTo>
                    <a:pt x="0" y="40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0" name="Arc 26"/>
            <p:cNvSpPr>
              <a:spLocks/>
            </p:cNvSpPr>
            <p:nvPr/>
          </p:nvSpPr>
          <p:spPr bwMode="auto">
            <a:xfrm>
              <a:off x="3653" y="2325"/>
              <a:ext cx="400" cy="292"/>
            </a:xfrm>
            <a:custGeom>
              <a:avLst/>
              <a:gdLst>
                <a:gd name="T0" fmla="*/ 0 w 21596"/>
                <a:gd name="T1" fmla="*/ 0 h 15652"/>
                <a:gd name="T2" fmla="*/ 0 w 21596"/>
                <a:gd name="T3" fmla="*/ 0 h 15652"/>
                <a:gd name="T4" fmla="*/ 0 w 21596"/>
                <a:gd name="T5" fmla="*/ 0 h 15652"/>
                <a:gd name="T6" fmla="*/ 0 60000 65536"/>
                <a:gd name="T7" fmla="*/ 0 60000 65536"/>
                <a:gd name="T8" fmla="*/ 0 60000 65536"/>
                <a:gd name="T9" fmla="*/ 0 w 21596"/>
                <a:gd name="T10" fmla="*/ 0 h 15652"/>
                <a:gd name="T11" fmla="*/ 21596 w 21596"/>
                <a:gd name="T12" fmla="*/ 15652 h 156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6" h="15652" fill="none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</a:path>
                <a:path w="21596" h="15652" stroke="0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  <a:lnTo>
                    <a:pt x="0" y="15652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1" name="Arc 27"/>
            <p:cNvSpPr>
              <a:spLocks/>
            </p:cNvSpPr>
            <p:nvPr/>
          </p:nvSpPr>
          <p:spPr bwMode="auto">
            <a:xfrm>
              <a:off x="3653" y="2609"/>
              <a:ext cx="401" cy="293"/>
            </a:xfrm>
            <a:custGeom>
              <a:avLst/>
              <a:gdLst>
                <a:gd name="T0" fmla="*/ 0 w 21600"/>
                <a:gd name="T1" fmla="*/ 0 h 15669"/>
                <a:gd name="T2" fmla="*/ 0 w 21600"/>
                <a:gd name="T3" fmla="*/ 0 h 15669"/>
                <a:gd name="T4" fmla="*/ 0 w 21600"/>
                <a:gd name="T5" fmla="*/ 0 h 156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669"/>
                <a:gd name="T11" fmla="*/ 21600 w 21600"/>
                <a:gd name="T12" fmla="*/ 15669 h 15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669" fill="none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</a:path>
                <a:path w="21600" h="15669" stroke="0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  <a:lnTo>
                    <a:pt x="0" y="40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2" name="Arc 28"/>
            <p:cNvSpPr>
              <a:spLocks/>
            </p:cNvSpPr>
            <p:nvPr/>
          </p:nvSpPr>
          <p:spPr bwMode="auto">
            <a:xfrm>
              <a:off x="4082" y="2334"/>
              <a:ext cx="503" cy="564"/>
            </a:xfrm>
            <a:custGeom>
              <a:avLst/>
              <a:gdLst>
                <a:gd name="T0" fmla="*/ 0 w 19087"/>
                <a:gd name="T1" fmla="*/ 0 h 21600"/>
                <a:gd name="T2" fmla="*/ 0 w 19087"/>
                <a:gd name="T3" fmla="*/ 0 h 21600"/>
                <a:gd name="T4" fmla="*/ 0 w 19087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87"/>
                <a:gd name="T10" fmla="*/ 0 h 21600"/>
                <a:gd name="T11" fmla="*/ 19087 w 1908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87" h="21600" fill="none" extrusionOk="0">
                  <a:moveTo>
                    <a:pt x="19086" y="10623"/>
                  </a:moveTo>
                  <a:cubicBezTo>
                    <a:pt x="15255" y="17405"/>
                    <a:pt x="8069" y="21599"/>
                    <a:pt x="280" y="21600"/>
                  </a:cubicBezTo>
                  <a:cubicBezTo>
                    <a:pt x="186" y="21600"/>
                    <a:pt x="93" y="21599"/>
                    <a:pt x="-1" y="21598"/>
                  </a:cubicBezTo>
                </a:path>
                <a:path w="19087" h="21600" stroke="0" extrusionOk="0">
                  <a:moveTo>
                    <a:pt x="19086" y="10623"/>
                  </a:moveTo>
                  <a:cubicBezTo>
                    <a:pt x="15255" y="17405"/>
                    <a:pt x="8069" y="21599"/>
                    <a:pt x="280" y="21600"/>
                  </a:cubicBezTo>
                  <a:cubicBezTo>
                    <a:pt x="186" y="21600"/>
                    <a:pt x="93" y="21599"/>
                    <a:pt x="-1" y="21598"/>
                  </a:cubicBezTo>
                  <a:lnTo>
                    <a:pt x="280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3273" y="2468"/>
              <a:ext cx="584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 flipH="1">
              <a:off x="3927" y="2326"/>
              <a:ext cx="15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3282" y="2747"/>
              <a:ext cx="575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4596" y="2613"/>
              <a:ext cx="23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2948" y="2597"/>
              <a:ext cx="321" cy="3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y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3497" y="2742"/>
              <a:ext cx="2" cy="89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3713" y="2472"/>
              <a:ext cx="2" cy="89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4910" y="2444"/>
              <a:ext cx="321" cy="3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4910" y="3353"/>
              <a:ext cx="321" cy="3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C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3990" y="3208"/>
              <a:ext cx="0" cy="57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3990" y="3784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44" name="Arc 40"/>
            <p:cNvSpPr>
              <a:spLocks/>
            </p:cNvSpPr>
            <p:nvPr/>
          </p:nvSpPr>
          <p:spPr bwMode="auto">
            <a:xfrm>
              <a:off x="4230" y="3208"/>
              <a:ext cx="297" cy="288"/>
            </a:xfrm>
            <a:custGeom>
              <a:avLst/>
              <a:gdLst>
                <a:gd name="T0" fmla="*/ 0 w 22128"/>
                <a:gd name="T1" fmla="*/ 0 h 21600"/>
                <a:gd name="T2" fmla="*/ 0 w 22128"/>
                <a:gd name="T3" fmla="*/ 0 h 21600"/>
                <a:gd name="T4" fmla="*/ 0 w 22128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28"/>
                <a:gd name="T10" fmla="*/ 0 h 21600"/>
                <a:gd name="T11" fmla="*/ 22128 w 2212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28" h="21600" fill="none" extrusionOk="0">
                  <a:moveTo>
                    <a:pt x="-1" y="6"/>
                  </a:moveTo>
                  <a:cubicBezTo>
                    <a:pt x="178" y="2"/>
                    <a:pt x="356" y="-1"/>
                    <a:pt x="535" y="0"/>
                  </a:cubicBezTo>
                  <a:cubicBezTo>
                    <a:pt x="12243" y="0"/>
                    <a:pt x="21820" y="9329"/>
                    <a:pt x="22127" y="21034"/>
                  </a:cubicBezTo>
                </a:path>
                <a:path w="22128" h="21600" stroke="0" extrusionOk="0">
                  <a:moveTo>
                    <a:pt x="-1" y="6"/>
                  </a:moveTo>
                  <a:cubicBezTo>
                    <a:pt x="178" y="2"/>
                    <a:pt x="356" y="-1"/>
                    <a:pt x="535" y="0"/>
                  </a:cubicBezTo>
                  <a:cubicBezTo>
                    <a:pt x="12243" y="0"/>
                    <a:pt x="21820" y="9329"/>
                    <a:pt x="22127" y="21034"/>
                  </a:cubicBezTo>
                  <a:lnTo>
                    <a:pt x="535" y="2160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45" name="Arc 41"/>
            <p:cNvSpPr>
              <a:spLocks/>
            </p:cNvSpPr>
            <p:nvPr/>
          </p:nvSpPr>
          <p:spPr bwMode="auto">
            <a:xfrm>
              <a:off x="4230" y="3496"/>
              <a:ext cx="298" cy="288"/>
            </a:xfrm>
            <a:custGeom>
              <a:avLst/>
              <a:gdLst>
                <a:gd name="T0" fmla="*/ 0 w 22164"/>
                <a:gd name="T1" fmla="*/ 0 h 22166"/>
                <a:gd name="T2" fmla="*/ 0 w 22164"/>
                <a:gd name="T3" fmla="*/ 0 h 22166"/>
                <a:gd name="T4" fmla="*/ 0 w 22164"/>
                <a:gd name="T5" fmla="*/ 0 h 22166"/>
                <a:gd name="T6" fmla="*/ 0 60000 65536"/>
                <a:gd name="T7" fmla="*/ 0 60000 65536"/>
                <a:gd name="T8" fmla="*/ 0 60000 65536"/>
                <a:gd name="T9" fmla="*/ 0 w 22164"/>
                <a:gd name="T10" fmla="*/ 0 h 22166"/>
                <a:gd name="T11" fmla="*/ 22164 w 22164"/>
                <a:gd name="T12" fmla="*/ 22166 h 221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64" h="22166" fill="none" extrusionOk="0">
                  <a:moveTo>
                    <a:pt x="22156" y="0"/>
                  </a:moveTo>
                  <a:cubicBezTo>
                    <a:pt x="22161" y="188"/>
                    <a:pt x="22164" y="377"/>
                    <a:pt x="22164" y="566"/>
                  </a:cubicBezTo>
                  <a:cubicBezTo>
                    <a:pt x="22164" y="12495"/>
                    <a:pt x="12493" y="22166"/>
                    <a:pt x="564" y="22166"/>
                  </a:cubicBezTo>
                  <a:cubicBezTo>
                    <a:pt x="375" y="22166"/>
                    <a:pt x="187" y="22163"/>
                    <a:pt x="0" y="22158"/>
                  </a:cubicBezTo>
                </a:path>
                <a:path w="22164" h="22166" stroke="0" extrusionOk="0">
                  <a:moveTo>
                    <a:pt x="22156" y="0"/>
                  </a:moveTo>
                  <a:cubicBezTo>
                    <a:pt x="22161" y="188"/>
                    <a:pt x="22164" y="377"/>
                    <a:pt x="22164" y="566"/>
                  </a:cubicBezTo>
                  <a:cubicBezTo>
                    <a:pt x="22164" y="12495"/>
                    <a:pt x="12493" y="22166"/>
                    <a:pt x="564" y="22166"/>
                  </a:cubicBezTo>
                  <a:cubicBezTo>
                    <a:pt x="375" y="22166"/>
                    <a:pt x="187" y="22163"/>
                    <a:pt x="0" y="22158"/>
                  </a:cubicBezTo>
                  <a:lnTo>
                    <a:pt x="564" y="566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3990" y="3208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</p:grpSp>
      <p:grpSp>
        <p:nvGrpSpPr>
          <p:cNvPr id="47" name="Group 83"/>
          <p:cNvGrpSpPr>
            <a:grpSpLocks/>
          </p:cNvGrpSpPr>
          <p:nvPr/>
        </p:nvGrpSpPr>
        <p:grpSpPr bwMode="auto">
          <a:xfrm>
            <a:off x="609600" y="3733800"/>
            <a:ext cx="3657600" cy="2428875"/>
            <a:chOff x="384" y="2352"/>
            <a:chExt cx="2304" cy="1530"/>
          </a:xfrm>
        </p:grpSpPr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2112" y="3576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1536" y="3576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960" y="3576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384" y="3576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112" y="3270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1536" y="3270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960" y="3270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384" y="3270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2112" y="2964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1536" y="2964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960" y="2964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384" y="2964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2112" y="2658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1536" y="2658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960" y="2658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384" y="2658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2112" y="2352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1536" y="2352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960" y="2352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384" y="2352"/>
              <a:ext cx="57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384" y="2658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>
              <a:off x="960" y="2352"/>
              <a:ext cx="0" cy="1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0" name="Line 66"/>
            <p:cNvSpPr>
              <a:spLocks noChangeShapeType="1"/>
            </p:cNvSpPr>
            <p:nvPr/>
          </p:nvSpPr>
          <p:spPr bwMode="auto">
            <a:xfrm>
              <a:off x="1536" y="2352"/>
              <a:ext cx="0" cy="1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>
              <a:off x="2112" y="2352"/>
              <a:ext cx="0" cy="1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384" y="2964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3" name="Line 69"/>
            <p:cNvSpPr>
              <a:spLocks noChangeShapeType="1"/>
            </p:cNvSpPr>
            <p:nvPr/>
          </p:nvSpPr>
          <p:spPr bwMode="auto">
            <a:xfrm>
              <a:off x="384" y="3270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4" name="Line 70"/>
            <p:cNvSpPr>
              <a:spLocks noChangeShapeType="1"/>
            </p:cNvSpPr>
            <p:nvPr/>
          </p:nvSpPr>
          <p:spPr bwMode="auto">
            <a:xfrm>
              <a:off x="384" y="3576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5" name="Line 71"/>
            <p:cNvSpPr>
              <a:spLocks noChangeShapeType="1"/>
            </p:cNvSpPr>
            <p:nvPr/>
          </p:nvSpPr>
          <p:spPr bwMode="auto">
            <a:xfrm>
              <a:off x="384" y="2352"/>
              <a:ext cx="23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6" name="Line 72"/>
            <p:cNvSpPr>
              <a:spLocks noChangeShapeType="1"/>
            </p:cNvSpPr>
            <p:nvPr/>
          </p:nvSpPr>
          <p:spPr bwMode="auto">
            <a:xfrm>
              <a:off x="384" y="2352"/>
              <a:ext cx="0" cy="153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7" name="Line 73"/>
            <p:cNvSpPr>
              <a:spLocks noChangeShapeType="1"/>
            </p:cNvSpPr>
            <p:nvPr/>
          </p:nvSpPr>
          <p:spPr bwMode="auto">
            <a:xfrm>
              <a:off x="2688" y="2352"/>
              <a:ext cx="0" cy="153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78" name="Line 74"/>
            <p:cNvSpPr>
              <a:spLocks noChangeShapeType="1"/>
            </p:cNvSpPr>
            <p:nvPr/>
          </p:nvSpPr>
          <p:spPr bwMode="auto">
            <a:xfrm>
              <a:off x="384" y="3882"/>
              <a:ext cx="23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</p:grpSp>
      <p:sp>
        <p:nvSpPr>
          <p:cNvPr id="79" name="Line 75"/>
          <p:cNvSpPr>
            <a:spLocks noChangeShapeType="1"/>
          </p:cNvSpPr>
          <p:nvPr/>
        </p:nvSpPr>
        <p:spPr bwMode="auto">
          <a:xfrm flipV="1">
            <a:off x="4648200" y="4322763"/>
            <a:ext cx="971550" cy="1090612"/>
          </a:xfrm>
          <a:prstGeom prst="line">
            <a:avLst/>
          </a:prstGeom>
          <a:noFill/>
          <a:ln w="76200">
            <a:solidFill>
              <a:srgbClr val="C0C0C0"/>
            </a:solidFill>
            <a:round/>
            <a:headEnd/>
            <a:tailEnd type="triangle" w="med" len="med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80" name="Text Box 76"/>
          <p:cNvSpPr txBox="1">
            <a:spLocks noChangeArrowheads="1"/>
          </p:cNvSpPr>
          <p:nvPr/>
        </p:nvSpPr>
        <p:spPr bwMode="auto">
          <a:xfrm>
            <a:off x="3352800" y="3265488"/>
            <a:ext cx="919163" cy="4476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Cooper" pitchFamily="18" charset="0"/>
              </a:rPr>
              <a:t>AND</a:t>
            </a:r>
            <a:endParaRPr lang="en-US">
              <a:solidFill>
                <a:srgbClr val="000000"/>
              </a:solidFill>
              <a:latin typeface="Cooper" pitchFamily="18" charset="0"/>
            </a:endParaRPr>
          </a:p>
        </p:txBody>
      </p:sp>
      <p:sp>
        <p:nvSpPr>
          <p:cNvPr id="81" name="Text Box 77"/>
          <p:cNvSpPr txBox="1">
            <a:spLocks noChangeArrowheads="1"/>
          </p:cNvSpPr>
          <p:nvPr/>
        </p:nvSpPr>
        <p:spPr bwMode="auto">
          <a:xfrm>
            <a:off x="2409825" y="3265488"/>
            <a:ext cx="919163" cy="4476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Cooper" pitchFamily="18" charset="0"/>
              </a:rPr>
              <a:t>XOR</a:t>
            </a:r>
            <a:endParaRPr lang="en-US">
              <a:solidFill>
                <a:srgbClr val="000000"/>
              </a:solidFill>
              <a:latin typeface="Cooper" pitchFamily="18" charset="0"/>
            </a:endParaRPr>
          </a:p>
        </p:txBody>
      </p:sp>
      <p:grpSp>
        <p:nvGrpSpPr>
          <p:cNvPr id="82" name="Group 78"/>
          <p:cNvGrpSpPr>
            <a:grpSpLocks/>
          </p:cNvGrpSpPr>
          <p:nvPr/>
        </p:nvGrpSpPr>
        <p:grpSpPr bwMode="auto">
          <a:xfrm>
            <a:off x="6324600" y="1524000"/>
            <a:ext cx="1122363" cy="3276600"/>
            <a:chOff x="4036" y="1042"/>
            <a:chExt cx="708" cy="2205"/>
          </a:xfrm>
        </p:grpSpPr>
        <p:sp>
          <p:nvSpPr>
            <p:cNvPr id="83" name="Text Box 79"/>
            <p:cNvSpPr txBox="1">
              <a:spLocks noChangeArrowheads="1"/>
            </p:cNvSpPr>
            <p:nvPr/>
          </p:nvSpPr>
          <p:spPr bwMode="auto">
            <a:xfrm>
              <a:off x="4165" y="2965"/>
              <a:ext cx="579" cy="2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Cooper" pitchFamily="18" charset="0"/>
                </a:rPr>
                <a:t>AND</a:t>
              </a:r>
              <a:endParaRPr lang="en-US">
                <a:solidFill>
                  <a:srgbClr val="000000"/>
                </a:solidFill>
                <a:latin typeface="Cooper" pitchFamily="18" charset="0"/>
              </a:endParaRPr>
            </a:p>
          </p:txBody>
        </p:sp>
        <p:sp>
          <p:nvSpPr>
            <p:cNvPr id="84" name="Text Box 80"/>
            <p:cNvSpPr txBox="1">
              <a:spLocks noChangeArrowheads="1"/>
            </p:cNvSpPr>
            <p:nvPr/>
          </p:nvSpPr>
          <p:spPr bwMode="auto">
            <a:xfrm>
              <a:off x="4036" y="1042"/>
              <a:ext cx="579" cy="2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  <a:latin typeface="Cooper" pitchFamily="18" charset="0"/>
                </a:rPr>
                <a:t>XOR</a:t>
              </a:r>
              <a:endParaRPr lang="en-US">
                <a:solidFill>
                  <a:srgbClr val="000000"/>
                </a:solidFill>
                <a:latin typeface="Cooper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030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9" grpId="0" animBg="1"/>
      <p:bldP spid="80" grpId="0" autoUpdateAnimBg="0"/>
      <p:bldP spid="8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324600"/>
            <a:ext cx="2209800" cy="381000"/>
          </a:xfrm>
        </p:spPr>
        <p:txBody>
          <a:bodyPr/>
          <a:lstStyle/>
          <a:p>
            <a:fld id="{0775F6C1-F90D-4CC5-A13C-2A401E4E28D7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4572000" cy="300038"/>
          </a:xfrm>
        </p:spPr>
        <p:txBody>
          <a:bodyPr/>
          <a:lstStyle/>
          <a:p>
            <a:r>
              <a:rPr lang="en-US" b="1" i="1" smtClean="0">
                <a:solidFill>
                  <a:srgbClr val="000000"/>
                </a:solidFill>
              </a:rPr>
              <a:t>Khoa Khoa học &amp; Kỹ thuật Máy tính</a:t>
            </a:r>
            <a:endParaRPr lang="en-US" b="1" i="1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48600" y="6243638"/>
            <a:ext cx="1098550" cy="457200"/>
          </a:xfrm>
        </p:spPr>
        <p:txBody>
          <a:bodyPr/>
          <a:lstStyle/>
          <a:p>
            <a:fld id="{03E48668-607C-4599-885A-4150DE8352C6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43000" y="838200"/>
            <a:ext cx="7175500" cy="8477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 smtClean="0">
                <a:solidFill>
                  <a:srgbClr val="000000"/>
                </a:solidFill>
              </a:rPr>
              <a:t>Mạch Full Adder</a:t>
            </a:r>
            <a:endParaRPr lang="en-US" sz="4400" kern="0" dirty="0" smtClean="0">
              <a:solidFill>
                <a:srgbClr val="000000"/>
              </a:solidFill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3352800" y="3352800"/>
            <a:ext cx="114300" cy="725487"/>
          </a:xfrm>
          <a:prstGeom prst="line">
            <a:avLst/>
          </a:prstGeom>
          <a:noFill/>
          <a:ln w="76200">
            <a:solidFill>
              <a:srgbClr val="C0C0C0"/>
            </a:solidFill>
            <a:round/>
            <a:headEnd/>
            <a:tailEnd type="triangle" w="med" len="med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1676400" y="1905000"/>
            <a:ext cx="3227388" cy="1816100"/>
            <a:chOff x="1072" y="1056"/>
            <a:chExt cx="2033" cy="1144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1435" y="1824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435" y="2050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496" y="1296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496" y="2016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grpSp>
          <p:nvGrpSpPr>
            <p:cNvPr id="13" name="Group 22"/>
            <p:cNvGrpSpPr>
              <a:grpSpLocks/>
            </p:cNvGrpSpPr>
            <p:nvPr/>
          </p:nvGrpSpPr>
          <p:grpSpPr bwMode="auto">
            <a:xfrm>
              <a:off x="1728" y="1200"/>
              <a:ext cx="822" cy="864"/>
              <a:chOff x="1728" y="960"/>
              <a:chExt cx="822" cy="864"/>
            </a:xfrm>
          </p:grpSpPr>
          <p:sp>
            <p:nvSpPr>
              <p:cNvPr id="20" name="Rectangle 4"/>
              <p:cNvSpPr>
                <a:spLocks noChangeArrowheads="1"/>
              </p:cNvSpPr>
              <p:nvPr/>
            </p:nvSpPr>
            <p:spPr bwMode="auto">
              <a:xfrm>
                <a:off x="1728" y="960"/>
                <a:ext cx="822" cy="864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25400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746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</a:sp3d>
            </p:spPr>
            <p:txBody>
              <a:bodyPr lIns="0" tIns="0" rIns="0" bIns="0">
                <a:flatTx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Text Box 9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592" cy="549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36000" tIns="36000" rIns="36000" bIns="36000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dirty="0">
                    <a:solidFill>
                      <a:srgbClr val="000000"/>
                    </a:solidFill>
                  </a:rPr>
                  <a:t>Full adder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072" y="1872"/>
              <a:ext cx="320" cy="32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y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784" y="1094"/>
              <a:ext cx="321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2784" y="1872"/>
              <a:ext cx="321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C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1075" y="1680"/>
              <a:ext cx="319" cy="32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x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440" y="1296"/>
              <a:ext cx="225" cy="0"/>
            </a:xfrm>
            <a:prstGeom prst="line">
              <a:avLst/>
            </a:prstGeom>
            <a:noFill/>
            <a:ln w="254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1104" y="1056"/>
              <a:ext cx="320" cy="2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C0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914400" y="4114800"/>
            <a:ext cx="3465513" cy="1881188"/>
          </a:xfrm>
          <a:prstGeom prst="rect">
            <a:avLst/>
          </a:prstGeom>
          <a:noFill/>
          <a:ln w="19050">
            <a:solidFill>
              <a:srgbClr val="C0C0C0"/>
            </a:solidFill>
            <a:miter lim="800000"/>
            <a:headEnd/>
            <a:tailEnd/>
          </a:ln>
        </p:spPr>
        <p:txBody>
          <a:bodyPr wrap="square" lIns="36000" tIns="36000" rIns="36000" bIns="73152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</a:rPr>
              <a:t>S = x + y + C0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</a:rPr>
              <a:t>S = (x + y) + C0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0000"/>
                </a:solidFill>
              </a:rPr>
              <a:t>Tính</a:t>
            </a:r>
            <a:r>
              <a:rPr lang="en-US" sz="2400" b="1" dirty="0">
                <a:solidFill>
                  <a:srgbClr val="000000"/>
                </a:solidFill>
              </a:rPr>
              <a:t>: S1 = x + y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0000"/>
                </a:solidFill>
              </a:rPr>
              <a:t>Tính</a:t>
            </a:r>
            <a:r>
              <a:rPr lang="en-US" sz="2400" b="1" dirty="0">
                <a:solidFill>
                  <a:srgbClr val="000000"/>
                </a:solidFill>
              </a:rPr>
              <a:t>: S2 = S1 + C0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5280025" y="4311650"/>
            <a:ext cx="1992313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Half adder 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791200" y="5486400"/>
            <a:ext cx="2527300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</a:rPr>
              <a:t>Half adder 2</a:t>
            </a: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V="1">
            <a:off x="4495800" y="4572000"/>
            <a:ext cx="842963" cy="752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 flipV="1">
            <a:off x="4648200" y="5638800"/>
            <a:ext cx="998538" cy="22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19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23" grpId="0"/>
      <p:bldP spid="24" grpId="0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2057400" cy="304800"/>
          </a:xfrm>
        </p:spPr>
        <p:txBody>
          <a:bodyPr/>
          <a:lstStyle/>
          <a:p>
            <a:fld id="{18D9ACBD-143A-4776-8604-FBA75493EE3D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62200" y="6400800"/>
            <a:ext cx="5638800" cy="300038"/>
          </a:xfrm>
        </p:spPr>
        <p:txBody>
          <a:bodyPr/>
          <a:lstStyle/>
          <a:p>
            <a:r>
              <a:rPr lang="en-US" b="1" i="1" smtClean="0">
                <a:solidFill>
                  <a:srgbClr val="333399">
                    <a:lumMod val="75000"/>
                  </a:srgbClr>
                </a:solidFill>
              </a:rPr>
              <a:t>Khoa Khoa học &amp; Kỹ thuật Máy tính</a:t>
            </a:r>
            <a:endParaRPr lang="en-US" b="1" i="1" dirty="0">
              <a:solidFill>
                <a:srgbClr val="333399">
                  <a:lumMod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25912" y="6243638"/>
            <a:ext cx="1021238" cy="457200"/>
          </a:xfrm>
        </p:spPr>
        <p:txBody>
          <a:bodyPr/>
          <a:lstStyle/>
          <a:p>
            <a:fld id="{03E48668-607C-4599-885A-4150DE8352C6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43000" y="838200"/>
            <a:ext cx="7443788" cy="7715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 dirty="0" smtClean="0">
                <a:solidFill>
                  <a:srgbClr val="000000"/>
                </a:solidFill>
              </a:rPr>
              <a:t>Full adder (2)</a:t>
            </a:r>
          </a:p>
        </p:txBody>
      </p:sp>
      <p:grpSp>
        <p:nvGrpSpPr>
          <p:cNvPr id="7" name="Group 129"/>
          <p:cNvGrpSpPr>
            <a:grpSpLocks/>
          </p:cNvGrpSpPr>
          <p:nvPr/>
        </p:nvGrpSpPr>
        <p:grpSpPr bwMode="auto">
          <a:xfrm>
            <a:off x="1371600" y="1828800"/>
            <a:ext cx="6899275" cy="3838575"/>
            <a:chOff x="990" y="960"/>
            <a:chExt cx="4460" cy="2754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004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557" y="3408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112" y="3408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666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3220" y="3408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2774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328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882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1436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990" y="340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5004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4557" y="3102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4112" y="3102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3666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3220" y="3102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2774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2328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882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1436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990" y="310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5004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4557" y="2796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4112" y="2796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3666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3220" y="2796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2774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2328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1882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1436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7" name="Rectangle 33"/>
            <p:cNvSpPr>
              <a:spLocks noChangeArrowheads="1"/>
            </p:cNvSpPr>
            <p:nvPr/>
          </p:nvSpPr>
          <p:spPr bwMode="auto">
            <a:xfrm>
              <a:off x="990" y="279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5004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4557" y="2490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4112" y="2490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3666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3220" y="2490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2774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4" name="Rectangle 40"/>
            <p:cNvSpPr>
              <a:spLocks noChangeArrowheads="1"/>
            </p:cNvSpPr>
            <p:nvPr/>
          </p:nvSpPr>
          <p:spPr bwMode="auto">
            <a:xfrm>
              <a:off x="2328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1882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1436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990" y="249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5004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4557" y="2184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4112" y="2184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3666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3220" y="2184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2774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2328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1882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1436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990" y="2184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5004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4557" y="1878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4112" y="1878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3666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3220" y="1878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2774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2328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1882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1436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990" y="1878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5004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4557" y="1572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4112" y="1572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3666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72" name="Rectangle 68"/>
            <p:cNvSpPr>
              <a:spLocks noChangeArrowheads="1"/>
            </p:cNvSpPr>
            <p:nvPr/>
          </p:nvSpPr>
          <p:spPr bwMode="auto">
            <a:xfrm>
              <a:off x="3220" y="1572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2774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328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1882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1436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990" y="1572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5004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4557" y="1266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4112" y="1266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3666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3220" y="1266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2774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2328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1882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1436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990" y="1266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5004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4557" y="960"/>
              <a:ext cx="447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sz="2200" b="1" baseline="-30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4112" y="960"/>
              <a:ext cx="445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sz="2200" b="1" baseline="-30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3666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sz="2200" b="1" baseline="-30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 useBgFill="1">
          <p:nvSpPr>
            <p:cNvPr id="92" name="Rectangle 88"/>
            <p:cNvSpPr>
              <a:spLocks noChangeArrowheads="1"/>
            </p:cNvSpPr>
            <p:nvPr/>
          </p:nvSpPr>
          <p:spPr bwMode="auto">
            <a:xfrm>
              <a:off x="3220" y="960"/>
              <a:ext cx="446" cy="30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sz="2200" b="1" baseline="-300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3" name="Rectangle 89"/>
            <p:cNvSpPr>
              <a:spLocks noChangeArrowheads="1"/>
            </p:cNvSpPr>
            <p:nvPr/>
          </p:nvSpPr>
          <p:spPr bwMode="auto">
            <a:xfrm>
              <a:off x="2774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4" name="Rectangle 90"/>
            <p:cNvSpPr>
              <a:spLocks noChangeArrowheads="1"/>
            </p:cNvSpPr>
            <p:nvPr/>
          </p:nvSpPr>
          <p:spPr bwMode="auto">
            <a:xfrm>
              <a:off x="2328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5" name="Rectangle 91"/>
            <p:cNvSpPr>
              <a:spLocks noChangeArrowheads="1"/>
            </p:cNvSpPr>
            <p:nvPr/>
          </p:nvSpPr>
          <p:spPr bwMode="auto">
            <a:xfrm>
              <a:off x="1882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6" name="Rectangle 92"/>
            <p:cNvSpPr>
              <a:spLocks noChangeArrowheads="1"/>
            </p:cNvSpPr>
            <p:nvPr/>
          </p:nvSpPr>
          <p:spPr bwMode="auto">
            <a:xfrm>
              <a:off x="1436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7" name="Rectangle 93"/>
            <p:cNvSpPr>
              <a:spLocks noChangeArrowheads="1"/>
            </p:cNvSpPr>
            <p:nvPr/>
          </p:nvSpPr>
          <p:spPr bwMode="auto">
            <a:xfrm>
              <a:off x="990" y="960"/>
              <a:ext cx="446" cy="3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2200" b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en-US" sz="2200" b="1" baseline="-300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sz="17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8" name="Line 94"/>
            <p:cNvSpPr>
              <a:spLocks noChangeShapeType="1"/>
            </p:cNvSpPr>
            <p:nvPr/>
          </p:nvSpPr>
          <p:spPr bwMode="auto">
            <a:xfrm>
              <a:off x="990" y="1266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99" name="Line 95"/>
            <p:cNvSpPr>
              <a:spLocks noChangeShapeType="1"/>
            </p:cNvSpPr>
            <p:nvPr/>
          </p:nvSpPr>
          <p:spPr bwMode="auto">
            <a:xfrm>
              <a:off x="1436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0" name="Line 96"/>
            <p:cNvSpPr>
              <a:spLocks noChangeShapeType="1"/>
            </p:cNvSpPr>
            <p:nvPr/>
          </p:nvSpPr>
          <p:spPr bwMode="auto">
            <a:xfrm>
              <a:off x="1882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1" name="Line 97"/>
            <p:cNvSpPr>
              <a:spLocks noChangeShapeType="1"/>
            </p:cNvSpPr>
            <p:nvPr/>
          </p:nvSpPr>
          <p:spPr bwMode="auto">
            <a:xfrm>
              <a:off x="2328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2" name="Line 98"/>
            <p:cNvSpPr>
              <a:spLocks noChangeShapeType="1"/>
            </p:cNvSpPr>
            <p:nvPr/>
          </p:nvSpPr>
          <p:spPr bwMode="auto">
            <a:xfrm>
              <a:off x="2774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3" name="Line 99"/>
            <p:cNvSpPr>
              <a:spLocks noChangeShapeType="1"/>
            </p:cNvSpPr>
            <p:nvPr/>
          </p:nvSpPr>
          <p:spPr bwMode="auto">
            <a:xfrm>
              <a:off x="4112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4" name="Line 100"/>
            <p:cNvSpPr>
              <a:spLocks noChangeShapeType="1"/>
            </p:cNvSpPr>
            <p:nvPr/>
          </p:nvSpPr>
          <p:spPr bwMode="auto">
            <a:xfrm>
              <a:off x="4557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5" name="Line 101"/>
            <p:cNvSpPr>
              <a:spLocks noChangeShapeType="1"/>
            </p:cNvSpPr>
            <p:nvPr/>
          </p:nvSpPr>
          <p:spPr bwMode="auto">
            <a:xfrm>
              <a:off x="5004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6" name="Line 102"/>
            <p:cNvSpPr>
              <a:spLocks noChangeShapeType="1"/>
            </p:cNvSpPr>
            <p:nvPr/>
          </p:nvSpPr>
          <p:spPr bwMode="auto">
            <a:xfrm>
              <a:off x="990" y="1572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7" name="Line 103"/>
            <p:cNvSpPr>
              <a:spLocks noChangeShapeType="1"/>
            </p:cNvSpPr>
            <p:nvPr/>
          </p:nvSpPr>
          <p:spPr bwMode="auto">
            <a:xfrm>
              <a:off x="990" y="1878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8" name="Line 104"/>
            <p:cNvSpPr>
              <a:spLocks noChangeShapeType="1"/>
            </p:cNvSpPr>
            <p:nvPr/>
          </p:nvSpPr>
          <p:spPr bwMode="auto">
            <a:xfrm>
              <a:off x="990" y="2184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09" name="Line 105"/>
            <p:cNvSpPr>
              <a:spLocks noChangeShapeType="1"/>
            </p:cNvSpPr>
            <p:nvPr/>
          </p:nvSpPr>
          <p:spPr bwMode="auto">
            <a:xfrm>
              <a:off x="990" y="2490"/>
              <a:ext cx="44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0" name="Line 106"/>
            <p:cNvSpPr>
              <a:spLocks noChangeShapeType="1"/>
            </p:cNvSpPr>
            <p:nvPr/>
          </p:nvSpPr>
          <p:spPr bwMode="auto">
            <a:xfrm>
              <a:off x="990" y="2796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1" name="Line 107"/>
            <p:cNvSpPr>
              <a:spLocks noChangeShapeType="1"/>
            </p:cNvSpPr>
            <p:nvPr/>
          </p:nvSpPr>
          <p:spPr bwMode="auto">
            <a:xfrm>
              <a:off x="990" y="3102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2" name="Line 108"/>
            <p:cNvSpPr>
              <a:spLocks noChangeShapeType="1"/>
            </p:cNvSpPr>
            <p:nvPr/>
          </p:nvSpPr>
          <p:spPr bwMode="auto">
            <a:xfrm>
              <a:off x="990" y="3408"/>
              <a:ext cx="44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3" name="Line 109"/>
            <p:cNvSpPr>
              <a:spLocks noChangeShapeType="1"/>
            </p:cNvSpPr>
            <p:nvPr/>
          </p:nvSpPr>
          <p:spPr bwMode="auto">
            <a:xfrm>
              <a:off x="3220" y="3714"/>
              <a:ext cx="4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4" name="Line 110"/>
            <p:cNvSpPr>
              <a:spLocks noChangeShapeType="1"/>
            </p:cNvSpPr>
            <p:nvPr/>
          </p:nvSpPr>
          <p:spPr bwMode="auto">
            <a:xfrm>
              <a:off x="990" y="3714"/>
              <a:ext cx="223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5" name="Line 111"/>
            <p:cNvSpPr>
              <a:spLocks noChangeShapeType="1"/>
            </p:cNvSpPr>
            <p:nvPr/>
          </p:nvSpPr>
          <p:spPr bwMode="auto">
            <a:xfrm>
              <a:off x="3666" y="3714"/>
              <a:ext cx="178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6" name="Line 112"/>
            <p:cNvSpPr>
              <a:spLocks noChangeShapeType="1"/>
            </p:cNvSpPr>
            <p:nvPr/>
          </p:nvSpPr>
          <p:spPr bwMode="auto">
            <a:xfrm>
              <a:off x="990" y="2184"/>
              <a:ext cx="0" cy="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7" name="Line 113"/>
            <p:cNvSpPr>
              <a:spLocks noChangeShapeType="1"/>
            </p:cNvSpPr>
            <p:nvPr/>
          </p:nvSpPr>
          <p:spPr bwMode="auto">
            <a:xfrm>
              <a:off x="990" y="960"/>
              <a:ext cx="0" cy="1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8" name="Line 114"/>
            <p:cNvSpPr>
              <a:spLocks noChangeShapeType="1"/>
            </p:cNvSpPr>
            <p:nvPr/>
          </p:nvSpPr>
          <p:spPr bwMode="auto">
            <a:xfrm>
              <a:off x="990" y="2490"/>
              <a:ext cx="0" cy="1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19" name="Line 115"/>
            <p:cNvSpPr>
              <a:spLocks noChangeShapeType="1"/>
            </p:cNvSpPr>
            <p:nvPr/>
          </p:nvSpPr>
          <p:spPr bwMode="auto">
            <a:xfrm>
              <a:off x="5450" y="2184"/>
              <a:ext cx="0" cy="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0" name="Line 116"/>
            <p:cNvSpPr>
              <a:spLocks noChangeShapeType="1"/>
            </p:cNvSpPr>
            <p:nvPr/>
          </p:nvSpPr>
          <p:spPr bwMode="auto">
            <a:xfrm>
              <a:off x="5450" y="960"/>
              <a:ext cx="0" cy="1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1" name="Line 117"/>
            <p:cNvSpPr>
              <a:spLocks noChangeShapeType="1"/>
            </p:cNvSpPr>
            <p:nvPr/>
          </p:nvSpPr>
          <p:spPr bwMode="auto">
            <a:xfrm>
              <a:off x="5450" y="2490"/>
              <a:ext cx="0" cy="1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2" name="Line 118"/>
            <p:cNvSpPr>
              <a:spLocks noChangeShapeType="1"/>
            </p:cNvSpPr>
            <p:nvPr/>
          </p:nvSpPr>
          <p:spPr bwMode="auto">
            <a:xfrm>
              <a:off x="3220" y="960"/>
              <a:ext cx="0" cy="27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3" name="Line 119"/>
            <p:cNvSpPr>
              <a:spLocks noChangeShapeType="1"/>
            </p:cNvSpPr>
            <p:nvPr/>
          </p:nvSpPr>
          <p:spPr bwMode="auto">
            <a:xfrm>
              <a:off x="3666" y="960"/>
              <a:ext cx="0" cy="2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4" name="Line 120"/>
            <p:cNvSpPr>
              <a:spLocks noChangeShapeType="1"/>
            </p:cNvSpPr>
            <p:nvPr/>
          </p:nvSpPr>
          <p:spPr bwMode="auto">
            <a:xfrm>
              <a:off x="3220" y="960"/>
              <a:ext cx="4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5" name="Line 121"/>
            <p:cNvSpPr>
              <a:spLocks noChangeShapeType="1"/>
            </p:cNvSpPr>
            <p:nvPr/>
          </p:nvSpPr>
          <p:spPr bwMode="auto">
            <a:xfrm>
              <a:off x="990" y="960"/>
              <a:ext cx="223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126" name="Line 122"/>
            <p:cNvSpPr>
              <a:spLocks noChangeShapeType="1"/>
            </p:cNvSpPr>
            <p:nvPr/>
          </p:nvSpPr>
          <p:spPr bwMode="auto">
            <a:xfrm>
              <a:off x="3666" y="960"/>
              <a:ext cx="178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</p:grpSp>
      <p:sp>
        <p:nvSpPr>
          <p:cNvPr id="127" name="Text Box 123"/>
          <p:cNvSpPr txBox="1">
            <a:spLocks noChangeArrowheads="1"/>
          </p:cNvSpPr>
          <p:nvPr/>
        </p:nvSpPr>
        <p:spPr bwMode="auto">
          <a:xfrm>
            <a:off x="1905000" y="5715000"/>
            <a:ext cx="464820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</a:rPr>
              <a:t>C = 1 when C1 = 1 </a:t>
            </a:r>
            <a:r>
              <a:rPr lang="en-US" sz="2400" b="1" dirty="0" smtClean="0">
                <a:solidFill>
                  <a:srgbClr val="000000"/>
                </a:solidFill>
              </a:rPr>
              <a:t>or C2 </a:t>
            </a:r>
            <a:r>
              <a:rPr lang="en-US" sz="2400" b="1" dirty="0">
                <a:solidFill>
                  <a:srgbClr val="000000"/>
                </a:solidFill>
              </a:rPr>
              <a:t>= 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8" name="AutoShape 125"/>
          <p:cNvSpPr>
            <a:spLocks noChangeArrowheads="1"/>
          </p:cNvSpPr>
          <p:nvPr/>
        </p:nvSpPr>
        <p:spPr bwMode="auto">
          <a:xfrm rot="5400000">
            <a:off x="6865938" y="5326062"/>
            <a:ext cx="484186" cy="957263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10744" y="5399"/>
                  <a:pt x="10688" y="5400"/>
                  <a:pt x="10632" y="5402"/>
                </a:cubicBezTo>
                <a:lnTo>
                  <a:pt x="10464" y="5"/>
                </a:lnTo>
                <a:cubicBezTo>
                  <a:pt x="10576" y="1"/>
                  <a:pt x="10688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35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81200" cy="304800"/>
          </a:xfrm>
        </p:spPr>
        <p:txBody>
          <a:bodyPr/>
          <a:lstStyle/>
          <a:p>
            <a:fld id="{383B4428-CEEF-4E6D-B5A0-14447A47664E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6000" y="6400800"/>
            <a:ext cx="5638800" cy="300038"/>
          </a:xfrm>
        </p:spPr>
        <p:txBody>
          <a:bodyPr/>
          <a:lstStyle/>
          <a:p>
            <a:r>
              <a:rPr lang="en-US" b="1" i="1" smtClean="0">
                <a:solidFill>
                  <a:srgbClr val="333399">
                    <a:lumMod val="75000"/>
                  </a:srgbClr>
                </a:solidFill>
              </a:rPr>
              <a:t>Khoa Khoa học &amp; Kỹ thuật Máy tính</a:t>
            </a:r>
            <a:endParaRPr lang="en-US" b="1" i="1" dirty="0">
              <a:solidFill>
                <a:srgbClr val="333399">
                  <a:lumMod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8668-607C-4599-885A-4150DE8352C6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295400" y="762000"/>
            <a:ext cx="3733800" cy="838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 dirty="0" smtClean="0">
                <a:solidFill>
                  <a:srgbClr val="000000"/>
                </a:solidFill>
              </a:rPr>
              <a:t>Full adder (3)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219200" y="2819400"/>
            <a:ext cx="6888163" cy="3276600"/>
          </a:xfrm>
          <a:prstGeom prst="rect">
            <a:avLst/>
          </a:prstGeom>
          <a:gradFill rotWithShape="1">
            <a:gsLst>
              <a:gs pos="0">
                <a:srgbClr val="00FFCC"/>
              </a:gs>
              <a:gs pos="50000">
                <a:srgbClr val="00765E"/>
              </a:gs>
              <a:gs pos="100000">
                <a:srgbClr val="00FFCC"/>
              </a:gs>
            </a:gsLst>
            <a:lin ang="0" scaled="1"/>
          </a:gra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25400" prstMaterial="legacyMetal">
            <a:bevelT w="13500" h="13500" prst="angle"/>
            <a:bevelB w="13500" h="13500" prst="angle"/>
            <a:extrusionClr>
              <a:srgbClr val="00FFCC"/>
            </a:extrusionClr>
          </a:sp3d>
        </p:spPr>
        <p:txBody>
          <a:bodyPr wrap="none" anchor="ctr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2724150" y="4357687"/>
            <a:ext cx="1187450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823913" y="4357687"/>
            <a:ext cx="593725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823913" y="5426074"/>
            <a:ext cx="593725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823913" y="3289299"/>
            <a:ext cx="3087687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5218113" y="3289299"/>
            <a:ext cx="3079750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5218113" y="4357687"/>
            <a:ext cx="593725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724150" y="5426074"/>
            <a:ext cx="3681413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3850" y="3016249"/>
            <a:ext cx="509588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C0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19088" y="4113212"/>
            <a:ext cx="508000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x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23850" y="5164137"/>
            <a:ext cx="509588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y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2795588" y="3846512"/>
            <a:ext cx="509587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8281988" y="3047999"/>
            <a:ext cx="508000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2765425" y="4913312"/>
            <a:ext cx="511175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C1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5240338" y="3870324"/>
            <a:ext cx="508000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C2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5811838" y="4357687"/>
            <a:ext cx="0" cy="611187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5811838" y="4970462"/>
            <a:ext cx="593725" cy="0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8339138" y="4978399"/>
            <a:ext cx="509587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C</a:t>
            </a: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6407150" y="4740274"/>
            <a:ext cx="1912938" cy="915988"/>
            <a:chOff x="4488" y="3988"/>
            <a:chExt cx="3012" cy="1442"/>
          </a:xfrm>
        </p:grpSpPr>
        <p:sp>
          <p:nvSpPr>
            <p:cNvPr id="26" name="Line 22"/>
            <p:cNvSpPr>
              <a:spLocks noChangeShapeType="1"/>
            </p:cNvSpPr>
            <p:nvPr/>
          </p:nvSpPr>
          <p:spPr bwMode="auto">
            <a:xfrm flipH="1">
              <a:off x="5246" y="5430"/>
              <a:ext cx="387" cy="0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5047" y="4347"/>
              <a:ext cx="414" cy="0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8" name="Arc 24"/>
            <p:cNvSpPr>
              <a:spLocks/>
            </p:cNvSpPr>
            <p:nvPr/>
          </p:nvSpPr>
          <p:spPr bwMode="auto">
            <a:xfrm>
              <a:off x="5633" y="3993"/>
              <a:ext cx="1241" cy="1432"/>
            </a:xfrm>
            <a:custGeom>
              <a:avLst/>
              <a:gdLst>
                <a:gd name="T0" fmla="*/ 0 w 18840"/>
                <a:gd name="T1" fmla="*/ 0 h 21600"/>
                <a:gd name="T2" fmla="*/ 0 w 18840"/>
                <a:gd name="T3" fmla="*/ 0 h 21600"/>
                <a:gd name="T4" fmla="*/ 0 w 18840"/>
                <a:gd name="T5" fmla="*/ 0 h 21600"/>
                <a:gd name="T6" fmla="*/ 0 60000 65536"/>
                <a:gd name="T7" fmla="*/ 0 60000 65536"/>
                <a:gd name="T8" fmla="*/ 0 60000 65536"/>
                <a:gd name="T9" fmla="*/ 0 w 18840"/>
                <a:gd name="T10" fmla="*/ 0 h 21600"/>
                <a:gd name="T11" fmla="*/ 18840 w 1884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40" h="21600" fill="none" extrusionOk="0">
                  <a:moveTo>
                    <a:pt x="-1" y="1"/>
                  </a:moveTo>
                  <a:cubicBezTo>
                    <a:pt x="90" y="0"/>
                    <a:pt x="181" y="-1"/>
                    <a:pt x="273" y="0"/>
                  </a:cubicBezTo>
                  <a:cubicBezTo>
                    <a:pt x="7891" y="0"/>
                    <a:pt x="14947" y="4013"/>
                    <a:pt x="18840" y="10562"/>
                  </a:cubicBezTo>
                </a:path>
                <a:path w="18840" h="21600" stroke="0" extrusionOk="0">
                  <a:moveTo>
                    <a:pt x="-1" y="1"/>
                  </a:moveTo>
                  <a:cubicBezTo>
                    <a:pt x="90" y="0"/>
                    <a:pt x="181" y="-1"/>
                    <a:pt x="273" y="0"/>
                  </a:cubicBezTo>
                  <a:cubicBezTo>
                    <a:pt x="7891" y="0"/>
                    <a:pt x="14947" y="4013"/>
                    <a:pt x="18840" y="10562"/>
                  </a:cubicBezTo>
                  <a:lnTo>
                    <a:pt x="273" y="21600"/>
                  </a:lnTo>
                  <a:close/>
                </a:path>
              </a:pathLst>
            </a:cu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29" name="Arc 25"/>
            <p:cNvSpPr>
              <a:spLocks/>
            </p:cNvSpPr>
            <p:nvPr/>
          </p:nvSpPr>
          <p:spPr bwMode="auto">
            <a:xfrm>
              <a:off x="4561" y="3988"/>
              <a:ext cx="1001" cy="730"/>
            </a:xfrm>
            <a:custGeom>
              <a:avLst/>
              <a:gdLst>
                <a:gd name="T0" fmla="*/ 0 w 21596"/>
                <a:gd name="T1" fmla="*/ 0 h 15652"/>
                <a:gd name="T2" fmla="*/ 0 w 21596"/>
                <a:gd name="T3" fmla="*/ 0 h 15652"/>
                <a:gd name="T4" fmla="*/ 0 w 21596"/>
                <a:gd name="T5" fmla="*/ 0 h 15652"/>
                <a:gd name="T6" fmla="*/ 0 60000 65536"/>
                <a:gd name="T7" fmla="*/ 0 60000 65536"/>
                <a:gd name="T8" fmla="*/ 0 60000 65536"/>
                <a:gd name="T9" fmla="*/ 0 w 21596"/>
                <a:gd name="T10" fmla="*/ 0 h 15652"/>
                <a:gd name="T11" fmla="*/ 21596 w 21596"/>
                <a:gd name="T12" fmla="*/ 15652 h 156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6" h="15652" fill="none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</a:path>
                <a:path w="21596" h="15652" stroke="0" extrusionOk="0">
                  <a:moveTo>
                    <a:pt x="14885" y="-1"/>
                  </a:moveTo>
                  <a:cubicBezTo>
                    <a:pt x="19072" y="3981"/>
                    <a:pt x="21489" y="9474"/>
                    <a:pt x="21596" y="15251"/>
                  </a:cubicBezTo>
                  <a:lnTo>
                    <a:pt x="0" y="15652"/>
                  </a:lnTo>
                  <a:close/>
                </a:path>
              </a:pathLst>
            </a:cu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0" name="Arc 26"/>
            <p:cNvSpPr>
              <a:spLocks/>
            </p:cNvSpPr>
            <p:nvPr/>
          </p:nvSpPr>
          <p:spPr bwMode="auto">
            <a:xfrm>
              <a:off x="4561" y="4699"/>
              <a:ext cx="1002" cy="731"/>
            </a:xfrm>
            <a:custGeom>
              <a:avLst/>
              <a:gdLst>
                <a:gd name="T0" fmla="*/ 0 w 21600"/>
                <a:gd name="T1" fmla="*/ 0 h 15669"/>
                <a:gd name="T2" fmla="*/ 0 w 21600"/>
                <a:gd name="T3" fmla="*/ 0 h 15669"/>
                <a:gd name="T4" fmla="*/ 0 w 21600"/>
                <a:gd name="T5" fmla="*/ 0 h 156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669"/>
                <a:gd name="T11" fmla="*/ 21600 w 21600"/>
                <a:gd name="T12" fmla="*/ 15669 h 15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669" fill="none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</a:path>
                <a:path w="21600" h="15669" stroke="0" extrusionOk="0">
                  <a:moveTo>
                    <a:pt x="21596" y="-1"/>
                  </a:moveTo>
                  <a:cubicBezTo>
                    <a:pt x="21598" y="133"/>
                    <a:pt x="21600" y="266"/>
                    <a:pt x="21600" y="400"/>
                  </a:cubicBezTo>
                  <a:cubicBezTo>
                    <a:pt x="21600" y="6126"/>
                    <a:pt x="19326" y="11618"/>
                    <a:pt x="15278" y="15669"/>
                  </a:cubicBezTo>
                  <a:lnTo>
                    <a:pt x="0" y="400"/>
                  </a:lnTo>
                  <a:close/>
                </a:path>
              </a:pathLst>
            </a:cu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1" name="Arc 27"/>
            <p:cNvSpPr>
              <a:spLocks/>
            </p:cNvSpPr>
            <p:nvPr/>
          </p:nvSpPr>
          <p:spPr bwMode="auto">
            <a:xfrm>
              <a:off x="5633" y="4011"/>
              <a:ext cx="1257" cy="1410"/>
            </a:xfrm>
            <a:custGeom>
              <a:avLst/>
              <a:gdLst>
                <a:gd name="T0" fmla="*/ 0 w 19087"/>
                <a:gd name="T1" fmla="*/ 0 h 21600"/>
                <a:gd name="T2" fmla="*/ 0 w 19087"/>
                <a:gd name="T3" fmla="*/ 0 h 21600"/>
                <a:gd name="T4" fmla="*/ 0 w 19087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87"/>
                <a:gd name="T10" fmla="*/ 0 h 21600"/>
                <a:gd name="T11" fmla="*/ 19087 w 1908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87" h="21600" fill="none" extrusionOk="0">
                  <a:moveTo>
                    <a:pt x="19086" y="10623"/>
                  </a:moveTo>
                  <a:cubicBezTo>
                    <a:pt x="15255" y="17405"/>
                    <a:pt x="8069" y="21599"/>
                    <a:pt x="280" y="21600"/>
                  </a:cubicBezTo>
                  <a:cubicBezTo>
                    <a:pt x="186" y="21600"/>
                    <a:pt x="93" y="21599"/>
                    <a:pt x="-1" y="21598"/>
                  </a:cubicBezTo>
                </a:path>
                <a:path w="19087" h="21600" stroke="0" extrusionOk="0">
                  <a:moveTo>
                    <a:pt x="19086" y="10623"/>
                  </a:moveTo>
                  <a:cubicBezTo>
                    <a:pt x="15255" y="17405"/>
                    <a:pt x="8069" y="21599"/>
                    <a:pt x="280" y="21600"/>
                  </a:cubicBezTo>
                  <a:cubicBezTo>
                    <a:pt x="186" y="21600"/>
                    <a:pt x="93" y="21599"/>
                    <a:pt x="-1" y="21598"/>
                  </a:cubicBezTo>
                  <a:lnTo>
                    <a:pt x="280" y="0"/>
                  </a:lnTo>
                  <a:close/>
                </a:path>
              </a:pathLst>
            </a:cu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4488" y="4347"/>
              <a:ext cx="582" cy="1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H="1">
              <a:off x="5246" y="3990"/>
              <a:ext cx="387" cy="0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4488" y="5067"/>
              <a:ext cx="582" cy="1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6918" y="4708"/>
              <a:ext cx="582" cy="1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047" y="5067"/>
              <a:ext cx="414" cy="0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vi-VN">
                <a:solidFill>
                  <a:srgbClr val="000000"/>
                </a:solidFill>
              </a:endParaRPr>
            </a:p>
          </p:txBody>
        </p:sp>
      </p:grpSp>
      <p:grpSp>
        <p:nvGrpSpPr>
          <p:cNvPr id="37" name="Group 33"/>
          <p:cNvGrpSpPr>
            <a:grpSpLocks/>
          </p:cNvGrpSpPr>
          <p:nvPr/>
        </p:nvGrpSpPr>
        <p:grpSpPr bwMode="auto">
          <a:xfrm>
            <a:off x="3900488" y="2925762"/>
            <a:ext cx="1304925" cy="1704975"/>
            <a:chOff x="2253" y="841"/>
            <a:chExt cx="822" cy="1074"/>
          </a:xfrm>
        </p:grpSpPr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2253" y="841"/>
              <a:ext cx="822" cy="1074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54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74600" prstMaterial="legacyMatte">
              <a:bevelT w="13500" h="13500" prst="angle"/>
              <a:bevelB w="13500" h="13500" prst="angle"/>
              <a:extrusionClr>
                <a:schemeClr val="folHlink"/>
              </a:extrusionClr>
            </a:sp3d>
          </p:spPr>
          <p:txBody>
            <a:bodyPr lIns="0" tIns="0" rIns="0" bIns="0">
              <a:flatTx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2369" y="884"/>
              <a:ext cx="591" cy="50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Half adder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0" name="Group 36"/>
          <p:cNvGrpSpPr>
            <a:grpSpLocks/>
          </p:cNvGrpSpPr>
          <p:nvPr/>
        </p:nvGrpSpPr>
        <p:grpSpPr bwMode="auto">
          <a:xfrm>
            <a:off x="1408113" y="4002087"/>
            <a:ext cx="1303337" cy="1704975"/>
            <a:chOff x="2253" y="841"/>
            <a:chExt cx="822" cy="1074"/>
          </a:xfrm>
        </p:grpSpPr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2253" y="841"/>
              <a:ext cx="822" cy="1074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254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74600" prstMaterial="legacyMatte">
              <a:bevelT w="13500" h="13500" prst="angle"/>
              <a:bevelB w="13500" h="13500" prst="angle"/>
              <a:extrusionClr>
                <a:schemeClr val="folHlink"/>
              </a:extrusionClr>
            </a:sp3d>
          </p:spPr>
          <p:txBody>
            <a:bodyPr lIns="0" tIns="0" rIns="0" bIns="0">
              <a:flatTx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2369" y="884"/>
              <a:ext cx="591" cy="50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Half adder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2133600" cy="304800"/>
          </a:xfrm>
        </p:spPr>
        <p:txBody>
          <a:bodyPr/>
          <a:lstStyle/>
          <a:p>
            <a:fld id="{5FB00034-4F38-49A8-B2C5-42C846A95889}" type="datetime3">
              <a:rPr lang="en-US" smtClean="0">
                <a:solidFill>
                  <a:srgbClr val="000000"/>
                </a:solidFill>
              </a:rPr>
              <a:pPr/>
              <a:t>27 March 2017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62200" y="6400800"/>
            <a:ext cx="5486400" cy="300038"/>
          </a:xfrm>
        </p:spPr>
        <p:txBody>
          <a:bodyPr/>
          <a:lstStyle/>
          <a:p>
            <a:r>
              <a:rPr lang="en-US" b="1" i="1" smtClean="0">
                <a:solidFill>
                  <a:srgbClr val="333399">
                    <a:lumMod val="75000"/>
                  </a:srgbClr>
                </a:solidFill>
              </a:rPr>
              <a:t>Khoa Khoa học &amp; Kỹ thuật Máy tính</a:t>
            </a:r>
            <a:endParaRPr lang="en-US" b="1" i="1" dirty="0">
              <a:solidFill>
                <a:srgbClr val="333399">
                  <a:lumMod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1000" y="6243638"/>
            <a:ext cx="946150" cy="457200"/>
          </a:xfrm>
        </p:spPr>
        <p:txBody>
          <a:bodyPr/>
          <a:lstStyle/>
          <a:p>
            <a:fld id="{03E48668-607C-4599-885A-4150DE8352C6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17600" y="685800"/>
            <a:ext cx="7443788" cy="820738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kern="0" smtClean="0">
                <a:solidFill>
                  <a:srgbClr val="000000"/>
                </a:solidFill>
              </a:rPr>
              <a:t>Cộng nhiều Bits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747963" y="3148013"/>
            <a:ext cx="1308100" cy="711200"/>
          </a:xfrm>
          <a:prstGeom prst="rect">
            <a:avLst/>
          </a:prstGeom>
          <a:solidFill>
            <a:srgbClr val="0099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74600" prstMaterial="legacyMetal">
            <a:bevelT w="13500" h="13500" prst="angle"/>
            <a:bevelB w="13500" h="13500" prst="angle"/>
            <a:extrusionClr>
              <a:srgbClr val="009999"/>
            </a:extrusionClr>
          </a:sp3d>
        </p:spPr>
        <p:txBody>
          <a:bodyPr lIns="0" tIns="0" rIns="0" bIns="0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747963" y="4346575"/>
            <a:ext cx="1308100" cy="711200"/>
          </a:xfrm>
          <a:prstGeom prst="rect">
            <a:avLst/>
          </a:prstGeom>
          <a:solidFill>
            <a:srgbClr val="0099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74600" prstMaterial="legacyMetal">
            <a:bevelT w="13500" h="13500" prst="angle"/>
            <a:bevelB w="13500" h="13500" prst="angle"/>
            <a:extrusionClr>
              <a:srgbClr val="009999"/>
            </a:extrusionClr>
          </a:sp3d>
        </p:spPr>
        <p:txBody>
          <a:bodyPr lIns="0" tIns="0" rIns="0" bIns="0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747963" y="5543550"/>
            <a:ext cx="1308100" cy="711200"/>
          </a:xfrm>
          <a:prstGeom prst="rect">
            <a:avLst/>
          </a:prstGeom>
          <a:solidFill>
            <a:srgbClr val="0099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74600" prstMaterial="legacyMetal">
            <a:bevelT w="13500" h="13500" prst="angle"/>
            <a:bevelB w="13500" h="13500" prst="angle"/>
            <a:extrusionClr>
              <a:srgbClr val="009999"/>
            </a:extrusionClr>
          </a:sp3d>
        </p:spPr>
        <p:txBody>
          <a:bodyPr lIns="0" tIns="0" rIns="0" bIns="0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608013" y="2339975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y0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837238" y="1846263"/>
            <a:ext cx="506412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S0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44475" y="2076450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x0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47963" y="1965325"/>
            <a:ext cx="1308100" cy="711200"/>
          </a:xfrm>
          <a:prstGeom prst="rect">
            <a:avLst/>
          </a:prstGeom>
          <a:solidFill>
            <a:srgbClr val="0099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74600" prstMaterial="legacyMetal">
            <a:bevelT w="13500" h="13500" prst="angle"/>
            <a:bevelB w="13500" h="13500" prst="angle"/>
            <a:extrusionClr>
              <a:srgbClr val="009999"/>
            </a:extrusionClr>
          </a:sp3d>
        </p:spPr>
        <p:txBody>
          <a:bodyPr lIns="0" tIns="0" rIns="0" bIns="0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392363" y="208438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2392363" y="255746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056063" y="208438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4056063" y="255746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2392363" y="2320925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0" y="1860550"/>
            <a:ext cx="277813" cy="4175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0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2392363" y="327183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2392363" y="374491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4056063" y="327183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4056063" y="374491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2392363" y="3508375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2392363" y="445928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392363" y="4933950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4056063" y="445928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4056063" y="4933950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2392363" y="469741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2392363" y="564673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2392363" y="6121400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>
            <a:off x="4056063" y="5646738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4056063" y="6121400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2392363" y="5884863"/>
            <a:ext cx="355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4411663" y="2082800"/>
            <a:ext cx="142557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323850" y="2082800"/>
            <a:ext cx="2068513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4411663" y="2559050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4411663" y="3746500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4411663" y="4933950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4411663" y="6121400"/>
            <a:ext cx="1951037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>
            <a:off x="4411663" y="3270250"/>
            <a:ext cx="142557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>
            <a:off x="4411663" y="4459288"/>
            <a:ext cx="142557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>
            <a:off x="4411663" y="5646738"/>
            <a:ext cx="142557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 type="triangle" w="lg" len="lg"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4" name="Line 40"/>
          <p:cNvSpPr>
            <a:spLocks noChangeShapeType="1"/>
          </p:cNvSpPr>
          <p:nvPr/>
        </p:nvSpPr>
        <p:spPr bwMode="auto">
          <a:xfrm>
            <a:off x="2036763" y="5289550"/>
            <a:ext cx="27305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4767263" y="4933950"/>
            <a:ext cx="0" cy="35560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>
            <a:off x="2036763" y="5646738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2036763" y="5289550"/>
            <a:ext cx="0" cy="357188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>
            <a:off x="2036763" y="4102100"/>
            <a:ext cx="27305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>
            <a:off x="4767263" y="3746500"/>
            <a:ext cx="0" cy="35560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>
            <a:off x="2036763" y="4459288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1" name="Line 47"/>
          <p:cNvSpPr>
            <a:spLocks noChangeShapeType="1"/>
          </p:cNvSpPr>
          <p:nvPr/>
        </p:nvSpPr>
        <p:spPr bwMode="auto">
          <a:xfrm>
            <a:off x="2036763" y="4102100"/>
            <a:ext cx="0" cy="357188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2" name="Line 48"/>
          <p:cNvSpPr>
            <a:spLocks noChangeShapeType="1"/>
          </p:cNvSpPr>
          <p:nvPr/>
        </p:nvSpPr>
        <p:spPr bwMode="auto">
          <a:xfrm>
            <a:off x="2036763" y="2914650"/>
            <a:ext cx="27305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3" name="Line 49"/>
          <p:cNvSpPr>
            <a:spLocks noChangeShapeType="1"/>
          </p:cNvSpPr>
          <p:nvPr/>
        </p:nvSpPr>
        <p:spPr bwMode="auto">
          <a:xfrm>
            <a:off x="4767263" y="2559050"/>
            <a:ext cx="0" cy="35560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4" name="Line 50"/>
          <p:cNvSpPr>
            <a:spLocks noChangeShapeType="1"/>
          </p:cNvSpPr>
          <p:nvPr/>
        </p:nvSpPr>
        <p:spPr bwMode="auto">
          <a:xfrm>
            <a:off x="2036763" y="3270250"/>
            <a:ext cx="355600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5" name="Line 51"/>
          <p:cNvSpPr>
            <a:spLocks noChangeShapeType="1"/>
          </p:cNvSpPr>
          <p:nvPr/>
        </p:nvSpPr>
        <p:spPr bwMode="auto">
          <a:xfrm>
            <a:off x="2036763" y="2914650"/>
            <a:ext cx="0" cy="355600"/>
          </a:xfrm>
          <a:prstGeom prst="line">
            <a:avLst/>
          </a:prstGeom>
          <a:noFill/>
          <a:ln w="25400">
            <a:solidFill>
              <a:srgbClr val="C0C0C0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6" name="Line 52"/>
          <p:cNvSpPr>
            <a:spLocks noChangeShapeType="1"/>
          </p:cNvSpPr>
          <p:nvPr/>
        </p:nvSpPr>
        <p:spPr bwMode="auto">
          <a:xfrm>
            <a:off x="731838" y="2320925"/>
            <a:ext cx="166052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7" name="Line 53"/>
          <p:cNvSpPr>
            <a:spLocks noChangeShapeType="1"/>
          </p:cNvSpPr>
          <p:nvPr/>
        </p:nvSpPr>
        <p:spPr bwMode="auto">
          <a:xfrm>
            <a:off x="1085850" y="2559050"/>
            <a:ext cx="1306513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8" name="Line 54"/>
          <p:cNvSpPr>
            <a:spLocks noChangeShapeType="1"/>
          </p:cNvSpPr>
          <p:nvPr/>
        </p:nvSpPr>
        <p:spPr bwMode="auto">
          <a:xfrm>
            <a:off x="731838" y="3508375"/>
            <a:ext cx="166052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59" name="Line 55"/>
          <p:cNvSpPr>
            <a:spLocks noChangeShapeType="1"/>
          </p:cNvSpPr>
          <p:nvPr/>
        </p:nvSpPr>
        <p:spPr bwMode="auto">
          <a:xfrm>
            <a:off x="731838" y="4695825"/>
            <a:ext cx="166052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60" name="Line 56"/>
          <p:cNvSpPr>
            <a:spLocks noChangeShapeType="1"/>
          </p:cNvSpPr>
          <p:nvPr/>
        </p:nvSpPr>
        <p:spPr bwMode="auto">
          <a:xfrm>
            <a:off x="731838" y="5883275"/>
            <a:ext cx="1660525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61" name="Text Box 57"/>
          <p:cNvSpPr txBox="1">
            <a:spLocks noChangeArrowheads="1"/>
          </p:cNvSpPr>
          <p:nvPr/>
        </p:nvSpPr>
        <p:spPr bwMode="auto">
          <a:xfrm>
            <a:off x="5837238" y="3033713"/>
            <a:ext cx="506412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S1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2" name="Text Box 58"/>
          <p:cNvSpPr txBox="1">
            <a:spLocks noChangeArrowheads="1"/>
          </p:cNvSpPr>
          <p:nvPr/>
        </p:nvSpPr>
        <p:spPr bwMode="auto">
          <a:xfrm>
            <a:off x="5837238" y="4221163"/>
            <a:ext cx="506412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S2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3" name="Text Box 59"/>
          <p:cNvSpPr txBox="1">
            <a:spLocks noChangeArrowheads="1"/>
          </p:cNvSpPr>
          <p:nvPr/>
        </p:nvSpPr>
        <p:spPr bwMode="auto">
          <a:xfrm>
            <a:off x="5837238" y="5408613"/>
            <a:ext cx="506412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S3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4" name="Text Box 60"/>
          <p:cNvSpPr txBox="1">
            <a:spLocks noChangeArrowheads="1"/>
          </p:cNvSpPr>
          <p:nvPr/>
        </p:nvSpPr>
        <p:spPr bwMode="auto">
          <a:xfrm>
            <a:off x="6873875" y="5521325"/>
            <a:ext cx="509588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C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244475" y="3276600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x1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6" name="Text Box 62"/>
          <p:cNvSpPr txBox="1">
            <a:spLocks noChangeArrowheads="1"/>
          </p:cNvSpPr>
          <p:nvPr/>
        </p:nvSpPr>
        <p:spPr bwMode="auto">
          <a:xfrm>
            <a:off x="244475" y="4462463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x2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244475" y="5648325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x3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8" name="Line 64"/>
          <p:cNvSpPr>
            <a:spLocks noChangeShapeType="1"/>
          </p:cNvSpPr>
          <p:nvPr/>
        </p:nvSpPr>
        <p:spPr bwMode="auto">
          <a:xfrm>
            <a:off x="1085850" y="3746500"/>
            <a:ext cx="1306513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69" name="Line 65"/>
          <p:cNvSpPr>
            <a:spLocks noChangeShapeType="1"/>
          </p:cNvSpPr>
          <p:nvPr/>
        </p:nvSpPr>
        <p:spPr bwMode="auto">
          <a:xfrm>
            <a:off x="1085850" y="4933950"/>
            <a:ext cx="1306513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70" name="Line 66"/>
          <p:cNvSpPr>
            <a:spLocks noChangeShapeType="1"/>
          </p:cNvSpPr>
          <p:nvPr/>
        </p:nvSpPr>
        <p:spPr bwMode="auto">
          <a:xfrm>
            <a:off x="1085850" y="6121400"/>
            <a:ext cx="1306513" cy="0"/>
          </a:xfrm>
          <a:prstGeom prst="line">
            <a:avLst/>
          </a:prstGeom>
          <a:noFill/>
          <a:ln w="25400">
            <a:solidFill>
              <a:srgbClr val="660033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>
              <a:solidFill>
                <a:srgbClr val="000000"/>
              </a:solidFill>
            </a:endParaRPr>
          </a:p>
        </p:txBody>
      </p:sp>
      <p:sp>
        <p:nvSpPr>
          <p:cNvPr id="71" name="Text Box 67"/>
          <p:cNvSpPr txBox="1">
            <a:spLocks noChangeArrowheads="1"/>
          </p:cNvSpPr>
          <p:nvPr/>
        </p:nvSpPr>
        <p:spPr bwMode="auto">
          <a:xfrm>
            <a:off x="608013" y="3527425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y1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2" name="Text Box 68"/>
          <p:cNvSpPr txBox="1">
            <a:spLocks noChangeArrowheads="1"/>
          </p:cNvSpPr>
          <p:nvPr/>
        </p:nvSpPr>
        <p:spPr bwMode="auto">
          <a:xfrm>
            <a:off x="608013" y="4699000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</a:rPr>
              <a:t>y2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3" name="Text Box 69"/>
          <p:cNvSpPr txBox="1">
            <a:spLocks noChangeArrowheads="1"/>
          </p:cNvSpPr>
          <p:nvPr/>
        </p:nvSpPr>
        <p:spPr bwMode="auto">
          <a:xfrm>
            <a:off x="609600" y="5943600"/>
            <a:ext cx="51117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</a:rPr>
              <a:t>y3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74" name="Text Box 70"/>
          <p:cNvSpPr txBox="1">
            <a:spLocks noChangeArrowheads="1"/>
          </p:cNvSpPr>
          <p:nvPr/>
        </p:nvSpPr>
        <p:spPr bwMode="auto">
          <a:xfrm>
            <a:off x="2800350" y="1962150"/>
            <a:ext cx="1193800" cy="5032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</a:rPr>
              <a:t>Full adder 0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75" name="Text Box 81"/>
          <p:cNvSpPr txBox="1">
            <a:spLocks noChangeArrowheads="1"/>
          </p:cNvSpPr>
          <p:nvPr/>
        </p:nvSpPr>
        <p:spPr bwMode="auto">
          <a:xfrm>
            <a:off x="2800350" y="3181350"/>
            <a:ext cx="1193800" cy="5032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</a:rPr>
              <a:t>Full adder 1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76" name="Text Box 82"/>
          <p:cNvSpPr txBox="1">
            <a:spLocks noChangeArrowheads="1"/>
          </p:cNvSpPr>
          <p:nvPr/>
        </p:nvSpPr>
        <p:spPr bwMode="auto">
          <a:xfrm>
            <a:off x="2800350" y="4400550"/>
            <a:ext cx="1193800" cy="5032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</a:rPr>
              <a:t>Full adder 2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77" name="Text Box 83"/>
          <p:cNvSpPr txBox="1">
            <a:spLocks noChangeArrowheads="1"/>
          </p:cNvSpPr>
          <p:nvPr/>
        </p:nvSpPr>
        <p:spPr bwMode="auto">
          <a:xfrm>
            <a:off x="2800350" y="5619750"/>
            <a:ext cx="1193800" cy="5032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</a:rPr>
              <a:t>Full adder 3</a:t>
            </a: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78" name="Group 85"/>
          <p:cNvGrpSpPr>
            <a:grpSpLocks/>
          </p:cNvGrpSpPr>
          <p:nvPr/>
        </p:nvGrpSpPr>
        <p:grpSpPr bwMode="auto">
          <a:xfrm>
            <a:off x="5715000" y="2438401"/>
            <a:ext cx="3025843" cy="1524000"/>
            <a:chOff x="4272" y="741"/>
            <a:chExt cx="1229" cy="893"/>
          </a:xfrm>
        </p:grpSpPr>
        <p:sp>
          <p:nvSpPr>
            <p:cNvPr id="79" name="Text Box 74"/>
            <p:cNvSpPr txBox="1">
              <a:spLocks noChangeArrowheads="1"/>
            </p:cNvSpPr>
            <p:nvPr/>
          </p:nvSpPr>
          <p:spPr bwMode="auto">
            <a:xfrm>
              <a:off x="4625" y="741"/>
              <a:ext cx="847" cy="2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>
                  <a:solidFill>
                    <a:srgbClr val="000000"/>
                  </a:solidFill>
                </a:rPr>
                <a:t>x3x2x1x0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0" name="Text Box 75"/>
            <p:cNvSpPr txBox="1">
              <a:spLocks noChangeArrowheads="1"/>
            </p:cNvSpPr>
            <p:nvPr/>
          </p:nvSpPr>
          <p:spPr bwMode="auto">
            <a:xfrm>
              <a:off x="4272" y="1344"/>
              <a:ext cx="1229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</a:rPr>
                <a:t>C S3S2S1S0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81" name="Text Box 76"/>
            <p:cNvSpPr txBox="1">
              <a:spLocks noChangeArrowheads="1"/>
            </p:cNvSpPr>
            <p:nvPr/>
          </p:nvSpPr>
          <p:spPr bwMode="auto">
            <a:xfrm>
              <a:off x="4643" y="1054"/>
              <a:ext cx="806" cy="2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</a:rPr>
                <a:t>y3y2y1y0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82" name="Text Box 77"/>
            <p:cNvSpPr txBox="1">
              <a:spLocks noChangeArrowheads="1"/>
            </p:cNvSpPr>
            <p:nvPr/>
          </p:nvSpPr>
          <p:spPr bwMode="auto">
            <a:xfrm>
              <a:off x="4704" y="920"/>
              <a:ext cx="159" cy="2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36000" tIns="36000" rIns="36000" bIns="36000"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</a:rPr>
                <a:t>+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85" name="Straight Connector 84"/>
          <p:cNvCxnSpPr/>
          <p:nvPr/>
        </p:nvCxnSpPr>
        <p:spPr bwMode="auto">
          <a:xfrm>
            <a:off x="6934200" y="3429000"/>
            <a:ext cx="18288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9848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Phép cộng số nguyên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950E-8FBD-49EC-9BD7-511EDC1F8F43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9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219201"/>
            <a:ext cx="7772400" cy="4913312"/>
          </a:xfrm>
        </p:spPr>
        <p:txBody>
          <a:bodyPr/>
          <a:lstStyle/>
          <a:p>
            <a:r>
              <a:rPr lang="en-US" smtClean="0"/>
              <a:t>Ví dụ: </a:t>
            </a:r>
            <a:r>
              <a:rPr lang="en-US" dirty="0"/>
              <a:t>7 + 6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34" y="1752600"/>
            <a:ext cx="69373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094798" y="3653848"/>
            <a:ext cx="7772400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 smtClean="0"/>
              <a:t>Tràn nếu kết quả tràn ngưỡng</a:t>
            </a:r>
            <a:endParaRPr lang="en-US" sz="28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smtClean="0"/>
              <a:t>Cộng 2 toán hạng trái dấu: không tràn</a:t>
            </a:r>
            <a:endParaRPr lang="en-US" sz="24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smtClean="0"/>
              <a:t>Cộng 2 toán hạng đều dương</a:t>
            </a:r>
            <a:endParaRPr lang="en-US" sz="2400" dirty="0"/>
          </a:p>
          <a:p>
            <a:pPr marL="1143000" lvl="2" indent="-228600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000" smtClean="0"/>
              <a:t>Tràn nếu bit dấu của kết quả là </a:t>
            </a:r>
            <a:r>
              <a:rPr lang="en-US" sz="2000" dirty="0"/>
              <a:t>1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smtClean="0"/>
              <a:t>Cộng 2 toán hạng đều âm</a:t>
            </a:r>
            <a:endParaRPr lang="en-US" sz="2400" dirty="0"/>
          </a:p>
          <a:p>
            <a:pPr marL="1143000" lvl="2" indent="-228600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000" smtClean="0"/>
              <a:t>Tràn nếu bit dấu của kết quả là 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389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trừ số nguyên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FFEEC-4840-44C1-8240-2FD231FE00DC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219200"/>
            <a:ext cx="8001000" cy="4800600"/>
          </a:xfrm>
        </p:spPr>
        <p:txBody>
          <a:bodyPr/>
          <a:lstStyle/>
          <a:p>
            <a:r>
              <a:rPr lang="en-US" sz="2800" smtClean="0"/>
              <a:t>Cộng số âm của toán hạng thứ 2</a:t>
            </a:r>
            <a:endParaRPr lang="en-US" sz="2800" dirty="0"/>
          </a:p>
          <a:p>
            <a:r>
              <a:rPr lang="en-US" sz="2800" smtClean="0"/>
              <a:t>Ví dụ: </a:t>
            </a:r>
            <a:r>
              <a:rPr lang="en-US" sz="2800" dirty="0"/>
              <a:t>7 – 6 = 7 + (–6)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/>
              <a:t>	+7:	0000 0000 … 0000 0111</a:t>
            </a:r>
            <a:br>
              <a:rPr lang="en-US" sz="2400" dirty="0"/>
            </a:br>
            <a:r>
              <a:rPr lang="en-US" sz="2400" u="sng" dirty="0"/>
              <a:t>–6:	1111 1111 … 1111 1010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+1:	0000 0000 … 0000 0001</a:t>
            </a:r>
          </a:p>
          <a:p>
            <a:r>
              <a:rPr lang="en-US" sz="2800" smtClean="0"/>
              <a:t>Tràn nếu kết quả vượt ngưỡng</a:t>
            </a:r>
            <a:endParaRPr lang="en-US" sz="2800" dirty="0"/>
          </a:p>
          <a:p>
            <a:pPr lvl="1"/>
            <a:r>
              <a:rPr lang="en-US" sz="2400" smtClean="0"/>
              <a:t>Phép trừ 2 toán hạng cùng dấu, không bao giờ tràn</a:t>
            </a:r>
            <a:endParaRPr lang="en-US" sz="2400" dirty="0"/>
          </a:p>
          <a:p>
            <a:pPr lvl="1"/>
            <a:r>
              <a:rPr lang="en-US" sz="2400" smtClean="0"/>
              <a:t>Trừ 1 toán hạng âm với 1 toán hạng dương</a:t>
            </a:r>
            <a:endParaRPr lang="en-US" sz="2400" dirty="0"/>
          </a:p>
          <a:p>
            <a:pPr lvl="2"/>
            <a:r>
              <a:rPr lang="en-US" sz="2000" smtClean="0"/>
              <a:t>Tràn nếu bit dấu của kết quả là </a:t>
            </a:r>
            <a:r>
              <a:rPr lang="en-US" sz="2000" dirty="0"/>
              <a:t>0</a:t>
            </a:r>
          </a:p>
          <a:p>
            <a:pPr lvl="1"/>
            <a:r>
              <a:rPr lang="en-US" sz="2400" smtClean="0"/>
              <a:t>Trừ 1 toán hạng dương với 1 toán hạng âm</a:t>
            </a:r>
            <a:endParaRPr lang="en-US" sz="2400" dirty="0"/>
          </a:p>
          <a:p>
            <a:pPr lvl="2"/>
            <a:r>
              <a:rPr lang="en-US" sz="2000" smtClean="0"/>
              <a:t>Tràn nếu bit dấu của kết quả là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154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Xử lý tràn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B18B-CBE8-4BEA-AF07-868E4B6F3435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470991"/>
            <a:ext cx="8574088" cy="44726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Một số ngôn ngữ (như </a:t>
            </a:r>
            <a:r>
              <a:rPr lang="en-US" dirty="0"/>
              <a:t>C</a:t>
            </a:r>
            <a:r>
              <a:rPr lang="en-US"/>
              <a:t>) </a:t>
            </a:r>
            <a:r>
              <a:rPr lang="en-US" smtClean="0"/>
              <a:t>không xử lý tràn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Sử dụng lệnh MIPS: </a:t>
            </a:r>
            <a:r>
              <a:rPr lang="en-US" dirty="0" err="1">
                <a:latin typeface="Lucida Console" pitchFamily="49" charset="0"/>
              </a:rPr>
              <a:t>addu</a:t>
            </a:r>
            <a:r>
              <a:rPr lang="en-US" dirty="0"/>
              <a:t>, </a:t>
            </a:r>
            <a:r>
              <a:rPr lang="en-US" dirty="0" err="1">
                <a:latin typeface="Lucida Console" pitchFamily="49" charset="0"/>
              </a:rPr>
              <a:t>addui</a:t>
            </a:r>
            <a:r>
              <a:rPr lang="en-US"/>
              <a:t>, </a:t>
            </a:r>
            <a:r>
              <a:rPr lang="en-US" smtClean="0">
                <a:latin typeface="Lucida Console" pitchFamily="49" charset="0"/>
              </a:rPr>
              <a:t>subu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Các ngôn ngữ khác (như </a:t>
            </a:r>
            <a:r>
              <a:rPr lang="en-US" dirty="0"/>
              <a:t>Ada, Fortran</a:t>
            </a:r>
            <a:r>
              <a:rPr lang="en-US"/>
              <a:t>) </a:t>
            </a:r>
            <a:r>
              <a:rPr lang="en-US" smtClean="0"/>
              <a:t>yêu cầu xử lý tràn bằng ngoại lệ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Sử dụng lệnh MIPS: </a:t>
            </a:r>
            <a:r>
              <a:rPr lang="en-US" dirty="0">
                <a:latin typeface="Lucida Console" pitchFamily="49" charset="0"/>
              </a:rPr>
              <a:t>add</a:t>
            </a:r>
            <a:r>
              <a:rPr lang="en-US" dirty="0"/>
              <a:t>, </a:t>
            </a:r>
            <a:r>
              <a:rPr lang="en-US" dirty="0" err="1">
                <a:latin typeface="Lucida Console" pitchFamily="49" charset="0"/>
              </a:rPr>
              <a:t>addi</a:t>
            </a:r>
            <a:r>
              <a:rPr lang="en-US" dirty="0"/>
              <a:t>, </a:t>
            </a:r>
            <a:r>
              <a:rPr lang="en-US">
                <a:latin typeface="Lucida Console" pitchFamily="49" charset="0"/>
              </a:rPr>
              <a:t>sub</a:t>
            </a:r>
            <a:r>
              <a:rPr lang="en-US"/>
              <a:t> </a:t>
            </a:r>
            <a:endParaRPr lang="en-US" smtClean="0"/>
          </a:p>
          <a:p>
            <a:pPr lvl="1">
              <a:lnSpc>
                <a:spcPct val="90000"/>
              </a:lnSpc>
            </a:pPr>
            <a:r>
              <a:rPr lang="en-US" smtClean="0"/>
              <a:t>Khi có tràn, bẫy bằng ngoại lệ &amp; xử lý: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Cất PC vào thanh ghi </a:t>
            </a:r>
            <a:r>
              <a:rPr lang="en-US"/>
              <a:t>exception </a:t>
            </a:r>
            <a:r>
              <a:rPr lang="en-US" smtClean="0"/>
              <a:t>PC (EPC)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smtClean="0"/>
              <a:t>Nhảy đến chương trìn xử lý tràn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smtClean="0">
                <a:latin typeface="Lucida Console" pitchFamily="49" charset="0"/>
              </a:rPr>
              <a:t>Dùng mfc0</a:t>
            </a:r>
            <a:r>
              <a:rPr lang="en-US" smtClean="0"/>
              <a:t> khôi phục giá trị EPC </a:t>
            </a:r>
            <a:r>
              <a:rPr lang="en-US" dirty="0"/>
              <a:t>value</a:t>
            </a:r>
            <a:r>
              <a:rPr lang="en-US"/>
              <a:t>, </a:t>
            </a:r>
            <a:r>
              <a:rPr lang="en-US" smtClean="0"/>
              <a:t>trở về sau khi xử lý tràn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16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nhân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F94BD-E8C1-448F-B91E-10F19E4E474F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12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295400"/>
            <a:ext cx="7772400" cy="4661521"/>
          </a:xfrm>
        </p:spPr>
        <p:txBody>
          <a:bodyPr/>
          <a:lstStyle/>
          <a:p>
            <a:r>
              <a:rPr lang="en-US" smtClean="0"/>
              <a:t>Bắt đầu bằng phép nhân thuần túy</a:t>
            </a:r>
            <a:endParaRPr lang="en-AU" dirty="0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4669127" y="2282825"/>
            <a:ext cx="1250950" cy="2225675"/>
            <a:chOff x="703" y="1616"/>
            <a:chExt cx="788" cy="1402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703" y="1616"/>
              <a:ext cx="788" cy="1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   1000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×  1001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   1000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  0000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 0000 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1000  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ucida Console" pitchFamily="49" charset="0"/>
                </a:rPr>
                <a:t>1001000</a:t>
              </a:r>
              <a:endParaRPr kumimoji="0" lang="en-AU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>
              <a:off x="703" y="2024"/>
              <a:ext cx="7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543589" y="4737100"/>
            <a:ext cx="2305050" cy="92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Length of product is the sum of operand lengths</a:t>
            </a:r>
            <a:endParaRPr kumimoji="0" lang="en-AU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AutoShape 10"/>
          <p:cNvSpPr>
            <a:spLocks/>
          </p:cNvSpPr>
          <p:nvPr/>
        </p:nvSpPr>
        <p:spPr bwMode="auto">
          <a:xfrm>
            <a:off x="3040352" y="2024063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multiplicand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AutoShape 11"/>
          <p:cNvSpPr>
            <a:spLocks/>
          </p:cNvSpPr>
          <p:nvPr/>
        </p:nvSpPr>
        <p:spPr bwMode="auto">
          <a:xfrm>
            <a:off x="3040352" y="249872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multiplier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AutoShape 12"/>
          <p:cNvSpPr>
            <a:spLocks/>
          </p:cNvSpPr>
          <p:nvPr/>
        </p:nvSpPr>
        <p:spPr bwMode="auto">
          <a:xfrm>
            <a:off x="3040352" y="4083050"/>
            <a:ext cx="1150937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product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6773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Phần cứng thực hiện nhân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66A8E-F8D0-4EDB-9CDC-2C6A4B3E7302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13</a:t>
            </a:fld>
            <a:endParaRPr lang="vi-V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133616" cy="423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1752600"/>
            <a:ext cx="5327650" cy="304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456" y="4495800"/>
            <a:ext cx="2103437" cy="104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04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4 bit: 2</a:t>
            </a:r>
            <a:r>
              <a:rPr lang="en-US" baseline="-25000" dirty="0" smtClean="0"/>
              <a:t>10</a:t>
            </a:r>
            <a:r>
              <a:rPr lang="en-US" dirty="0" smtClean="0"/>
              <a:t>x3</a:t>
            </a:r>
            <a:r>
              <a:rPr lang="en-US" baseline="-25000" dirty="0" smtClean="0"/>
              <a:t>10</a:t>
            </a:r>
            <a:endParaRPr lang="en-GB" baseline="-25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DE74-596C-4F56-AA77-191B93A56D8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881832" y="2362200"/>
            <a:ext cx="7380335" cy="348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9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nhân cải thiện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1A5D-67C1-4DA0-BED2-8693C047C230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15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533400" y="1249318"/>
            <a:ext cx="8407834" cy="4914945"/>
          </a:xfrm>
        </p:spPr>
        <p:txBody>
          <a:bodyPr/>
          <a:lstStyle/>
          <a:p>
            <a:r>
              <a:rPr lang="en-US" sz="2800" smtClean="0"/>
              <a:t>Các bước song song: add/shift</a:t>
            </a:r>
            <a:endParaRPr 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2065338"/>
            <a:ext cx="5340350" cy="272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84213" y="5013325"/>
            <a:ext cx="8270875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 smtClean="0"/>
              <a:t>Một chu kỳ cho mỗi phép cộng (tích thành phần)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smtClean="0"/>
              <a:t>Có thể chấp nhận khi tần xuất thấp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34778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nhân nhanh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FF1F-01FC-4AEA-AAE8-EC39A54F5E1D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16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661521"/>
          </a:xfrm>
        </p:spPr>
        <p:txBody>
          <a:bodyPr/>
          <a:lstStyle/>
          <a:p>
            <a:r>
              <a:rPr lang="en-US" smtClean="0"/>
              <a:t>Sử dụng nhiều bộ cộng cùng lúc</a:t>
            </a:r>
            <a:endParaRPr lang="en-US" dirty="0"/>
          </a:p>
          <a:p>
            <a:pPr lvl="1"/>
            <a:r>
              <a:rPr lang="en-US" dirty="0"/>
              <a:t>Cost/performance tradeoff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2438400"/>
            <a:ext cx="6846887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4213" y="5157788"/>
            <a:ext cx="8270875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Có thể thực hiện theo cơ chế ống</a:t>
            </a:r>
            <a:endParaRPr lang="en-US" sz="32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smtClean="0"/>
              <a:t>Nhiều tác vụ nhân thực hiện cùng lúc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974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Lệnh nhân trong MIPS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C9F1-2EB1-4D17-8452-02A3F2CE9A7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143000"/>
            <a:ext cx="7772400" cy="487174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smtClean="0"/>
              <a:t>Kết quả sẽ là 64-bit, chứa trong 2 thanh ghi 32-bit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dirty="0"/>
              <a:t>HI</a:t>
            </a:r>
            <a:r>
              <a:rPr lang="en-US" sz="2400"/>
              <a:t>: </a:t>
            </a:r>
            <a:r>
              <a:rPr lang="en-US" sz="2400" smtClean="0"/>
              <a:t>chứa 32-bit cao</a:t>
            </a:r>
            <a:endParaRPr lang="en-US" sz="2400" dirty="0"/>
          </a:p>
          <a:p>
            <a:pPr lvl="1">
              <a:spcBef>
                <a:spcPts val="0"/>
              </a:spcBef>
            </a:pPr>
            <a:r>
              <a:rPr lang="en-US" sz="2400" dirty="0"/>
              <a:t>LO</a:t>
            </a:r>
            <a:r>
              <a:rPr lang="en-US" sz="2400"/>
              <a:t>: </a:t>
            </a:r>
            <a:r>
              <a:rPr lang="en-US" sz="2400" smtClean="0"/>
              <a:t>chứa 32-bit thấp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800" smtClean="0"/>
              <a:t>Lệnh nhân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dirty="0" err="1">
                <a:latin typeface="Lucida Console" pitchFamily="49" charset="0"/>
              </a:rPr>
              <a:t>mult</a:t>
            </a:r>
            <a:r>
              <a:rPr lang="en-US" sz="2400" dirty="0">
                <a:latin typeface="Lucida Console" pitchFamily="49" charset="0"/>
              </a:rPr>
              <a:t> </a:t>
            </a:r>
            <a:r>
              <a:rPr lang="en-US" sz="2400" dirty="0" err="1">
                <a:latin typeface="Lucida Console" pitchFamily="49" charset="0"/>
              </a:rPr>
              <a:t>rs</a:t>
            </a:r>
            <a:r>
              <a:rPr lang="en-US" sz="2400" dirty="0">
                <a:latin typeface="Lucida Console" pitchFamily="49" charset="0"/>
              </a:rPr>
              <a:t>, </a:t>
            </a:r>
            <a:r>
              <a:rPr lang="en-US" sz="2400" dirty="0" err="1">
                <a:latin typeface="Lucida Console" pitchFamily="49" charset="0"/>
              </a:rPr>
              <a:t>rt</a:t>
            </a:r>
            <a:r>
              <a:rPr lang="en-US" sz="2400" dirty="0">
                <a:latin typeface="Lucida Console" pitchFamily="49" charset="0"/>
              </a:rPr>
              <a:t>  /  </a:t>
            </a:r>
            <a:r>
              <a:rPr lang="en-US" sz="2400" dirty="0" err="1">
                <a:latin typeface="Lucida Console" pitchFamily="49" charset="0"/>
              </a:rPr>
              <a:t>multu</a:t>
            </a:r>
            <a:r>
              <a:rPr lang="en-US" sz="2400" dirty="0">
                <a:latin typeface="Lucida Console" pitchFamily="49" charset="0"/>
              </a:rPr>
              <a:t> </a:t>
            </a:r>
            <a:r>
              <a:rPr lang="en-US" sz="2400" dirty="0" err="1">
                <a:latin typeface="Lucida Console" pitchFamily="49" charset="0"/>
              </a:rPr>
              <a:t>rs</a:t>
            </a:r>
            <a:r>
              <a:rPr lang="en-US" sz="2400" dirty="0">
                <a:latin typeface="Lucida Console" pitchFamily="49" charset="0"/>
              </a:rPr>
              <a:t>, </a:t>
            </a:r>
            <a:r>
              <a:rPr lang="en-US" sz="2400" dirty="0" err="1">
                <a:latin typeface="Lucida Console" pitchFamily="49" charset="0"/>
              </a:rPr>
              <a:t>rt</a:t>
            </a:r>
            <a:endParaRPr lang="en-US" sz="2400" dirty="0">
              <a:latin typeface="Lucida Console" pitchFamily="49" charset="0"/>
            </a:endParaRPr>
          </a:p>
          <a:p>
            <a:pPr lvl="2">
              <a:spcBef>
                <a:spcPts val="0"/>
              </a:spcBef>
            </a:pPr>
            <a:r>
              <a:rPr lang="en-US" sz="2000"/>
              <a:t>64-bit </a:t>
            </a:r>
            <a:r>
              <a:rPr lang="en-US" sz="2000" smtClean="0"/>
              <a:t>kết quả chứa trong </a:t>
            </a:r>
            <a:r>
              <a:rPr lang="en-US" sz="2000" dirty="0"/>
              <a:t>HI/LO</a:t>
            </a:r>
          </a:p>
          <a:p>
            <a:pPr lvl="1">
              <a:spcBef>
                <a:spcPts val="0"/>
              </a:spcBef>
            </a:pPr>
            <a:r>
              <a:rPr lang="en-US" sz="2400" dirty="0" err="1">
                <a:latin typeface="Lucida Console" pitchFamily="49" charset="0"/>
              </a:rPr>
              <a:t>mfhi</a:t>
            </a:r>
            <a:r>
              <a:rPr lang="en-US" sz="2400" dirty="0">
                <a:latin typeface="Lucida Console" pitchFamily="49" charset="0"/>
              </a:rPr>
              <a:t> </a:t>
            </a:r>
            <a:r>
              <a:rPr lang="en-US" sz="2400" dirty="0" err="1">
                <a:latin typeface="Lucida Console" pitchFamily="49" charset="0"/>
              </a:rPr>
              <a:t>rd</a:t>
            </a:r>
            <a:r>
              <a:rPr lang="en-US" sz="2400" dirty="0">
                <a:latin typeface="Lucida Console" pitchFamily="49" charset="0"/>
              </a:rPr>
              <a:t>  /  </a:t>
            </a:r>
            <a:r>
              <a:rPr lang="en-US" sz="2400" dirty="0" err="1">
                <a:latin typeface="Lucida Console" pitchFamily="49" charset="0"/>
              </a:rPr>
              <a:t>mflo</a:t>
            </a:r>
            <a:r>
              <a:rPr lang="en-US" sz="2400" dirty="0">
                <a:latin typeface="Lucida Console" pitchFamily="49" charset="0"/>
              </a:rPr>
              <a:t> </a:t>
            </a:r>
            <a:r>
              <a:rPr lang="en-US" sz="2400" dirty="0" err="1">
                <a:latin typeface="Lucida Console" pitchFamily="49" charset="0"/>
              </a:rPr>
              <a:t>rd</a:t>
            </a:r>
            <a:endParaRPr lang="en-US" sz="2400" dirty="0">
              <a:latin typeface="Lucida Console" pitchFamily="49" charset="0"/>
            </a:endParaRPr>
          </a:p>
          <a:p>
            <a:pPr lvl="2">
              <a:spcBef>
                <a:spcPts val="0"/>
              </a:spcBef>
            </a:pPr>
            <a:r>
              <a:rPr lang="en-US" sz="2000" smtClean="0"/>
              <a:t>Chuyển từ HI/LO vào </a:t>
            </a:r>
            <a:r>
              <a:rPr lang="en-US" sz="2000" dirty="0" err="1"/>
              <a:t>rd</a:t>
            </a:r>
            <a:endParaRPr lang="en-US" sz="2000" dirty="0"/>
          </a:p>
          <a:p>
            <a:pPr lvl="2">
              <a:spcBef>
                <a:spcPts val="0"/>
              </a:spcBef>
            </a:pPr>
            <a:r>
              <a:rPr lang="en-US" sz="2000" smtClean="0"/>
              <a:t>Có thể kiểm tra giá trị HI xem kết quả phép nhân có tràn?</a:t>
            </a:r>
            <a:endParaRPr lang="en-AU" sz="2000" dirty="0"/>
          </a:p>
          <a:p>
            <a:pPr lvl="1">
              <a:spcBef>
                <a:spcPts val="0"/>
              </a:spcBef>
            </a:pPr>
            <a:r>
              <a:rPr lang="en-US" sz="2400" dirty="0" err="1">
                <a:latin typeface="Lucida Console" pitchFamily="49" charset="0"/>
              </a:rPr>
              <a:t>mul</a:t>
            </a:r>
            <a:r>
              <a:rPr lang="en-US" sz="2400" dirty="0">
                <a:latin typeface="Lucida Console" pitchFamily="49" charset="0"/>
              </a:rPr>
              <a:t> </a:t>
            </a:r>
            <a:r>
              <a:rPr lang="en-US" sz="2400" dirty="0" err="1">
                <a:latin typeface="Lucida Console" pitchFamily="49" charset="0"/>
              </a:rPr>
              <a:t>rd</a:t>
            </a:r>
            <a:r>
              <a:rPr lang="en-US" sz="2400" dirty="0">
                <a:latin typeface="Lucida Console" pitchFamily="49" charset="0"/>
              </a:rPr>
              <a:t>, </a:t>
            </a:r>
            <a:r>
              <a:rPr lang="en-US" sz="2400" dirty="0" err="1">
                <a:latin typeface="Lucida Console" pitchFamily="49" charset="0"/>
              </a:rPr>
              <a:t>rs</a:t>
            </a:r>
            <a:r>
              <a:rPr lang="en-US" sz="2400" dirty="0">
                <a:latin typeface="Lucida Console" pitchFamily="49" charset="0"/>
              </a:rPr>
              <a:t>, </a:t>
            </a:r>
            <a:r>
              <a:rPr lang="en-US" sz="2400" dirty="0" err="1">
                <a:latin typeface="Lucida Console" pitchFamily="49" charset="0"/>
              </a:rPr>
              <a:t>rt</a:t>
            </a:r>
            <a:endParaRPr lang="en-US" sz="2400" dirty="0">
              <a:latin typeface="Lucida Console" pitchFamily="49" charset="0"/>
            </a:endParaRPr>
          </a:p>
          <a:p>
            <a:pPr lvl="2">
              <a:spcBef>
                <a:spcPts val="0"/>
              </a:spcBef>
            </a:pPr>
            <a:r>
              <a:rPr lang="en-US" sz="2000" smtClean="0"/>
              <a:t>32 </a:t>
            </a:r>
            <a:r>
              <a:rPr lang="en-US" sz="2000"/>
              <a:t>bits </a:t>
            </a:r>
            <a:r>
              <a:rPr lang="en-US" sz="2000" smtClean="0"/>
              <a:t>thấp của kết quả phép nhân  </a:t>
            </a:r>
            <a:r>
              <a:rPr lang="en-US" sz="2000" dirty="0"/>
              <a:t>–&gt; </a:t>
            </a:r>
            <a:r>
              <a:rPr lang="en-US" sz="2000" dirty="0" err="1"/>
              <a:t>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383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chia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3BE4D-1B2A-4F58-9B56-2E884EBE70D5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267200" y="1470991"/>
            <a:ext cx="4687888" cy="46615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smtClean="0"/>
              <a:t>Kiểm tra chia 0</a:t>
            </a:r>
            <a:r>
              <a:rPr lang="en-US" sz="2400" smtClean="0">
                <a:sym typeface="Wingdings" pitchFamily="2" charset="2"/>
              </a:rPr>
              <a:t> báo lỗi</a:t>
            </a:r>
            <a:endParaRPr lang="en-AU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Long division approach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If divisor ≤ dividend bits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1 bit in quotient, subtract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Otherwise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0 bit in quotient, bring down next dividend bit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Restoring division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Do the subtract, and if remainder goes &lt; 0, add divisor back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Signed division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Divide using absolute values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Adjust sign of quotient and remainder as required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92263" y="2565400"/>
            <a:ext cx="28007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latin typeface="Lucida Console" pitchFamily="49" charset="0"/>
              </a:rPr>
              <a:t>        1001</a:t>
            </a:r>
          </a:p>
          <a:p>
            <a:r>
              <a:rPr lang="en-US" sz="2000" dirty="0">
                <a:latin typeface="Lucida Console" pitchFamily="49" charset="0"/>
              </a:rPr>
              <a:t> </a:t>
            </a:r>
            <a:r>
              <a:rPr lang="en-US" sz="2000" dirty="0" smtClean="0">
                <a:latin typeface="Lucida Console" pitchFamily="49" charset="0"/>
              </a:rPr>
              <a:t>    1001010/1000</a:t>
            </a:r>
            <a:endParaRPr lang="en-US" sz="2000" dirty="0">
              <a:latin typeface="Lucida Console" pitchFamily="49" charset="0"/>
            </a:endParaRPr>
          </a:p>
          <a:p>
            <a:r>
              <a:rPr lang="en-US" sz="2000" dirty="0">
                <a:latin typeface="Lucida Console" pitchFamily="49" charset="0"/>
              </a:rPr>
              <a:t>    -1000</a:t>
            </a:r>
          </a:p>
          <a:p>
            <a:r>
              <a:rPr lang="en-US" sz="2000" dirty="0">
                <a:latin typeface="Lucida Console" pitchFamily="49" charset="0"/>
              </a:rPr>
              <a:t>        10</a:t>
            </a:r>
          </a:p>
          <a:p>
            <a:r>
              <a:rPr lang="en-US" sz="2000" dirty="0">
                <a:latin typeface="Lucida Console" pitchFamily="49" charset="0"/>
              </a:rPr>
              <a:t>        101 </a:t>
            </a:r>
          </a:p>
          <a:p>
            <a:r>
              <a:rPr lang="en-US" sz="2000" dirty="0">
                <a:latin typeface="Lucida Console" pitchFamily="49" charset="0"/>
              </a:rPr>
              <a:t>        1010</a:t>
            </a:r>
          </a:p>
          <a:p>
            <a:r>
              <a:rPr lang="en-US" sz="2000" dirty="0">
                <a:latin typeface="Lucida Console" pitchFamily="49" charset="0"/>
              </a:rPr>
              <a:t>       -1000</a:t>
            </a:r>
          </a:p>
          <a:p>
            <a:r>
              <a:rPr lang="en-US" sz="2000" dirty="0">
                <a:latin typeface="Lucida Console" pitchFamily="49" charset="0"/>
              </a:rPr>
              <a:t>          10</a:t>
            </a:r>
            <a:endParaRPr lang="en-AU" sz="2000" dirty="0">
              <a:latin typeface="Lucida Console" pitchFamily="49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088" y="5376863"/>
            <a:ext cx="37112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Toán</a:t>
            </a:r>
            <a:r>
              <a:rPr kumimoji="0" lang="en-US" sz="1800" b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hạng </a:t>
            </a:r>
            <a:r>
              <a:rPr kumimoji="0" lang="en-US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-bit cho</a:t>
            </a:r>
            <a:r>
              <a:rPr kumimoji="0" lang="en-US" sz="1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kết quả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-bit</a:t>
            </a:r>
            <a:b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</a:br>
            <a:r>
              <a:rPr lang="en-US" kern="0" smtClean="0">
                <a:solidFill>
                  <a:sysClr val="windowText" lastClr="000000"/>
                </a:solidFill>
              </a:rPr>
              <a:t>thương số và số dư</a:t>
            </a:r>
            <a:endParaRPr kumimoji="0" lang="en-AU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AutoShape 8"/>
          <p:cNvSpPr>
            <a:spLocks/>
          </p:cNvSpPr>
          <p:nvPr/>
        </p:nvSpPr>
        <p:spPr bwMode="auto">
          <a:xfrm>
            <a:off x="684213" y="1447800"/>
            <a:ext cx="1439862" cy="727075"/>
          </a:xfrm>
          <a:prstGeom prst="borderCallout1">
            <a:avLst>
              <a:gd name="adj1" fmla="val 34616"/>
              <a:gd name="adj2" fmla="val 105292"/>
              <a:gd name="adj3" fmla="val 164609"/>
              <a:gd name="adj4" fmla="val 168678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Quotient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(thương số)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AutoShape 9"/>
          <p:cNvSpPr>
            <a:spLocks/>
          </p:cNvSpPr>
          <p:nvPr/>
        </p:nvSpPr>
        <p:spPr bwMode="auto">
          <a:xfrm>
            <a:off x="684213" y="2276474"/>
            <a:ext cx="1439862" cy="647701"/>
          </a:xfrm>
          <a:prstGeom prst="borderCallout1">
            <a:avLst>
              <a:gd name="adj1" fmla="val 34616"/>
              <a:gd name="adj2" fmla="val 105292"/>
              <a:gd name="adj3" fmla="val 105639"/>
              <a:gd name="adj4" fmla="val 124135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Dividend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(số bị chia)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AutoShape 10"/>
          <p:cNvSpPr>
            <a:spLocks/>
          </p:cNvSpPr>
          <p:nvPr/>
        </p:nvSpPr>
        <p:spPr bwMode="auto">
          <a:xfrm>
            <a:off x="1042988" y="4718050"/>
            <a:ext cx="1150937" cy="579438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Remainder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(số dư)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AutoShape 14"/>
          <p:cNvSpPr>
            <a:spLocks/>
          </p:cNvSpPr>
          <p:nvPr/>
        </p:nvSpPr>
        <p:spPr bwMode="auto">
          <a:xfrm>
            <a:off x="3075998" y="1142999"/>
            <a:ext cx="962602" cy="668337"/>
          </a:xfrm>
          <a:prstGeom prst="borderCallout1">
            <a:avLst>
              <a:gd name="adj1" fmla="val 122728"/>
              <a:gd name="adj2" fmla="val 96793"/>
              <a:gd name="adj3" fmla="val 248220"/>
              <a:gd name="adj4" fmla="val 85049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Divisor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(số chia)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6315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181" y="152400"/>
            <a:ext cx="7793037" cy="776287"/>
          </a:xfrm>
        </p:spPr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Phần cứng thực hiện chia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0EB4-1370-4C3F-864A-52750E8D48FA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19</a:t>
            </a:fld>
            <a:endParaRPr lang="vi-V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3530497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5"/>
          <p:cNvSpPr>
            <a:spLocks/>
          </p:cNvSpPr>
          <p:nvPr/>
        </p:nvSpPr>
        <p:spPr bwMode="auto">
          <a:xfrm>
            <a:off x="6588125" y="5516563"/>
            <a:ext cx="1728788" cy="330200"/>
          </a:xfrm>
          <a:prstGeom prst="borderCallout1">
            <a:avLst>
              <a:gd name="adj1" fmla="val 34616"/>
              <a:gd name="adj2" fmla="val -4407"/>
              <a:gd name="adj3" fmla="val -157213"/>
              <a:gd name="adj4" fmla="val -32139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Initially dividend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AutoShape 6"/>
          <p:cNvSpPr>
            <a:spLocks/>
          </p:cNvSpPr>
          <p:nvPr/>
        </p:nvSpPr>
        <p:spPr bwMode="auto">
          <a:xfrm>
            <a:off x="7092950" y="1484313"/>
            <a:ext cx="1584325" cy="576262"/>
          </a:xfrm>
          <a:prstGeom prst="borderCallout1">
            <a:avLst>
              <a:gd name="adj1" fmla="val 19833"/>
              <a:gd name="adj2" fmla="val -4810"/>
              <a:gd name="adj3" fmla="val 155648"/>
              <a:gd name="adj4" fmla="val -34468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Initially divisor in left half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0" name="Picture 7" descr="f03-09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349500"/>
            <a:ext cx="442595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69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Thực</a:t>
            </a:r>
            <a:r>
              <a:rPr lang="en-US" sz="2800" dirty="0" smtClean="0"/>
              <a:t> </a:t>
            </a:r>
            <a:r>
              <a:rPr lang="en-US" sz="2800" dirty="0" err="1" smtClean="0"/>
              <a:t>hiện</a:t>
            </a:r>
            <a:r>
              <a:rPr lang="en-US" sz="2800" dirty="0" smtClean="0"/>
              <a:t> </a:t>
            </a:r>
            <a:r>
              <a:rPr lang="en-US" sz="2800" dirty="0" err="1" smtClean="0"/>
              <a:t>phép</a:t>
            </a:r>
            <a:r>
              <a:rPr lang="en-US" sz="2800" smtClean="0"/>
              <a:t> chia 7</a:t>
            </a:r>
            <a:r>
              <a:rPr lang="en-US" sz="2800" baseline="-25000" smtClean="0"/>
              <a:t>10</a:t>
            </a:r>
            <a:r>
              <a:rPr lang="en-US" sz="2800" smtClean="0"/>
              <a:t>/2</a:t>
            </a:r>
            <a:r>
              <a:rPr lang="en-US" sz="2800" baseline="-25000" smtClean="0"/>
              <a:t>10</a:t>
            </a:r>
            <a:endParaRPr lang="en-GB" sz="2800" baseline="-25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DE74-596C-4F56-AA77-191B93A56D8E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134863" y="2389799"/>
            <a:ext cx="6874274" cy="387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2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chia cải thiện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B6E8-79EA-42A3-98D7-203BD61F0384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21</a:t>
            </a:fld>
            <a:endParaRPr lang="vi-V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5340559" cy="272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84213" y="4583113"/>
            <a:ext cx="8270875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smtClean="0"/>
              <a:t>Một chu kỳ cho mỗi phép trừ thành phần</a:t>
            </a:r>
          </a:p>
          <a:p>
            <a:r>
              <a:rPr lang="en-US" sz="2800" smtClean="0"/>
              <a:t>Tương tự rất nhiều với bộ nhân</a:t>
            </a:r>
          </a:p>
          <a:p>
            <a:pPr lvl="1"/>
            <a:r>
              <a:rPr lang="en-US" sz="2400" smtClean="0"/>
              <a:t>Có thể dùng cùng một phần cứng cho cả 2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319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chia nhanh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A5A4-1597-4AD7-A53F-D7687DFB8ABE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22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Không thể thực hiện song song như trong bộ nhân</a:t>
            </a:r>
            <a:endParaRPr lang="en-US"/>
          </a:p>
          <a:p>
            <a:pPr lvl="1"/>
            <a:r>
              <a:rPr lang="en-US" smtClean="0"/>
              <a:t>Dấu trong mỗi phép trừ thành phần là điều kiện</a:t>
            </a:r>
            <a:endParaRPr lang="en-US"/>
          </a:p>
          <a:p>
            <a:r>
              <a:rPr lang="en-US" smtClean="0"/>
              <a:t>Có thể tạo bộ chia nhanh </a:t>
            </a:r>
            <a:r>
              <a:rPr lang="en-US"/>
              <a:t>(e.g. SRT devision</a:t>
            </a:r>
            <a:r>
              <a:rPr lang="en-US" smtClean="0"/>
              <a:t>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59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Lệnh chia trong MIPS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66-F588-4D2A-A033-F4162C00AA56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23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Thanh ghi </a:t>
            </a:r>
            <a:r>
              <a:rPr lang="en-US"/>
              <a:t>HI/LO </a:t>
            </a:r>
            <a:r>
              <a:rPr lang="en-US" smtClean="0"/>
              <a:t>chứa kết quả phép chia</a:t>
            </a:r>
            <a:endParaRPr lang="en-US"/>
          </a:p>
          <a:p>
            <a:pPr lvl="1"/>
            <a:r>
              <a:rPr lang="en-US"/>
              <a:t>HI: 32-bit </a:t>
            </a:r>
            <a:r>
              <a:rPr lang="en-US" smtClean="0"/>
              <a:t>số dư (remainder)</a:t>
            </a:r>
            <a:endParaRPr lang="en-US"/>
          </a:p>
          <a:p>
            <a:pPr lvl="1"/>
            <a:r>
              <a:rPr lang="en-US"/>
              <a:t>LO: 32-bit </a:t>
            </a:r>
            <a:r>
              <a:rPr lang="en-US" smtClean="0"/>
              <a:t>(kết quả) quotient</a:t>
            </a:r>
            <a:endParaRPr lang="en-US"/>
          </a:p>
          <a:p>
            <a:r>
              <a:rPr lang="en-US" smtClean="0"/>
              <a:t>Lệnh trong MIP</a:t>
            </a:r>
            <a:endParaRPr lang="en-US"/>
          </a:p>
          <a:p>
            <a:pPr lvl="1"/>
            <a:r>
              <a:rPr lang="en-US">
                <a:latin typeface="Lucida Console" pitchFamily="49" charset="0"/>
              </a:rPr>
              <a:t>div rs, rt  /  divu rs, rt</a:t>
            </a:r>
          </a:p>
          <a:p>
            <a:pPr lvl="1"/>
            <a:r>
              <a:rPr lang="en-US" smtClean="0"/>
              <a:t>Không kiểm tra tràn hoặc lỗi /0</a:t>
            </a:r>
            <a:endParaRPr lang="en-US"/>
          </a:p>
          <a:p>
            <a:pPr lvl="2"/>
            <a:r>
              <a:rPr lang="en-US" smtClean="0"/>
              <a:t>Nếu có yêu cầu, phần mềm phải tự thực hiện</a:t>
            </a:r>
            <a:endParaRPr lang="en-US"/>
          </a:p>
          <a:p>
            <a:pPr lvl="1"/>
            <a:r>
              <a:rPr lang="en-US" smtClean="0"/>
              <a:t>Sử dụng lệnh </a:t>
            </a:r>
            <a:r>
              <a:rPr lang="en-US">
                <a:latin typeface="Lucida Console" pitchFamily="49" charset="0"/>
              </a:rPr>
              <a:t>mfhi</a:t>
            </a:r>
            <a:r>
              <a:rPr lang="en-US"/>
              <a:t>, </a:t>
            </a:r>
            <a:r>
              <a:rPr lang="en-US">
                <a:latin typeface="Lucida Console" pitchFamily="49" charset="0"/>
              </a:rPr>
              <a:t>mflo</a:t>
            </a:r>
            <a:r>
              <a:rPr lang="en-US"/>
              <a:t> </a:t>
            </a:r>
            <a:r>
              <a:rPr lang="en-US" smtClean="0"/>
              <a:t>để lấy kết quả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6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Dấu chấm di động </a:t>
            </a:r>
            <a:r>
              <a:rPr lang="en-US" sz="2400" b="1" smtClean="0">
                <a:solidFill>
                  <a:srgbClr val="0039A6"/>
                </a:solidFill>
                <a:latin typeface="Arial"/>
              </a:rPr>
              <a:t>(Floating Point)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98E52-D39D-49B2-83D1-4F2F5F045FB4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24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539452" cy="4953000"/>
          </a:xfrm>
        </p:spPr>
        <p:txBody>
          <a:bodyPr/>
          <a:lstStyle/>
          <a:p>
            <a:r>
              <a:rPr lang="en-US" smtClean="0"/>
              <a:t>Biểu diễn các số khác số nguyên (số thực)</a:t>
            </a:r>
            <a:endParaRPr lang="en-US" dirty="0"/>
          </a:p>
          <a:p>
            <a:pPr lvl="1"/>
            <a:r>
              <a:rPr lang="en-US" smtClean="0"/>
              <a:t>Bao gồm cả số rất nhỏ lẫn số rất lớn</a:t>
            </a:r>
            <a:endParaRPr lang="en-US" dirty="0"/>
          </a:p>
          <a:p>
            <a:r>
              <a:rPr lang="en-US" smtClean="0"/>
              <a:t>Giống như biểu diễn số trong khoa học</a:t>
            </a:r>
            <a:endParaRPr lang="en-US" dirty="0"/>
          </a:p>
          <a:p>
            <a:pPr lvl="1"/>
            <a:r>
              <a:rPr lang="en-US" dirty="0"/>
              <a:t>–2.34 × 10</a:t>
            </a:r>
            <a:r>
              <a:rPr lang="en-US" baseline="30000" dirty="0"/>
              <a:t>56</a:t>
            </a:r>
            <a:endParaRPr lang="en-US" dirty="0"/>
          </a:p>
          <a:p>
            <a:pPr lvl="1"/>
            <a:r>
              <a:rPr lang="en-US" dirty="0"/>
              <a:t>+0.002 × 10</a:t>
            </a:r>
            <a:r>
              <a:rPr lang="en-US" baseline="30000" dirty="0"/>
              <a:t>–4</a:t>
            </a:r>
            <a:endParaRPr lang="en-US" dirty="0"/>
          </a:p>
          <a:p>
            <a:pPr lvl="1"/>
            <a:r>
              <a:rPr lang="en-US" dirty="0"/>
              <a:t>+987.02 × 10</a:t>
            </a:r>
            <a:r>
              <a:rPr lang="en-US" baseline="30000" dirty="0"/>
              <a:t>9</a:t>
            </a:r>
            <a:endParaRPr lang="en-US" dirty="0"/>
          </a:p>
          <a:p>
            <a:r>
              <a:rPr lang="en-US" smtClean="0"/>
              <a:t>Kiểu nhị phân</a:t>
            </a:r>
            <a:endParaRPr lang="en-US" dirty="0"/>
          </a:p>
          <a:p>
            <a:pPr lvl="1"/>
            <a:r>
              <a:rPr lang="en-US" dirty="0">
                <a:cs typeface="Arial" charset="0"/>
              </a:rPr>
              <a:t>±1.</a:t>
            </a:r>
            <a:r>
              <a:rPr lang="en-US" i="1" dirty="0">
                <a:cs typeface="Arial" charset="0"/>
              </a:rPr>
              <a:t>xxxxxxx</a:t>
            </a:r>
            <a:r>
              <a:rPr lang="en-US" baseline="-25000" dirty="0">
                <a:cs typeface="Arial" charset="0"/>
              </a:rPr>
              <a:t>2</a:t>
            </a:r>
            <a:r>
              <a:rPr lang="en-US" dirty="0">
                <a:cs typeface="Arial" charset="0"/>
              </a:rPr>
              <a:t> × 2</a:t>
            </a:r>
            <a:r>
              <a:rPr lang="en-US" i="1" baseline="30000" dirty="0">
                <a:cs typeface="Arial" charset="0"/>
              </a:rPr>
              <a:t>yyyy</a:t>
            </a:r>
          </a:p>
          <a:p>
            <a:r>
              <a:rPr lang="en-US" smtClean="0"/>
              <a:t>Kiểu </a:t>
            </a:r>
            <a:r>
              <a:rPr lang="en-US">
                <a:latin typeface="Lucida Console" pitchFamily="49" charset="0"/>
              </a:rPr>
              <a:t>float</a:t>
            </a:r>
            <a:r>
              <a:rPr lang="en-US"/>
              <a:t> </a:t>
            </a:r>
            <a:r>
              <a:rPr lang="en-US" smtClean="0"/>
              <a:t>và </a:t>
            </a:r>
            <a:r>
              <a:rPr lang="en-US">
                <a:latin typeface="Lucida Console" pitchFamily="49" charset="0"/>
              </a:rPr>
              <a:t>double</a:t>
            </a:r>
            <a:r>
              <a:rPr lang="en-US"/>
              <a:t> </a:t>
            </a:r>
            <a:r>
              <a:rPr lang="en-US" smtClean="0"/>
              <a:t>trong ngôn ngữ </a:t>
            </a:r>
            <a:r>
              <a:rPr lang="en-US" dirty="0"/>
              <a:t>C</a:t>
            </a:r>
            <a:endParaRPr lang="en-A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009899"/>
            <a:ext cx="29749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91" y="3616036"/>
            <a:ext cx="3724275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913691"/>
            <a:ext cx="15970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8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mtClean="0">
                <a:solidFill>
                  <a:srgbClr val="0039A6"/>
                </a:solidFill>
                <a:latin typeface="Arial"/>
              </a:rPr>
              <a:t>Chuẩn của hệ thống số chấm di động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2A63A-2870-4AB7-B01F-FA154672F710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70991"/>
            <a:ext cx="8040688" cy="4853609"/>
          </a:xfrm>
        </p:spPr>
        <p:txBody>
          <a:bodyPr/>
          <a:lstStyle/>
          <a:p>
            <a:pPr algn="just"/>
            <a:r>
              <a:rPr lang="en-US" smtClean="0"/>
              <a:t>Định chuẩn bởi Tổ chức IEEE(754-1985)</a:t>
            </a:r>
            <a:endParaRPr lang="en-US"/>
          </a:p>
          <a:p>
            <a:pPr algn="just"/>
            <a:r>
              <a:rPr lang="en-US" smtClean="0"/>
              <a:t>Được phát triển nhằm đáp ứng tiêu chuẩn trình bày thống nhất</a:t>
            </a:r>
            <a:endParaRPr lang="en-US"/>
          </a:p>
          <a:p>
            <a:pPr lvl="1" algn="just"/>
            <a:r>
              <a:rPr lang="en-US" smtClean="0"/>
              <a:t>Dễ sử dụng và chuyển đổi giữa các bộ mã trong khoa học</a:t>
            </a:r>
          </a:p>
          <a:p>
            <a:pPr algn="just"/>
            <a:r>
              <a:rPr lang="en-US" smtClean="0"/>
              <a:t>Hiện nay trở thành thông dụng</a:t>
            </a:r>
          </a:p>
          <a:p>
            <a:pPr algn="just"/>
            <a:r>
              <a:rPr lang="en-US" smtClean="0"/>
              <a:t>Tồn tại 2 cách biểu diễn</a:t>
            </a:r>
          </a:p>
          <a:p>
            <a:pPr lvl="1" algn="just"/>
            <a:r>
              <a:rPr lang="en-US" smtClean="0"/>
              <a:t>Chính xác đơn(32-bit</a:t>
            </a:r>
            <a:r>
              <a:rPr lang="en-US"/>
              <a:t>)</a:t>
            </a:r>
          </a:p>
          <a:p>
            <a:pPr lvl="1" algn="just"/>
            <a:r>
              <a:rPr lang="en-US" smtClean="0"/>
              <a:t>Chính xác kép </a:t>
            </a:r>
            <a:r>
              <a:rPr lang="en-US"/>
              <a:t>(64-bit)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55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Dạng định chuẩn theo IEEE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428C-4C2A-4CE7-ADD0-6B45DF45551D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26</a:t>
            </a:fld>
            <a:endParaRPr lang="vi-VN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5736833" cy="1359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82" y="2635395"/>
            <a:ext cx="58674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11"/>
          <p:cNvSpPr txBox="1">
            <a:spLocks noChangeArrowheads="1"/>
          </p:cNvSpPr>
          <p:nvPr/>
        </p:nvSpPr>
        <p:spPr bwMode="auto">
          <a:xfrm>
            <a:off x="684213" y="3573463"/>
            <a:ext cx="8270875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 smtClean="0"/>
              <a:t>S: bit </a:t>
            </a:r>
            <a:r>
              <a:rPr lang="en-US" sz="2400" dirty="0" err="1" smtClean="0"/>
              <a:t>dấu</a:t>
            </a:r>
            <a:r>
              <a:rPr lang="en-US" sz="2400" dirty="0" smtClean="0"/>
              <a:t>  (0 </a:t>
            </a:r>
            <a:r>
              <a:rPr lang="en-US" sz="2400" dirty="0" smtClean="0">
                <a:sym typeface="Symbol" pitchFamily="18" charset="2"/>
              </a:rPr>
              <a:t> (+) , 1  (-))</a:t>
            </a:r>
          </a:p>
          <a:p>
            <a:pPr>
              <a:lnSpc>
                <a:spcPct val="80000"/>
              </a:lnSpc>
            </a:pPr>
            <a:r>
              <a:rPr lang="en-US" sz="2400" dirty="0" smtClean="0">
                <a:sym typeface="Symbol" pitchFamily="18" charset="2"/>
              </a:rPr>
              <a:t>Normalize significand: 1.0 ≤ |significand| &lt; 2.0</a:t>
            </a:r>
          </a:p>
          <a:p>
            <a:pPr lvl="1">
              <a:lnSpc>
                <a:spcPct val="80000"/>
              </a:lnSpc>
            </a:pPr>
            <a:r>
              <a:rPr lang="en-US" sz="2000" dirty="0" err="1" smtClean="0">
                <a:sym typeface="Symbol" pitchFamily="18" charset="2"/>
              </a:rPr>
              <a:t>Luôn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có</a:t>
            </a:r>
            <a:r>
              <a:rPr lang="en-US" sz="2000" dirty="0" smtClean="0">
                <a:sym typeface="Symbol" pitchFamily="18" charset="2"/>
              </a:rPr>
              <a:t> 1 bit </a:t>
            </a:r>
            <a:r>
              <a:rPr lang="en-US" sz="2000" dirty="0" err="1" smtClean="0">
                <a:sym typeface="Symbol" pitchFamily="18" charset="2"/>
              </a:rPr>
              <a:t>trước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dấu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chấm</a:t>
            </a:r>
            <a:r>
              <a:rPr lang="en-US" sz="2000" dirty="0" smtClean="0">
                <a:sym typeface="Symbol" pitchFamily="18" charset="2"/>
              </a:rPr>
              <a:t>, </a:t>
            </a:r>
            <a:r>
              <a:rPr lang="en-US" sz="2000" dirty="0" err="1" smtClean="0">
                <a:sym typeface="Symbol" pitchFamily="18" charset="2"/>
              </a:rPr>
              <a:t>nên</a:t>
            </a:r>
            <a:r>
              <a:rPr lang="en-US" sz="2000" dirty="0" smtClean="0">
                <a:sym typeface="Symbol" pitchFamily="18" charset="2"/>
              </a:rPr>
              <a:t> bit </a:t>
            </a:r>
            <a:r>
              <a:rPr lang="en-US" sz="2000" dirty="0" err="1" smtClean="0">
                <a:sym typeface="Symbol" pitchFamily="18" charset="2"/>
              </a:rPr>
              <a:t>này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thường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ẩn</a:t>
            </a:r>
            <a:endParaRPr lang="en-US" sz="2000" dirty="0" smtClean="0">
              <a:sym typeface="Symbol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sz="2000" dirty="0" smtClean="0">
                <a:sym typeface="Symbol" pitchFamily="18" charset="2"/>
              </a:rPr>
              <a:t>Significand is Fraction with the “1.” restored</a:t>
            </a:r>
          </a:p>
          <a:p>
            <a:pPr>
              <a:lnSpc>
                <a:spcPct val="80000"/>
              </a:lnSpc>
            </a:pPr>
            <a:r>
              <a:rPr lang="en-US" sz="2400" dirty="0" smtClean="0">
                <a:sym typeface="Symbol" pitchFamily="18" charset="2"/>
              </a:rPr>
              <a:t>Exponent: excess representation: actual exponent + Bias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>
                <a:sym typeface="Symbol" pitchFamily="18" charset="2"/>
              </a:rPr>
              <a:t>Ensures exponent is unsigned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>
                <a:sym typeface="Symbol" pitchFamily="18" charset="2"/>
              </a:rPr>
              <a:t>Single: Bias = 127; Double: Bias = </a:t>
            </a:r>
            <a:r>
              <a:rPr lang="en-US" sz="2000" dirty="0" smtClean="0">
                <a:sym typeface="Symbol" pitchFamily="18" charset="2"/>
              </a:rPr>
              <a:t>1023</a:t>
            </a:r>
            <a:endParaRPr lang="en-US" sz="20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8383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Tầm giá trị với độ chính xác đơn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614-8783-4C12-AEC5-956A4ECD0C16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27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876800"/>
          </a:xfrm>
        </p:spPr>
        <p:txBody>
          <a:bodyPr/>
          <a:lstStyle/>
          <a:p>
            <a:r>
              <a:rPr lang="en-US" sz="2400" smtClean="0"/>
              <a:t>Giá trị (Exponents) </a:t>
            </a:r>
            <a:r>
              <a:rPr lang="en-US" sz="2400"/>
              <a:t>00000000 </a:t>
            </a:r>
            <a:r>
              <a:rPr lang="en-US" sz="2400" smtClean="0"/>
              <a:t>và </a:t>
            </a:r>
            <a:r>
              <a:rPr lang="en-US" sz="2400"/>
              <a:t>11111111 </a:t>
            </a:r>
            <a:r>
              <a:rPr lang="en-US" sz="2400" smtClean="0"/>
              <a:t>: dự trữ</a:t>
            </a:r>
            <a:endParaRPr lang="en-US" sz="2400" dirty="0"/>
          </a:p>
          <a:p>
            <a:r>
              <a:rPr lang="en-US" sz="2400" smtClean="0"/>
              <a:t>Giá trị nhỏ nhất</a:t>
            </a:r>
            <a:endParaRPr lang="en-US" sz="2400" dirty="0"/>
          </a:p>
          <a:p>
            <a:pPr lvl="1"/>
            <a:r>
              <a:rPr lang="en-US" sz="2000" smtClean="0"/>
              <a:t>Số mũ: </a:t>
            </a:r>
            <a:r>
              <a:rPr lang="en-US" sz="2000" dirty="0"/>
              <a:t>00000001</a:t>
            </a:r>
            <a:br>
              <a:rPr lang="en-US" sz="2000" dirty="0"/>
            </a:br>
            <a:r>
              <a:rPr lang="en-US" sz="2000">
                <a:sym typeface="Symbol" pitchFamily="18" charset="2"/>
              </a:rPr>
              <a:t> </a:t>
            </a:r>
            <a:r>
              <a:rPr lang="en-US" sz="2000" smtClean="0">
                <a:sym typeface="Symbol" pitchFamily="18" charset="2"/>
              </a:rPr>
              <a:t>số mũ thực chất sẽ là </a:t>
            </a:r>
            <a:r>
              <a:rPr lang="en-US" sz="2000" dirty="0">
                <a:sym typeface="Symbol" pitchFamily="18" charset="2"/>
              </a:rPr>
              <a:t>= 1 – 127 = –126</a:t>
            </a:r>
          </a:p>
          <a:p>
            <a:pPr lvl="1"/>
            <a:r>
              <a:rPr lang="en-US" sz="2000" dirty="0">
                <a:sym typeface="Symbol" pitchFamily="18" charset="2"/>
              </a:rPr>
              <a:t>Fraction: 000…00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 </a:t>
            </a:r>
            <a:r>
              <a:rPr lang="en-US" sz="2000" dirty="0" err="1">
                <a:sym typeface="Symbol" pitchFamily="18" charset="2"/>
              </a:rPr>
              <a:t>significand</a:t>
            </a:r>
            <a:r>
              <a:rPr lang="en-US" sz="2000" dirty="0">
                <a:sym typeface="Symbol" pitchFamily="18" charset="2"/>
              </a:rPr>
              <a:t> = 1.0</a:t>
            </a:r>
          </a:p>
          <a:p>
            <a:pPr lvl="1"/>
            <a:r>
              <a:rPr lang="en-US" sz="2000" dirty="0">
                <a:sym typeface="Symbol" pitchFamily="18" charset="2"/>
              </a:rPr>
              <a:t>±1.0 × 2</a:t>
            </a:r>
            <a:r>
              <a:rPr lang="en-US" sz="2000" baseline="30000" dirty="0">
                <a:sym typeface="Symbol" pitchFamily="18" charset="2"/>
              </a:rPr>
              <a:t>–126</a:t>
            </a:r>
            <a:r>
              <a:rPr lang="en-US" sz="2000" dirty="0">
                <a:sym typeface="Symbol" pitchFamily="18" charset="2"/>
              </a:rPr>
              <a:t> ≈ ±1.2 × 10</a:t>
            </a:r>
            <a:r>
              <a:rPr lang="en-US" sz="2000" baseline="30000" dirty="0">
                <a:sym typeface="Symbol" pitchFamily="18" charset="2"/>
              </a:rPr>
              <a:t>–38</a:t>
            </a:r>
          </a:p>
          <a:p>
            <a:r>
              <a:rPr lang="en-US" sz="2400" smtClean="0">
                <a:sym typeface="Symbol" pitchFamily="18" charset="2"/>
              </a:rPr>
              <a:t>Giá trị lớn nhất:</a:t>
            </a:r>
            <a:endParaRPr lang="en-US" sz="2400" dirty="0">
              <a:sym typeface="Symbol" pitchFamily="18" charset="2"/>
            </a:endParaRPr>
          </a:p>
          <a:p>
            <a:pPr lvl="1"/>
            <a:r>
              <a:rPr lang="en-US" sz="2000" smtClean="0">
                <a:sym typeface="Symbol" pitchFamily="18" charset="2"/>
              </a:rPr>
              <a:t>Số mũ: </a:t>
            </a:r>
            <a:r>
              <a:rPr lang="en-US" sz="2000" dirty="0">
                <a:sym typeface="Symbol" pitchFamily="18" charset="2"/>
              </a:rPr>
              <a:t>11111110</a:t>
            </a:r>
            <a:br>
              <a:rPr lang="en-US" sz="2000" dirty="0">
                <a:sym typeface="Symbol" pitchFamily="18" charset="2"/>
              </a:rPr>
            </a:br>
            <a:r>
              <a:rPr lang="en-US" sz="2000">
                <a:sym typeface="Symbol" pitchFamily="18" charset="2"/>
              </a:rPr>
              <a:t> </a:t>
            </a:r>
            <a:r>
              <a:rPr lang="en-US" sz="2000" smtClean="0">
                <a:sym typeface="Symbol" pitchFamily="18" charset="2"/>
              </a:rPr>
              <a:t>số mũ thực tế sẽ là </a:t>
            </a:r>
            <a:r>
              <a:rPr lang="en-US" sz="2000" dirty="0">
                <a:sym typeface="Symbol" pitchFamily="18" charset="2"/>
              </a:rPr>
              <a:t>= 254 – 127 = +127</a:t>
            </a:r>
          </a:p>
          <a:p>
            <a:pPr lvl="1"/>
            <a:r>
              <a:rPr lang="en-US" sz="2000" dirty="0">
                <a:sym typeface="Symbol" pitchFamily="18" charset="2"/>
              </a:rPr>
              <a:t>Fraction: 111…11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 </a:t>
            </a:r>
            <a:r>
              <a:rPr lang="en-US" sz="2000" dirty="0" err="1">
                <a:sym typeface="Symbol" pitchFamily="18" charset="2"/>
              </a:rPr>
              <a:t>significand</a:t>
            </a:r>
            <a:r>
              <a:rPr lang="en-US" sz="2000" dirty="0">
                <a:sym typeface="Symbol" pitchFamily="18" charset="2"/>
              </a:rPr>
              <a:t> ≈ 2.0</a:t>
            </a:r>
          </a:p>
          <a:p>
            <a:pPr lvl="1"/>
            <a:r>
              <a:rPr lang="en-US" sz="2000" dirty="0">
                <a:sym typeface="Symbol" pitchFamily="18" charset="2"/>
              </a:rPr>
              <a:t>±2.0 × 2</a:t>
            </a:r>
            <a:r>
              <a:rPr lang="en-US" sz="2000" baseline="30000" dirty="0">
                <a:sym typeface="Symbol" pitchFamily="18" charset="2"/>
              </a:rPr>
              <a:t>+127</a:t>
            </a:r>
            <a:r>
              <a:rPr lang="en-US" sz="2000" dirty="0">
                <a:sym typeface="Symbol" pitchFamily="18" charset="2"/>
              </a:rPr>
              <a:t> ≈ ±3.4 × 10</a:t>
            </a:r>
            <a:r>
              <a:rPr lang="en-US" sz="2000" baseline="30000" dirty="0">
                <a:sym typeface="Symbol" pitchFamily="18" charset="2"/>
              </a:rPr>
              <a:t>+38</a:t>
            </a:r>
          </a:p>
        </p:txBody>
      </p:sp>
    </p:spTree>
    <p:extLst>
      <p:ext uri="{BB962C8B-B14F-4D97-AF65-F5344CB8AC3E}">
        <p14:creationId xmlns:p14="http://schemas.microsoft.com/office/powerpoint/2010/main" val="404075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Mức độ chính xác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28AD-C77A-4D56-BEB5-F9B660C346B4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28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Mang tính tương đối</a:t>
            </a:r>
            <a:endParaRPr lang="en-US"/>
          </a:p>
          <a:p>
            <a:pPr lvl="1"/>
            <a:r>
              <a:rPr lang="en-US" smtClean="0"/>
              <a:t>Xác định bởi các bit fraction</a:t>
            </a:r>
            <a:endParaRPr lang="en-US"/>
          </a:p>
          <a:p>
            <a:pPr lvl="1"/>
            <a:r>
              <a:rPr lang="en-US" smtClean="0"/>
              <a:t>Đơn: khoảng </a:t>
            </a:r>
            <a:r>
              <a:rPr lang="en-US"/>
              <a:t>2</a:t>
            </a:r>
            <a:r>
              <a:rPr lang="en-US" baseline="30000"/>
              <a:t>–23</a:t>
            </a:r>
          </a:p>
          <a:p>
            <a:pPr lvl="2"/>
            <a:r>
              <a:rPr lang="en-US" smtClean="0"/>
              <a:t>Tương đương với </a:t>
            </a:r>
            <a:r>
              <a:rPr lang="en-US"/>
              <a:t>23 × log</a:t>
            </a:r>
            <a:r>
              <a:rPr lang="en-US" baseline="-25000"/>
              <a:t>10</a:t>
            </a:r>
            <a:r>
              <a:rPr lang="en-US"/>
              <a:t>2 ≈ 23 × 0.3 ≈ </a:t>
            </a:r>
            <a:r>
              <a:rPr lang="en-US" smtClean="0"/>
              <a:t>6:</a:t>
            </a:r>
          </a:p>
          <a:p>
            <a:pPr marL="914400" lvl="2" indent="0">
              <a:buNone/>
            </a:pPr>
            <a:r>
              <a:rPr lang="en-US"/>
              <a:t> </a:t>
            </a:r>
            <a:r>
              <a:rPr lang="en-US" smtClean="0"/>
              <a:t>  chính xác đến 6 số (hệ thập phân)</a:t>
            </a:r>
            <a:endParaRPr lang="en-US"/>
          </a:p>
          <a:p>
            <a:pPr lvl="1"/>
            <a:r>
              <a:rPr lang="en-US" smtClean="0"/>
              <a:t>Kép: khoảng </a:t>
            </a:r>
            <a:r>
              <a:rPr lang="en-US"/>
              <a:t>2</a:t>
            </a:r>
            <a:r>
              <a:rPr lang="en-US" baseline="30000"/>
              <a:t>–52</a:t>
            </a:r>
          </a:p>
          <a:p>
            <a:pPr lvl="2"/>
            <a:r>
              <a:rPr lang="en-US" smtClean="0"/>
              <a:t>Tương đương với </a:t>
            </a:r>
            <a:r>
              <a:rPr lang="en-US"/>
              <a:t>52 × log</a:t>
            </a:r>
            <a:r>
              <a:rPr lang="en-US" baseline="-25000"/>
              <a:t>10</a:t>
            </a:r>
            <a:r>
              <a:rPr lang="en-US"/>
              <a:t>2 ≈ 52 × 0.3 ≈ </a:t>
            </a:r>
            <a:r>
              <a:rPr lang="en-US" smtClean="0"/>
              <a:t>16:</a:t>
            </a:r>
          </a:p>
          <a:p>
            <a:pPr marL="914400" lvl="2" indent="0">
              <a:buNone/>
            </a:pPr>
            <a:r>
              <a:rPr lang="en-US"/>
              <a:t> </a:t>
            </a:r>
            <a:r>
              <a:rPr lang="en-US" smtClean="0"/>
              <a:t>  chính xác đến 16 số (hệ thập phân)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8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 to IEEE </a:t>
            </a:r>
            <a:r>
              <a:rPr lang="en-GB" smtClean="0"/>
              <a:t>754 Conversion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Step 1: Decide S</a:t>
            </a:r>
          </a:p>
          <a:p>
            <a:r>
              <a:rPr lang="en-GB" dirty="0" smtClean="0"/>
              <a:t>Step 2: Decide Fraction</a:t>
            </a:r>
          </a:p>
          <a:p>
            <a:pPr lvl="1"/>
            <a:r>
              <a:rPr lang="en-GB" dirty="0" smtClean="0"/>
              <a:t>Convert the integer part to Binary</a:t>
            </a:r>
          </a:p>
          <a:p>
            <a:pPr lvl="1"/>
            <a:r>
              <a:rPr lang="en-GB" dirty="0" smtClean="0"/>
              <a:t>Convert the fractional part to Binary</a:t>
            </a:r>
          </a:p>
          <a:p>
            <a:pPr lvl="1"/>
            <a:r>
              <a:rPr lang="en-GB" dirty="0" smtClean="0"/>
              <a:t>Adjust the integer and fractional parts according the Significand format (1.xxx)</a:t>
            </a:r>
          </a:p>
          <a:p>
            <a:r>
              <a:rPr lang="en-GB" dirty="0" smtClean="0"/>
              <a:t>Step 3: Decide exponent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4DE74-596C-4F56-AA77-191B93A56D8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3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Dấu chấm di động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61E1-BC48-4609-B3C7-9B6B24364717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30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Biểu diễn số thực thập phân: </a:t>
            </a:r>
            <a:r>
              <a:rPr lang="en-US"/>
              <a:t>–0.75</a:t>
            </a:r>
          </a:p>
          <a:p>
            <a:pPr lvl="1"/>
            <a:r>
              <a:rPr lang="en-US"/>
              <a:t>–0.75 = (–1)</a:t>
            </a:r>
            <a:r>
              <a:rPr lang="en-US" baseline="30000"/>
              <a:t>1</a:t>
            </a:r>
            <a:r>
              <a:rPr lang="en-US"/>
              <a:t> × 1.1</a:t>
            </a:r>
            <a:r>
              <a:rPr lang="en-US" baseline="-25000"/>
              <a:t>2</a:t>
            </a:r>
            <a:r>
              <a:rPr lang="en-US"/>
              <a:t> × 2</a:t>
            </a:r>
            <a:r>
              <a:rPr lang="en-US" baseline="30000"/>
              <a:t>–1</a:t>
            </a:r>
          </a:p>
          <a:p>
            <a:pPr lvl="1"/>
            <a:r>
              <a:rPr lang="en-US"/>
              <a:t>S = </a:t>
            </a:r>
            <a:r>
              <a:rPr lang="en-US">
                <a:solidFill>
                  <a:schemeClr val="hlink"/>
                </a:solidFill>
              </a:rPr>
              <a:t>1</a:t>
            </a:r>
          </a:p>
          <a:p>
            <a:pPr lvl="1"/>
            <a:r>
              <a:rPr lang="en-US"/>
              <a:t>Fraction = </a:t>
            </a:r>
            <a:r>
              <a:rPr lang="en-US">
                <a:solidFill>
                  <a:schemeClr val="tx2"/>
                </a:solidFill>
              </a:rPr>
              <a:t>1000…00</a:t>
            </a:r>
            <a:r>
              <a:rPr lang="en-US" baseline="-25000"/>
              <a:t>2</a:t>
            </a:r>
            <a:endParaRPr lang="en-US">
              <a:solidFill>
                <a:schemeClr val="folHlink"/>
              </a:solidFill>
            </a:endParaRPr>
          </a:p>
          <a:p>
            <a:pPr lvl="1"/>
            <a:r>
              <a:rPr lang="en-US"/>
              <a:t>Exponent = –1 + Bias</a:t>
            </a:r>
          </a:p>
          <a:p>
            <a:pPr lvl="2"/>
            <a:r>
              <a:rPr lang="en-US" smtClean="0"/>
              <a:t>Đơn: </a:t>
            </a:r>
            <a:r>
              <a:rPr lang="en-US"/>
              <a:t>–1 + 127 = 126 = </a:t>
            </a:r>
            <a:r>
              <a:rPr lang="en-US">
                <a:solidFill>
                  <a:srgbClr val="008000"/>
                </a:solidFill>
              </a:rPr>
              <a:t>01111110</a:t>
            </a:r>
            <a:r>
              <a:rPr lang="en-US" baseline="-25000"/>
              <a:t>2</a:t>
            </a:r>
            <a:endParaRPr lang="en-US"/>
          </a:p>
          <a:p>
            <a:pPr lvl="2"/>
            <a:r>
              <a:rPr lang="en-US" smtClean="0"/>
              <a:t>Kép: </a:t>
            </a:r>
            <a:r>
              <a:rPr lang="en-US"/>
              <a:t>–1 + 1023 = 1022 = </a:t>
            </a:r>
            <a:r>
              <a:rPr lang="en-US">
                <a:solidFill>
                  <a:srgbClr val="008000"/>
                </a:solidFill>
              </a:rPr>
              <a:t>01111111110</a:t>
            </a:r>
            <a:r>
              <a:rPr lang="en-US" baseline="-25000"/>
              <a:t>2</a:t>
            </a:r>
            <a:endParaRPr lang="en-US"/>
          </a:p>
          <a:p>
            <a:r>
              <a:rPr lang="en-US"/>
              <a:t>Single: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>
                <a:solidFill>
                  <a:srgbClr val="008000"/>
                </a:solidFill>
              </a:rPr>
              <a:t>01111110</a:t>
            </a:r>
            <a:r>
              <a:rPr lang="en-US">
                <a:solidFill>
                  <a:schemeClr val="tx2"/>
                </a:solidFill>
              </a:rPr>
              <a:t>1000…00</a:t>
            </a:r>
          </a:p>
          <a:p>
            <a:r>
              <a:rPr lang="en-US"/>
              <a:t>Double: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>
                <a:solidFill>
                  <a:srgbClr val="008000"/>
                </a:solidFill>
              </a:rPr>
              <a:t>01111111110</a:t>
            </a:r>
            <a:r>
              <a:rPr lang="en-US">
                <a:solidFill>
                  <a:schemeClr val="tx2"/>
                </a:solidFill>
              </a:rPr>
              <a:t>1000…00</a:t>
            </a:r>
          </a:p>
        </p:txBody>
      </p:sp>
    </p:spTree>
    <p:extLst>
      <p:ext uri="{BB962C8B-B14F-4D97-AF65-F5344CB8AC3E}">
        <p14:creationId xmlns:p14="http://schemas.microsoft.com/office/powerpoint/2010/main" val="325338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B732-8574-4923-954C-9546B6D2CD3E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31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7774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Cho biết số thực thập phân của một số biểu diễn bằng dấu chấm di động (đơn) sau:</a:t>
            </a:r>
            <a:endParaRPr 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	1</a:t>
            </a:r>
            <a:r>
              <a:rPr lang="en-US" dirty="0">
                <a:solidFill>
                  <a:srgbClr val="008000"/>
                </a:solidFill>
              </a:rPr>
              <a:t>10000001</a:t>
            </a:r>
            <a:r>
              <a:rPr lang="en-US" dirty="0">
                <a:solidFill>
                  <a:schemeClr val="tx2"/>
                </a:solidFill>
              </a:rPr>
              <a:t>01000…00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 = </a:t>
            </a:r>
            <a:r>
              <a:rPr lang="en-US" dirty="0">
                <a:solidFill>
                  <a:schemeClr val="hlink"/>
                </a:solidFill>
              </a:rPr>
              <a:t>1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Fraction = </a:t>
            </a:r>
            <a:r>
              <a:rPr lang="en-US" dirty="0">
                <a:solidFill>
                  <a:schemeClr val="tx2"/>
                </a:solidFill>
              </a:rPr>
              <a:t>01000…00</a:t>
            </a:r>
            <a:r>
              <a:rPr lang="en-US" baseline="-25000" dirty="0"/>
              <a:t>2</a:t>
            </a:r>
            <a:endParaRPr lang="en-US" dirty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err="1"/>
              <a:t>Fxponent</a:t>
            </a:r>
            <a:r>
              <a:rPr lang="en-US" dirty="0"/>
              <a:t> = </a:t>
            </a:r>
            <a:r>
              <a:rPr lang="en-US" dirty="0">
                <a:solidFill>
                  <a:srgbClr val="008000"/>
                </a:solidFill>
              </a:rPr>
              <a:t>10000001</a:t>
            </a:r>
            <a:r>
              <a:rPr lang="en-US" baseline="-25000" dirty="0"/>
              <a:t>2</a:t>
            </a:r>
            <a:r>
              <a:rPr lang="en-US" dirty="0"/>
              <a:t> = 129</a:t>
            </a:r>
          </a:p>
          <a:p>
            <a:pPr>
              <a:lnSpc>
                <a:spcPct val="90000"/>
              </a:lnSpc>
            </a:pPr>
            <a:r>
              <a:rPr lang="en-US" dirty="0"/>
              <a:t>x = (–1)</a:t>
            </a:r>
            <a:r>
              <a:rPr lang="en-US" baseline="30000" dirty="0"/>
              <a:t>1</a:t>
            </a:r>
            <a:r>
              <a:rPr lang="en-US" dirty="0"/>
              <a:t> × (1 + 01</a:t>
            </a:r>
            <a:r>
              <a:rPr lang="en-US" baseline="-25000" dirty="0"/>
              <a:t>2</a:t>
            </a:r>
            <a:r>
              <a:rPr lang="en-US" dirty="0"/>
              <a:t>) × 2</a:t>
            </a:r>
            <a:r>
              <a:rPr lang="en-US" baseline="30000" dirty="0"/>
              <a:t>(129 – 127)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= (–1) × 1.25 × 2</a:t>
            </a:r>
            <a:r>
              <a:rPr lang="en-US" baseline="30000" dirty="0"/>
              <a:t>2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= –5.0</a:t>
            </a:r>
          </a:p>
        </p:txBody>
      </p:sp>
    </p:spTree>
    <p:extLst>
      <p:ext uri="{BB962C8B-B14F-4D97-AF65-F5344CB8AC3E}">
        <p14:creationId xmlns:p14="http://schemas.microsoft.com/office/powerpoint/2010/main" val="414037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7793037" cy="1157287"/>
          </a:xfrm>
        </p:spPr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Số vô hạn (Infinities) và</a:t>
            </a:r>
            <a:r>
              <a:rPr lang="en-US" sz="3600" b="1">
                <a:solidFill>
                  <a:srgbClr val="0039A6"/>
                </a:solidFill>
                <a:latin typeface="Arial"/>
              </a:rPr>
              <a:t/>
            </a:r>
            <a:br>
              <a:rPr lang="en-US" sz="3600" b="1">
                <a:solidFill>
                  <a:srgbClr val="0039A6"/>
                </a:solidFill>
                <a:latin typeface="Arial"/>
              </a:rPr>
            </a:br>
            <a:r>
              <a:rPr lang="en-US" sz="3600" b="1">
                <a:solidFill>
                  <a:srgbClr val="0039A6"/>
                </a:solidFill>
                <a:latin typeface="Arial"/>
              </a:rPr>
              <a:t>	</a:t>
            </a:r>
            <a:r>
              <a:rPr lang="en-US" sz="3600" b="1" smtClean="0">
                <a:solidFill>
                  <a:srgbClr val="0039A6"/>
                </a:solidFill>
                <a:latin typeface="Arial"/>
              </a:rPr>
              <a:t>	</a:t>
            </a:r>
            <a:r>
              <a:rPr lang="en-US" sz="3600" b="1">
                <a:solidFill>
                  <a:srgbClr val="0039A6"/>
                </a:solidFill>
                <a:latin typeface="Arial"/>
              </a:rPr>
              <a:t>S</a:t>
            </a:r>
            <a:r>
              <a:rPr lang="en-US" sz="3600" b="1" smtClean="0">
                <a:solidFill>
                  <a:srgbClr val="0039A6"/>
                </a:solidFill>
                <a:latin typeface="Arial"/>
              </a:rPr>
              <a:t>ố không hợp lệ (NaNs)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0DE9-4A07-4FBD-BE1C-CCDBC60172AF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Exponent = 111...1, Fraction = 000...0</a:t>
            </a:r>
          </a:p>
          <a:p>
            <a:pPr lvl="1"/>
            <a:r>
              <a:rPr lang="en-US"/>
              <a:t>±Infinity</a:t>
            </a:r>
          </a:p>
          <a:p>
            <a:pPr lvl="1"/>
            <a:r>
              <a:rPr lang="en-US" smtClean="0"/>
              <a:t>Dùng để kiểm tra kết quả của phép tính</a:t>
            </a:r>
            <a:endParaRPr lang="en-US"/>
          </a:p>
          <a:p>
            <a:r>
              <a:rPr lang="en-US"/>
              <a:t>Exponent = 111...1, Fraction ≠ 000...0</a:t>
            </a:r>
          </a:p>
          <a:p>
            <a:pPr lvl="1"/>
            <a:r>
              <a:rPr lang="en-US"/>
              <a:t>Not-a-Number (NaN)</a:t>
            </a:r>
          </a:p>
          <a:p>
            <a:pPr lvl="1"/>
            <a:r>
              <a:rPr lang="en-US" smtClean="0"/>
              <a:t>Số không hợp lệ</a:t>
            </a:r>
            <a:endParaRPr lang="en-US"/>
          </a:p>
          <a:p>
            <a:pPr lvl="2"/>
            <a:r>
              <a:rPr lang="en-US" smtClean="0"/>
              <a:t>Ví dụ: chia cho zero: </a:t>
            </a:r>
            <a:r>
              <a:rPr lang="en-US"/>
              <a:t>0.0 / 0.0</a:t>
            </a:r>
          </a:p>
          <a:p>
            <a:pPr lvl="1"/>
            <a:r>
              <a:rPr lang="en-US" smtClean="0"/>
              <a:t>Dùng để kiểm tra kết quả của phép tính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7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cộng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57D8D-53C8-472D-BC70-459FBD7DBB50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33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772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Giả sử có phép cộng 2 số thập phân (4 ký số)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9.999 × 10</a:t>
            </a:r>
            <a:r>
              <a:rPr lang="en-US" sz="2400" baseline="30000"/>
              <a:t>1</a:t>
            </a:r>
            <a:r>
              <a:rPr lang="en-US" sz="2400"/>
              <a:t> + 1.610 × 10</a:t>
            </a:r>
            <a:r>
              <a:rPr lang="en-US" sz="2400" baseline="30000"/>
              <a:t>–1</a:t>
            </a:r>
          </a:p>
          <a:p>
            <a:pPr>
              <a:lnSpc>
                <a:spcPct val="90000"/>
              </a:lnSpc>
            </a:pPr>
            <a:r>
              <a:rPr lang="en-US" sz="2800"/>
              <a:t>1. </a:t>
            </a:r>
            <a:r>
              <a:rPr lang="en-US" sz="2800" smtClean="0"/>
              <a:t>Điều chỉnh dấu chấm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Dời số mũ của số nhỏ hơn cho đồng số mũ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9.999 × 10</a:t>
            </a:r>
            <a:r>
              <a:rPr lang="en-US" sz="2400" baseline="30000"/>
              <a:t>1</a:t>
            </a:r>
            <a:r>
              <a:rPr lang="en-US" sz="2400"/>
              <a:t> + 0.016 × 10</a:t>
            </a:r>
            <a:r>
              <a:rPr lang="en-US" sz="2400" baseline="30000"/>
              <a:t>1</a:t>
            </a:r>
          </a:p>
          <a:p>
            <a:pPr>
              <a:lnSpc>
                <a:spcPct val="90000"/>
              </a:lnSpc>
            </a:pPr>
            <a:r>
              <a:rPr lang="en-US" sz="2800"/>
              <a:t>2. </a:t>
            </a:r>
            <a:r>
              <a:rPr lang="en-US" sz="2800" smtClean="0"/>
              <a:t>Cộng hệ số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9.999 × 10</a:t>
            </a:r>
            <a:r>
              <a:rPr lang="en-US" sz="2400" baseline="30000"/>
              <a:t>1</a:t>
            </a:r>
            <a:r>
              <a:rPr lang="en-US" sz="2400"/>
              <a:t> + 0.016 × 10</a:t>
            </a:r>
            <a:r>
              <a:rPr lang="en-US" sz="2400" baseline="30000"/>
              <a:t>1</a:t>
            </a:r>
            <a:r>
              <a:rPr lang="en-US" sz="2400"/>
              <a:t> = 10.015 × 10</a:t>
            </a:r>
            <a:r>
              <a:rPr lang="en-US" sz="2400" baseline="30000"/>
              <a:t>1</a:t>
            </a:r>
          </a:p>
          <a:p>
            <a:pPr>
              <a:lnSpc>
                <a:spcPct val="90000"/>
              </a:lnSpc>
            </a:pPr>
            <a:r>
              <a:rPr lang="en-US" sz="2800"/>
              <a:t>3. </a:t>
            </a:r>
            <a:r>
              <a:rPr lang="en-US" sz="2800" smtClean="0"/>
              <a:t>Chuẩn hóa kết quả &amp; kiểm tra ngưỡng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1.0015 × 10</a:t>
            </a:r>
            <a:r>
              <a:rPr lang="en-US" sz="2400" baseline="30000"/>
              <a:t>2</a:t>
            </a:r>
          </a:p>
          <a:p>
            <a:pPr>
              <a:lnSpc>
                <a:spcPct val="90000"/>
              </a:lnSpc>
            </a:pPr>
            <a:r>
              <a:rPr lang="en-US" sz="2800"/>
              <a:t>4. </a:t>
            </a:r>
            <a:r>
              <a:rPr lang="en-US" sz="2800" smtClean="0"/>
              <a:t>Làm tròn và điều chỉnh nếu cần thiết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1.002 × 10</a:t>
            </a:r>
            <a:r>
              <a:rPr lang="en-US" sz="2400" baseline="30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645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Cộng nhị phân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37CE-04E8-4EC6-A990-98EB7A3E842A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34</a:t>
            </a:fld>
            <a:endParaRPr lang="vi-VN"/>
          </a:p>
        </p:txBody>
      </p:sp>
      <p:sp>
        <p:nvSpPr>
          <p:cNvPr id="9" name="Rectangle 5"/>
          <p:cNvSpPr>
            <a:spLocks noGrp="1" noChangeArrowheads="1"/>
          </p:cNvSpPr>
          <p:nvPr>
            <p:ph idx="1"/>
          </p:nvPr>
        </p:nvSpPr>
        <p:spPr>
          <a:xfrm>
            <a:off x="734291" y="1447800"/>
            <a:ext cx="83820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Giả sử cộng 2 số nhị phân (4 ký số):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1.000</a:t>
            </a:r>
            <a:r>
              <a:rPr lang="en-US" sz="2400" baseline="-25000" dirty="0"/>
              <a:t>2</a:t>
            </a:r>
            <a:r>
              <a:rPr lang="en-US" sz="2400" dirty="0"/>
              <a:t> × 2</a:t>
            </a:r>
            <a:r>
              <a:rPr lang="en-US" sz="2400" baseline="30000" dirty="0"/>
              <a:t>–1</a:t>
            </a:r>
            <a:r>
              <a:rPr lang="en-US" sz="2400" dirty="0"/>
              <a:t> + –1.110</a:t>
            </a:r>
            <a:r>
              <a:rPr lang="en-US" sz="2400" baseline="-25000" dirty="0"/>
              <a:t>2</a:t>
            </a:r>
            <a:r>
              <a:rPr lang="en-US" sz="2400" dirty="0"/>
              <a:t> × 2</a:t>
            </a:r>
            <a:r>
              <a:rPr lang="en-US" sz="2400" baseline="30000" dirty="0"/>
              <a:t>–2</a:t>
            </a:r>
            <a:r>
              <a:rPr lang="en-US" sz="2400" dirty="0"/>
              <a:t> (0.5 + –0.4375)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1</a:t>
            </a:r>
            <a:r>
              <a:rPr lang="en-US" sz="2800"/>
              <a:t>. </a:t>
            </a:r>
            <a:r>
              <a:rPr lang="en-US" sz="2800">
                <a:solidFill>
                  <a:srgbClr val="000000"/>
                </a:solidFill>
              </a:rPr>
              <a:t>Điều chỉnh dấu </a:t>
            </a:r>
            <a:r>
              <a:rPr lang="en-US" sz="2800" smtClean="0">
                <a:solidFill>
                  <a:srgbClr val="000000"/>
                </a:solidFill>
              </a:rPr>
              <a:t>chấm</a:t>
            </a:r>
            <a:endParaRPr lang="en-US" sz="2800" smtClean="0"/>
          </a:p>
          <a:p>
            <a:pPr lvl="1">
              <a:lnSpc>
                <a:spcPct val="90000"/>
              </a:lnSpc>
              <a:buClr>
                <a:srgbClr val="FF0000"/>
              </a:buClr>
            </a:pPr>
            <a:r>
              <a:rPr lang="en-US" sz="2400">
                <a:solidFill>
                  <a:srgbClr val="000000"/>
                </a:solidFill>
              </a:rPr>
              <a:t>Dời số mũ của số nhỏ hơn cho đồng số </a:t>
            </a:r>
            <a:r>
              <a:rPr lang="en-US" sz="2400" smtClean="0">
                <a:solidFill>
                  <a:srgbClr val="000000"/>
                </a:solidFill>
              </a:rPr>
              <a:t>mũ</a:t>
            </a:r>
            <a:endParaRPr lang="en-US" sz="2400" smtClean="0"/>
          </a:p>
          <a:p>
            <a:pPr lvl="1">
              <a:lnSpc>
                <a:spcPct val="90000"/>
              </a:lnSpc>
            </a:pPr>
            <a:r>
              <a:rPr lang="en-US" sz="2400" smtClean="0"/>
              <a:t>1.000</a:t>
            </a:r>
            <a:r>
              <a:rPr lang="en-US" sz="2400" baseline="-25000" smtClean="0"/>
              <a:t>2</a:t>
            </a:r>
            <a:r>
              <a:rPr lang="en-US" sz="2400" smtClean="0"/>
              <a:t> </a:t>
            </a:r>
            <a:r>
              <a:rPr lang="en-US" sz="2400" dirty="0"/>
              <a:t>× 2</a:t>
            </a:r>
            <a:r>
              <a:rPr lang="en-US" sz="2400" baseline="30000" dirty="0"/>
              <a:t>–1</a:t>
            </a:r>
            <a:r>
              <a:rPr lang="en-US" sz="2400" dirty="0"/>
              <a:t> + –0.111</a:t>
            </a:r>
            <a:r>
              <a:rPr lang="en-US" sz="2400" baseline="-25000" dirty="0"/>
              <a:t>2</a:t>
            </a:r>
            <a:r>
              <a:rPr lang="en-US" sz="2400" dirty="0"/>
              <a:t> × 2</a:t>
            </a:r>
            <a:r>
              <a:rPr lang="en-US" sz="2400" baseline="30000" dirty="0"/>
              <a:t>–1</a:t>
            </a:r>
          </a:p>
          <a:p>
            <a:pPr lvl="0">
              <a:lnSpc>
                <a:spcPct val="90000"/>
              </a:lnSpc>
              <a:buClr>
                <a:srgbClr val="3333CC"/>
              </a:buClr>
            </a:pPr>
            <a:r>
              <a:rPr lang="en-US" sz="2800" dirty="0"/>
              <a:t>2</a:t>
            </a:r>
            <a:r>
              <a:rPr lang="en-US" sz="2800"/>
              <a:t>. </a:t>
            </a:r>
            <a:r>
              <a:rPr lang="en-US" sz="2800">
                <a:solidFill>
                  <a:srgbClr val="000000"/>
                </a:solidFill>
              </a:rPr>
              <a:t>Cộng hệ </a:t>
            </a:r>
            <a:r>
              <a:rPr lang="en-US" sz="2800" smtClean="0">
                <a:solidFill>
                  <a:srgbClr val="000000"/>
                </a:solidFill>
              </a:rPr>
              <a:t>số</a:t>
            </a:r>
            <a:endParaRPr lang="en-US" sz="2800" smtClean="0"/>
          </a:p>
          <a:p>
            <a:pPr lvl="1">
              <a:lnSpc>
                <a:spcPct val="90000"/>
              </a:lnSpc>
            </a:pPr>
            <a:r>
              <a:rPr lang="en-US" sz="2400" smtClean="0"/>
              <a:t>1.000</a:t>
            </a:r>
            <a:r>
              <a:rPr lang="en-US" sz="2400" baseline="-25000" smtClean="0"/>
              <a:t>2</a:t>
            </a:r>
            <a:r>
              <a:rPr lang="en-US" sz="2400" smtClean="0"/>
              <a:t> × 2</a:t>
            </a:r>
            <a:r>
              <a:rPr lang="en-US" sz="2400" baseline="30000" smtClean="0"/>
              <a:t>–1</a:t>
            </a:r>
            <a:r>
              <a:rPr lang="en-US" sz="2400" smtClean="0"/>
              <a:t> + –0.111</a:t>
            </a:r>
            <a:r>
              <a:rPr lang="en-US" sz="2400" baseline="-25000" smtClean="0"/>
              <a:t>2</a:t>
            </a:r>
            <a:r>
              <a:rPr lang="en-US" sz="2400" smtClean="0"/>
              <a:t> × 2</a:t>
            </a:r>
            <a:r>
              <a:rPr lang="en-US" sz="2400" baseline="30000" smtClean="0"/>
              <a:t>–</a:t>
            </a:r>
            <a:r>
              <a:rPr lang="en-US" sz="2400" smtClean="0"/>
              <a:t>1 = 0.001</a:t>
            </a:r>
            <a:r>
              <a:rPr lang="en-US" sz="2400" baseline="-25000" smtClean="0"/>
              <a:t>2</a:t>
            </a:r>
            <a:r>
              <a:rPr lang="en-US" sz="2400" smtClean="0"/>
              <a:t> × 2</a:t>
            </a:r>
            <a:r>
              <a:rPr lang="en-US" sz="2400" baseline="30000" smtClean="0"/>
              <a:t>–1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3</a:t>
            </a:r>
            <a:r>
              <a:rPr lang="en-US" sz="2800"/>
              <a:t>. </a:t>
            </a:r>
            <a:r>
              <a:rPr lang="en-US" sz="2800">
                <a:solidFill>
                  <a:srgbClr val="000000"/>
                </a:solidFill>
              </a:rPr>
              <a:t>Chuẩn hóa kết quả &amp; kiểm tra </a:t>
            </a:r>
            <a:r>
              <a:rPr lang="en-US" sz="2800" smtClean="0">
                <a:solidFill>
                  <a:srgbClr val="000000"/>
                </a:solidFill>
              </a:rPr>
              <a:t>ngưỡng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1.000</a:t>
            </a:r>
            <a:r>
              <a:rPr lang="en-US" sz="2400" baseline="-25000" dirty="0"/>
              <a:t>2</a:t>
            </a:r>
            <a:r>
              <a:rPr lang="en-US" sz="2400" dirty="0"/>
              <a:t> × 2</a:t>
            </a:r>
            <a:r>
              <a:rPr lang="en-US" sz="2400" baseline="30000" dirty="0"/>
              <a:t>–4</a:t>
            </a:r>
            <a:r>
              <a:rPr lang="en-US" sz="2400"/>
              <a:t>, </a:t>
            </a:r>
            <a:r>
              <a:rPr lang="en-US" sz="2400" smtClean="0"/>
              <a:t>(nằm trong ngưỡng cho phép)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4</a:t>
            </a:r>
            <a:r>
              <a:rPr lang="en-US" sz="2800"/>
              <a:t>. </a:t>
            </a:r>
            <a:r>
              <a:rPr lang="en-US" sz="2800">
                <a:solidFill>
                  <a:srgbClr val="000000"/>
                </a:solidFill>
              </a:rPr>
              <a:t>Làm tròn và điều chỉnh nếu cần thiết </a:t>
            </a:r>
            <a:endParaRPr lang="en-US" sz="2800" smtClean="0"/>
          </a:p>
          <a:p>
            <a:pPr lvl="1">
              <a:lnSpc>
                <a:spcPct val="90000"/>
              </a:lnSpc>
            </a:pPr>
            <a:r>
              <a:rPr lang="en-US" sz="2400" smtClean="0"/>
              <a:t>1.000</a:t>
            </a:r>
            <a:r>
              <a:rPr lang="en-US" sz="2400" baseline="-25000" smtClean="0"/>
              <a:t>2</a:t>
            </a:r>
            <a:r>
              <a:rPr lang="en-US" sz="2400" smtClean="0"/>
              <a:t> × 2</a:t>
            </a:r>
            <a:r>
              <a:rPr lang="en-US" sz="2400" baseline="30000" smtClean="0"/>
              <a:t>–4</a:t>
            </a:r>
            <a:r>
              <a:rPr lang="en-US" sz="2400" smtClean="0"/>
              <a:t> (không cần điều chỉnh)  = 0.0625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164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Phần cứng bộ cộng (FP)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61A5-D864-4A91-AD3D-83C8FF291AAC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Phức tạp hơn rất nhiều so với bộ cộng số nguyên</a:t>
            </a:r>
            <a:endParaRPr lang="en-US" sz="2800" dirty="0"/>
          </a:p>
          <a:p>
            <a:r>
              <a:rPr lang="en-US" sz="2800" smtClean="0"/>
              <a:t>Nếu thực hiện trong 1 chu kỳ đồng hồ -</a:t>
            </a:r>
            <a:r>
              <a:rPr lang="en-US" sz="2800" smtClean="0">
                <a:sym typeface="Wingdings" pitchFamily="2" charset="2"/>
              </a:rPr>
              <a:t> Chu kỳ quá dài</a:t>
            </a:r>
            <a:endParaRPr lang="en-US" sz="2800" smtClean="0"/>
          </a:p>
          <a:p>
            <a:pPr lvl="1"/>
            <a:r>
              <a:rPr lang="en-US" sz="2400" smtClean="0"/>
              <a:t>Dài hơn nhiều so với các phép cộng số nguyên</a:t>
            </a:r>
          </a:p>
          <a:p>
            <a:pPr lvl="1"/>
            <a:r>
              <a:rPr lang="en-US" sz="2400" smtClean="0"/>
              <a:t>Kéo dài thời gian xung đồng hồ </a:t>
            </a:r>
            <a:r>
              <a:rPr lang="en-US" sz="2400" smtClean="0">
                <a:sym typeface="Wingdings" pitchFamily="2" charset="2"/>
              </a:rPr>
              <a:t> ảnh hưởng đến các lệnh khác</a:t>
            </a:r>
            <a:endParaRPr lang="en-US" sz="2400" smtClean="0"/>
          </a:p>
          <a:p>
            <a:r>
              <a:rPr lang="en-US" sz="2800" smtClean="0"/>
              <a:t>Bộ cộng (FP) thường kéo dài nhiều chu kỳ</a:t>
            </a:r>
          </a:p>
          <a:p>
            <a:pPr lvl="1"/>
            <a:r>
              <a:rPr lang="en-AU" sz="2400" smtClean="0"/>
              <a:t>Có thể cải thiện bằng cơ chế ống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990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Phần cứng bộ cộng (FP)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95C-6BCF-47DF-B187-B8FCA8063A30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36</a:t>
            </a:fld>
            <a:endParaRPr lang="vi-VN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4812702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4"/>
          <p:cNvSpPr>
            <a:spLocks/>
          </p:cNvSpPr>
          <p:nvPr/>
        </p:nvSpPr>
        <p:spPr bwMode="auto">
          <a:xfrm>
            <a:off x="6588125" y="1844675"/>
            <a:ext cx="144463" cy="1800225"/>
          </a:xfrm>
          <a:prstGeom prst="rightBrace">
            <a:avLst>
              <a:gd name="adj1" fmla="val 103846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6588125" y="3716338"/>
            <a:ext cx="144463" cy="792162"/>
          </a:xfrm>
          <a:prstGeom prst="rightBrace">
            <a:avLst>
              <a:gd name="adj1" fmla="val 45696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AutoShape 6"/>
          <p:cNvSpPr>
            <a:spLocks/>
          </p:cNvSpPr>
          <p:nvPr/>
        </p:nvSpPr>
        <p:spPr bwMode="auto">
          <a:xfrm>
            <a:off x="6588125" y="4795838"/>
            <a:ext cx="144463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AutoShape 7"/>
          <p:cNvSpPr>
            <a:spLocks/>
          </p:cNvSpPr>
          <p:nvPr/>
        </p:nvSpPr>
        <p:spPr bwMode="auto">
          <a:xfrm>
            <a:off x="6588125" y="5445125"/>
            <a:ext cx="144463" cy="576263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877050" y="2568575"/>
            <a:ext cx="816249" cy="338554"/>
          </a:xfrm>
          <a:prstGeom prst="rect">
            <a:avLst/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Bước 1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877050" y="3937000"/>
            <a:ext cx="816249" cy="338554"/>
          </a:xfrm>
          <a:prstGeom prst="rect">
            <a:avLst/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Bước 2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6877050" y="4873625"/>
            <a:ext cx="816249" cy="338554"/>
          </a:xfrm>
          <a:prstGeom prst="rect">
            <a:avLst/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Bước 3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877050" y="5521325"/>
            <a:ext cx="816249" cy="338554"/>
          </a:xfrm>
          <a:prstGeom prst="rect">
            <a:avLst/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smtClean="0">
                <a:solidFill>
                  <a:sysClr val="windowText" lastClr="000000"/>
                </a:solidFill>
              </a:rPr>
              <a:t>Bước 4</a:t>
            </a:r>
            <a:endParaRPr kumimoji="0" lang="en-AU" sz="16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AutoShape 12"/>
          <p:cNvSpPr>
            <a:spLocks noChangeArrowheads="1"/>
          </p:cNvSpPr>
          <p:nvPr/>
        </p:nvSpPr>
        <p:spPr bwMode="auto">
          <a:xfrm rot="10800000">
            <a:off x="7740650" y="4940300"/>
            <a:ext cx="288925" cy="792163"/>
          </a:xfrm>
          <a:prstGeom prst="curvedRightArrow">
            <a:avLst>
              <a:gd name="adj1" fmla="val 54835"/>
              <a:gd name="adj2" fmla="val 109670"/>
              <a:gd name="adj3" fmla="val 33333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458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nhân thập phân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82D0-CA76-4C0E-AD64-8B8D590AECFC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37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76355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smtClean="0"/>
              <a:t>Giả sử nhân 2 số thập phân (4 ký số)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/>
              <a:t>1.110 × 10</a:t>
            </a:r>
            <a:r>
              <a:rPr lang="en-US" sz="2000" baseline="30000"/>
              <a:t>10</a:t>
            </a:r>
            <a:r>
              <a:rPr lang="en-US" sz="2000"/>
              <a:t> × 9.200 × 10</a:t>
            </a:r>
            <a:r>
              <a:rPr lang="en-US" sz="2000" baseline="30000"/>
              <a:t>–5</a:t>
            </a:r>
          </a:p>
          <a:p>
            <a:pPr>
              <a:lnSpc>
                <a:spcPct val="90000"/>
              </a:lnSpc>
            </a:pPr>
            <a:r>
              <a:rPr lang="en-US" sz="2400"/>
              <a:t>1. </a:t>
            </a:r>
            <a:r>
              <a:rPr lang="en-US" sz="2400" smtClean="0"/>
              <a:t>Cộng số mũ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 smtClean="0"/>
              <a:t>Nếu dùng số mũ biased, trừ biased vào tổng</a:t>
            </a:r>
            <a:endParaRPr lang="en-US" sz="2000"/>
          </a:p>
          <a:p>
            <a:pPr lvl="1">
              <a:lnSpc>
                <a:spcPct val="90000"/>
              </a:lnSpc>
            </a:pPr>
            <a:r>
              <a:rPr lang="en-US" sz="2000" smtClean="0"/>
              <a:t>Số mũ mới là </a:t>
            </a:r>
            <a:r>
              <a:rPr lang="en-US" sz="2000"/>
              <a:t>= 10 + –5 = 5</a:t>
            </a:r>
          </a:p>
          <a:p>
            <a:pPr>
              <a:lnSpc>
                <a:spcPct val="90000"/>
              </a:lnSpc>
            </a:pPr>
            <a:r>
              <a:rPr lang="en-US" sz="2400"/>
              <a:t>2. </a:t>
            </a:r>
            <a:r>
              <a:rPr lang="en-US" sz="2400" smtClean="0"/>
              <a:t>Nhân hệ số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/>
              <a:t>1.110 × 9.200 = 10.212  </a:t>
            </a:r>
            <a:r>
              <a:rPr lang="en-US" sz="2000">
                <a:sym typeface="Symbol" pitchFamily="18" charset="2"/>
              </a:rPr>
              <a:t>  10.212 </a:t>
            </a:r>
            <a:r>
              <a:rPr lang="en-US" sz="2000"/>
              <a:t>× 10</a:t>
            </a:r>
            <a:r>
              <a:rPr lang="en-US" sz="2000" baseline="30000"/>
              <a:t>5</a:t>
            </a:r>
            <a:endParaRPr lang="en-US" sz="2000" baseline="3000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/>
              <a:t>3. </a:t>
            </a:r>
            <a:r>
              <a:rPr lang="en-US" sz="2400">
                <a:solidFill>
                  <a:srgbClr val="000000"/>
                </a:solidFill>
              </a:rPr>
              <a:t>Chuẩn hóa kết quả &amp; kiểm tra </a:t>
            </a:r>
            <a:r>
              <a:rPr lang="en-US" sz="2400" smtClean="0">
                <a:solidFill>
                  <a:srgbClr val="000000"/>
                </a:solidFill>
              </a:rPr>
              <a:t>ngưỡng</a:t>
            </a:r>
            <a:endParaRPr lang="en-US" sz="2400" smtClean="0"/>
          </a:p>
          <a:p>
            <a:pPr lvl="1">
              <a:lnSpc>
                <a:spcPct val="90000"/>
              </a:lnSpc>
            </a:pPr>
            <a:r>
              <a:rPr lang="en-US" sz="2000" smtClean="0"/>
              <a:t>1.0212 × 10</a:t>
            </a:r>
            <a:r>
              <a:rPr lang="en-US" sz="2000" baseline="30000" smtClean="0"/>
              <a:t>6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4</a:t>
            </a:r>
            <a:r>
              <a:rPr lang="en-US" sz="2400"/>
              <a:t>. </a:t>
            </a:r>
            <a:r>
              <a:rPr lang="en-US" sz="2400">
                <a:solidFill>
                  <a:srgbClr val="000000"/>
                </a:solidFill>
              </a:rPr>
              <a:t>Làm tròn và điều chỉnh nếu cần </a:t>
            </a:r>
            <a:r>
              <a:rPr lang="en-US" sz="2400" smtClean="0">
                <a:solidFill>
                  <a:srgbClr val="000000"/>
                </a:solidFill>
              </a:rPr>
              <a:t>thiết</a:t>
            </a:r>
            <a:endParaRPr lang="en-US" sz="2000" baseline="30000"/>
          </a:p>
          <a:p>
            <a:pPr>
              <a:lnSpc>
                <a:spcPct val="90000"/>
              </a:lnSpc>
            </a:pPr>
            <a:r>
              <a:rPr lang="en-US" sz="2400"/>
              <a:t>5. </a:t>
            </a:r>
            <a:r>
              <a:rPr lang="en-US" sz="2400" smtClean="0"/>
              <a:t>Xác định dấu của kết quả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/>
              <a:t>+1.021 × 10</a:t>
            </a:r>
            <a:r>
              <a:rPr lang="en-US" sz="2000" baseline="300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973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nhân nhị phân (FP)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DEBD-6D28-4039-B67C-67CD41A68364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tính)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38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Giả sử nhân 2 số thập phân (4 ký </a:t>
            </a:r>
            <a:r>
              <a:rPr lang="en-US" sz="2400" smtClean="0"/>
              <a:t>số)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1.000</a:t>
            </a:r>
            <a:r>
              <a:rPr lang="en-US" sz="2000" baseline="-25000" dirty="0"/>
              <a:t>2</a:t>
            </a:r>
            <a:r>
              <a:rPr lang="en-US" sz="2000" dirty="0"/>
              <a:t> × 2</a:t>
            </a:r>
            <a:r>
              <a:rPr lang="en-US" sz="2000" baseline="30000" dirty="0"/>
              <a:t>–1</a:t>
            </a:r>
            <a:r>
              <a:rPr lang="en-US" sz="2000" dirty="0"/>
              <a:t> × –1.110</a:t>
            </a:r>
            <a:r>
              <a:rPr lang="en-US" sz="2000" baseline="-25000" dirty="0"/>
              <a:t>2</a:t>
            </a:r>
            <a:r>
              <a:rPr lang="en-US" sz="2000" dirty="0"/>
              <a:t> × 2</a:t>
            </a:r>
            <a:r>
              <a:rPr lang="en-US" sz="2000" baseline="30000" dirty="0"/>
              <a:t>–2</a:t>
            </a:r>
            <a:r>
              <a:rPr lang="en-US" sz="2000" dirty="0"/>
              <a:t> (0.5 × –0.4375)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1</a:t>
            </a:r>
            <a:r>
              <a:rPr lang="en-US" sz="2400"/>
              <a:t>. Cộng số </a:t>
            </a:r>
            <a:r>
              <a:rPr lang="en-US" sz="2400" smtClean="0"/>
              <a:t>mũ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Unbiased: –1 + –2 = –3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Biased: (–1 + 127) + (–2 + 127) = –3 + 254 – 127 = –3 + 127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2</a:t>
            </a:r>
            <a:r>
              <a:rPr lang="en-US" sz="2400"/>
              <a:t>. Nhân hệ </a:t>
            </a:r>
            <a:r>
              <a:rPr lang="en-US" sz="2400" smtClean="0"/>
              <a:t>số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1.000</a:t>
            </a:r>
            <a:r>
              <a:rPr lang="en-US" sz="2000" baseline="-25000" dirty="0"/>
              <a:t>2</a:t>
            </a:r>
            <a:r>
              <a:rPr lang="en-US" sz="2000" dirty="0"/>
              <a:t> × 1.110</a:t>
            </a:r>
            <a:r>
              <a:rPr lang="en-US" sz="2000" baseline="-25000" dirty="0"/>
              <a:t>2</a:t>
            </a:r>
            <a:r>
              <a:rPr lang="en-US" sz="2000" dirty="0"/>
              <a:t> = 1.1102  </a:t>
            </a:r>
            <a:r>
              <a:rPr lang="en-US" sz="2000" dirty="0">
                <a:sym typeface="Symbol" pitchFamily="18" charset="2"/>
              </a:rPr>
              <a:t>  </a:t>
            </a:r>
            <a:r>
              <a:rPr lang="en-US" sz="2000" dirty="0"/>
              <a:t>1.110</a:t>
            </a:r>
            <a:r>
              <a:rPr lang="en-US" sz="2000" baseline="-25000" dirty="0"/>
              <a:t>2</a:t>
            </a:r>
            <a:r>
              <a:rPr lang="en-US" sz="2000" dirty="0"/>
              <a:t> × 2</a:t>
            </a:r>
            <a:r>
              <a:rPr lang="en-US" sz="2000" baseline="30000" dirty="0"/>
              <a:t>–3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3</a:t>
            </a:r>
            <a:r>
              <a:rPr lang="en-US" sz="2400"/>
              <a:t>. </a:t>
            </a:r>
            <a:r>
              <a:rPr lang="en-US" sz="2400">
                <a:solidFill>
                  <a:srgbClr val="000000"/>
                </a:solidFill>
              </a:rPr>
              <a:t>Chuẩn hóa kết quả &amp; kiểm tra </a:t>
            </a:r>
            <a:r>
              <a:rPr lang="en-US" sz="2400" smtClean="0">
                <a:solidFill>
                  <a:srgbClr val="000000"/>
                </a:solidFill>
              </a:rPr>
              <a:t>ngưỡng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1.110</a:t>
            </a:r>
            <a:r>
              <a:rPr lang="en-US" sz="2000" baseline="-25000" dirty="0"/>
              <a:t>2</a:t>
            </a:r>
            <a:r>
              <a:rPr lang="en-US" sz="2000" dirty="0"/>
              <a:t> × </a:t>
            </a:r>
            <a:r>
              <a:rPr lang="en-US" sz="2000"/>
              <a:t>2</a:t>
            </a:r>
            <a:r>
              <a:rPr lang="en-US" sz="2000" baseline="30000"/>
              <a:t>–3</a:t>
            </a:r>
            <a:r>
              <a:rPr lang="en-US" sz="2000"/>
              <a:t> </a:t>
            </a:r>
            <a:r>
              <a:rPr lang="en-US" sz="2000" smtClean="0"/>
              <a:t>(không đổi: nằm trong ngưỡng cho phép)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4</a:t>
            </a:r>
            <a:r>
              <a:rPr lang="en-US" sz="2400"/>
              <a:t>. </a:t>
            </a:r>
            <a:r>
              <a:rPr lang="en-US" sz="2400">
                <a:solidFill>
                  <a:srgbClr val="000000"/>
                </a:solidFill>
              </a:rPr>
              <a:t>Làm tròn và điều chỉnh nếu cần </a:t>
            </a:r>
            <a:r>
              <a:rPr lang="en-US" sz="2400" smtClean="0">
                <a:solidFill>
                  <a:srgbClr val="000000"/>
                </a:solidFill>
              </a:rPr>
              <a:t>thiết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1.110</a:t>
            </a:r>
            <a:r>
              <a:rPr lang="en-US" sz="2000" baseline="-25000" dirty="0"/>
              <a:t>2</a:t>
            </a:r>
            <a:r>
              <a:rPr lang="en-US" sz="2000" dirty="0"/>
              <a:t> × 2</a:t>
            </a:r>
            <a:r>
              <a:rPr lang="en-US" sz="2000" baseline="30000" dirty="0"/>
              <a:t>–3</a:t>
            </a:r>
            <a:r>
              <a:rPr lang="en-US" sz="2000" dirty="0"/>
              <a:t> (no change)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5</a:t>
            </a:r>
            <a:r>
              <a:rPr lang="en-US" sz="2400"/>
              <a:t>. </a:t>
            </a:r>
            <a:r>
              <a:rPr lang="en-US" sz="2400" smtClean="0"/>
              <a:t>Xác định dấu: (+) </a:t>
            </a:r>
            <a:r>
              <a:rPr lang="en-US" sz="2400"/>
              <a:t>× </a:t>
            </a:r>
            <a:r>
              <a:rPr lang="en-US" sz="2400" smtClean="0"/>
              <a:t>(–) </a:t>
            </a:r>
            <a:r>
              <a:rPr lang="en-US" sz="2400">
                <a:sym typeface="Symbol" pitchFamily="18" charset="2"/>
              </a:rPr>
              <a:t> </a:t>
            </a:r>
            <a:r>
              <a:rPr lang="en-US" sz="2400" smtClean="0">
                <a:sym typeface="Symbol" pitchFamily="18" charset="2"/>
              </a:rPr>
              <a:t>(-)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–1.110</a:t>
            </a:r>
            <a:r>
              <a:rPr lang="en-US" sz="2000" baseline="-25000" dirty="0"/>
              <a:t>2</a:t>
            </a:r>
            <a:r>
              <a:rPr lang="en-US" sz="2000" dirty="0"/>
              <a:t> × 2</a:t>
            </a:r>
            <a:r>
              <a:rPr lang="en-US" sz="2000" baseline="30000" dirty="0"/>
              <a:t>–3</a:t>
            </a:r>
            <a:r>
              <a:rPr lang="en-US" sz="2000" dirty="0"/>
              <a:t>  = –0.21875</a:t>
            </a:r>
          </a:p>
        </p:txBody>
      </p:sp>
    </p:spTree>
    <p:extLst>
      <p:ext uri="{BB962C8B-B14F-4D97-AF65-F5344CB8AC3E}">
        <p14:creationId xmlns:p14="http://schemas.microsoft.com/office/powerpoint/2010/main" val="321497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Phần cứng Bộ số học (FP)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8AED2-F20A-429B-91C2-3415F7289A1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39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Bộ nhân (FP) và Bộ cộng (FP) có độ phức tạp như nhau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mtClean="0"/>
              <a:t>Chỉ khác nhau cho phép tính hệ số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smtClean="0"/>
              <a:t>Phần cứng Bộ số học thường thực hiện các tác vụ sau: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mtClean="0"/>
              <a:t>Cộng, Trừ, Nhân, Chia, Căn, Nghịch đảo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mtClean="0"/>
              <a:t>Chuyển đổi FP </a:t>
            </a:r>
            <a:r>
              <a:rPr lang="en-US">
                <a:sym typeface="Symbol" pitchFamily="18" charset="2"/>
              </a:rPr>
              <a:t> </a:t>
            </a:r>
            <a:r>
              <a:rPr lang="en-US" smtClean="0">
                <a:sym typeface="Symbol" pitchFamily="18" charset="2"/>
              </a:rPr>
              <a:t>integer</a:t>
            </a:r>
            <a:endParaRPr lang="en-US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mtClean="0"/>
              <a:t>Các tác vụ này thường kéo dài trong nhiều chu kỳ xung đồng hồ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mtClean="0"/>
              <a:t>Cải thiện bằng cơ chế đường ống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38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L</a:t>
            </a:r>
            <a:r>
              <a:rPr lang="en-US" b="1" smtClean="0">
                <a:solidFill>
                  <a:srgbClr val="0039A6"/>
                </a:solidFill>
                <a:latin typeface="Arial"/>
              </a:rPr>
              <a:t>ệnh FP trong </a:t>
            </a:r>
            <a:r>
              <a:rPr lang="en-US" b="1" dirty="0">
                <a:solidFill>
                  <a:srgbClr val="0039A6"/>
                </a:solidFill>
                <a:latin typeface="Arial"/>
              </a:rPr>
              <a:t>MIPS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3251-1860-4131-A6B5-E254C0972B55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371599"/>
            <a:ext cx="8193088" cy="495300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Phần cứng bộ FP là một coprocessor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 smtClean="0"/>
              <a:t>Mở rộng kiến trúc tập lệnh</a:t>
            </a:r>
            <a:endParaRPr lang="en-US" sz="2400"/>
          </a:p>
          <a:p>
            <a:pPr>
              <a:lnSpc>
                <a:spcPct val="80000"/>
              </a:lnSpc>
            </a:pPr>
            <a:r>
              <a:rPr lang="en-US" sz="2800" smtClean="0"/>
              <a:t>Có các thanh ghi FP riêng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/>
              <a:t>32 </a:t>
            </a:r>
            <a:r>
              <a:rPr lang="en-US" sz="2400" smtClean="0"/>
              <a:t>thanh ghi (đơn): </a:t>
            </a:r>
            <a:r>
              <a:rPr lang="en-US" sz="2400"/>
              <a:t>$f0, $f1, … $f31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Chính xác kép bằng cách ghép: </a:t>
            </a:r>
            <a:r>
              <a:rPr lang="en-US" sz="2400"/>
              <a:t>$f0/$f1, $f2/$f3, </a:t>
            </a:r>
            <a:r>
              <a:rPr lang="en-US" sz="2400" smtClean="0"/>
              <a:t>..</a:t>
            </a:r>
            <a:endParaRPr lang="en-US" sz="2400"/>
          </a:p>
          <a:p>
            <a:pPr lvl="2">
              <a:lnSpc>
                <a:spcPct val="80000"/>
              </a:lnSpc>
            </a:pPr>
            <a:r>
              <a:rPr lang="en-US" sz="2000" smtClean="0"/>
              <a:t>Phiên bản 2 của </a:t>
            </a:r>
            <a:r>
              <a:rPr lang="en-US" sz="2000"/>
              <a:t>MIPs ISA </a:t>
            </a:r>
            <a:r>
              <a:rPr lang="en-US" sz="2000" smtClean="0"/>
              <a:t>hỗ trợ </a:t>
            </a:r>
            <a:r>
              <a:rPr lang="en-US" sz="2000"/>
              <a:t>32 × 64-bit FP reg’s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Các lệnh FP chỉ thực hiện trên các thanh ghi FP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 smtClean="0"/>
              <a:t>Chương trình thường không thực hiện các phép số nguyên trên dữ liệu FP hoặc ngược lại</a:t>
            </a: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400"/>
              <a:t>T</a:t>
            </a:r>
            <a:r>
              <a:rPr lang="en-US" sz="2400" smtClean="0"/>
              <a:t>hanh ghi riêng không làm phức tạp thêm code</a:t>
            </a:r>
            <a:endParaRPr lang="en-US" sz="2400"/>
          </a:p>
          <a:p>
            <a:pPr>
              <a:lnSpc>
                <a:spcPct val="80000"/>
              </a:lnSpc>
            </a:pPr>
            <a:r>
              <a:rPr lang="en-US" sz="2800" smtClean="0"/>
              <a:t>Các lệnh FP load và store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>
                <a:latin typeface="Lucida Console" pitchFamily="49" charset="0"/>
              </a:rPr>
              <a:t>lwc1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ldc1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swc1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sdc1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Ví dụ: </a:t>
            </a:r>
            <a:r>
              <a:rPr lang="en-US" sz="2000">
                <a:latin typeface="Lucida Console" pitchFamily="49" charset="0"/>
              </a:rPr>
              <a:t>ldc1 $f8, 32($sp)</a:t>
            </a:r>
            <a:endParaRPr lang="en-AU" sz="200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03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Lệnh FP trong MIPS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203BA-67D1-44A9-85FB-C91C880D615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77740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Phép tính số học (đơn)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>
                <a:latin typeface="Lucida Console" pitchFamily="49" charset="0"/>
              </a:rPr>
              <a:t>add.s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sub.s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mul.s</a:t>
            </a:r>
            <a:r>
              <a:rPr lang="en-US" sz="2400"/>
              <a:t>, div.s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Ví dụ: </a:t>
            </a:r>
            <a:r>
              <a:rPr lang="en-US" sz="2000">
                <a:latin typeface="Lucida Console" pitchFamily="49" charset="0"/>
              </a:rPr>
              <a:t>add.s $f0, $f1, $f6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Phép tính số học (kép)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>
                <a:latin typeface="Lucida Console" pitchFamily="49" charset="0"/>
              </a:rPr>
              <a:t>add.d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sub.d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mul.d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div.d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Ví dụ: </a:t>
            </a:r>
            <a:r>
              <a:rPr lang="en-US" sz="2000">
                <a:latin typeface="Lucida Console" pitchFamily="49" charset="0"/>
              </a:rPr>
              <a:t>mul.d $f4, $f4, $f6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Lệnh so sánh (đơn/kép)</a:t>
            </a:r>
            <a:endParaRPr lang="en-US" sz="2800"/>
          </a:p>
          <a:p>
            <a:pPr lvl="1">
              <a:lnSpc>
                <a:spcPct val="80000"/>
              </a:lnSpc>
            </a:pPr>
            <a:r>
              <a:rPr lang="en-US" sz="2400">
                <a:latin typeface="Lucida Console" pitchFamily="49" charset="0"/>
              </a:rPr>
              <a:t>c.</a:t>
            </a:r>
            <a:r>
              <a:rPr lang="en-US" sz="2400" i="1">
                <a:latin typeface="Lucida Console" pitchFamily="49" charset="0"/>
              </a:rPr>
              <a:t>xx</a:t>
            </a:r>
            <a:r>
              <a:rPr lang="en-US" sz="2400">
                <a:latin typeface="Lucida Console" pitchFamily="49" charset="0"/>
              </a:rPr>
              <a:t>.s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c.</a:t>
            </a:r>
            <a:r>
              <a:rPr lang="en-US" sz="2400" i="1">
                <a:latin typeface="Lucida Console" pitchFamily="49" charset="0"/>
              </a:rPr>
              <a:t>xx</a:t>
            </a:r>
            <a:r>
              <a:rPr lang="en-US" sz="2400">
                <a:latin typeface="Lucida Console" pitchFamily="49" charset="0"/>
              </a:rPr>
              <a:t>.d</a:t>
            </a:r>
            <a:r>
              <a:rPr lang="en-US" sz="2400"/>
              <a:t> (</a:t>
            </a:r>
            <a:r>
              <a:rPr lang="en-US" sz="2400" i="1"/>
              <a:t>xx</a:t>
            </a:r>
            <a:r>
              <a:rPr lang="en-US" sz="2400"/>
              <a:t> is </a:t>
            </a:r>
            <a:r>
              <a:rPr lang="en-US" sz="2400">
                <a:latin typeface="Lucida Console" pitchFamily="49" charset="0"/>
              </a:rPr>
              <a:t>eq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lt</a:t>
            </a:r>
            <a:r>
              <a:rPr lang="en-US" sz="2400"/>
              <a:t>, </a:t>
            </a:r>
            <a:r>
              <a:rPr lang="en-US" sz="2400">
                <a:latin typeface="Lucida Console" pitchFamily="49" charset="0"/>
              </a:rPr>
              <a:t>le</a:t>
            </a:r>
            <a:r>
              <a:rPr lang="en-US" sz="2400"/>
              <a:t>, …)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Gán hoặc xóa bit điều kiện code</a:t>
            </a:r>
            <a:endParaRPr lang="en-US" sz="2400"/>
          </a:p>
          <a:p>
            <a:pPr lvl="2">
              <a:lnSpc>
                <a:spcPct val="80000"/>
              </a:lnSpc>
            </a:pPr>
            <a:r>
              <a:rPr lang="en-US" sz="2000"/>
              <a:t>e.g. </a:t>
            </a:r>
            <a:r>
              <a:rPr lang="en-US" sz="2000">
                <a:latin typeface="Lucida Console" pitchFamily="49" charset="0"/>
              </a:rPr>
              <a:t>c.lt.s $f3, $f4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Rẽ nhánh theo điều kiện</a:t>
            </a:r>
          </a:p>
          <a:p>
            <a:pPr lvl="1">
              <a:lnSpc>
                <a:spcPct val="80000"/>
              </a:lnSpc>
            </a:pPr>
            <a:r>
              <a:rPr lang="en-US" sz="2400" smtClean="0">
                <a:latin typeface="Lucida Console" pitchFamily="49" charset="0"/>
              </a:rPr>
              <a:t>bc1t</a:t>
            </a:r>
            <a:r>
              <a:rPr lang="en-US" sz="2400" smtClean="0"/>
              <a:t>, </a:t>
            </a:r>
            <a:r>
              <a:rPr lang="en-US" sz="2400" smtClean="0">
                <a:latin typeface="Lucida Console" pitchFamily="49" charset="0"/>
              </a:rPr>
              <a:t>bc1f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Ví dụ: </a:t>
            </a:r>
            <a:r>
              <a:rPr lang="en-US" sz="2000">
                <a:latin typeface="Lucida Console" pitchFamily="49" charset="0"/>
              </a:rPr>
              <a:t>bc1t TargetLabel</a:t>
            </a:r>
            <a:endParaRPr lang="en-AU" sz="200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9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Chuyển °F sang </a:t>
            </a:r>
            <a:r>
              <a:rPr lang="en-US" b="1" dirty="0">
                <a:solidFill>
                  <a:srgbClr val="0039A6"/>
                </a:solidFill>
                <a:latin typeface="Arial"/>
              </a:rPr>
              <a:t>°C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804D-4E2D-4C02-B7DA-E2809401B1AE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42361" y="1221610"/>
            <a:ext cx="8439294" cy="510991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 code: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Lucida Console" pitchFamily="49" charset="0"/>
              </a:rPr>
              <a:t>	float f2c (float </a:t>
            </a:r>
            <a:r>
              <a:rPr lang="en-US" sz="2400" dirty="0" err="1">
                <a:latin typeface="Lucida Console" pitchFamily="49" charset="0"/>
              </a:rPr>
              <a:t>fahr</a:t>
            </a:r>
            <a:r>
              <a:rPr lang="en-US" sz="2400" dirty="0">
                <a:latin typeface="Lucida Console" pitchFamily="49" charset="0"/>
              </a:rPr>
              <a:t>) {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return ((5.0/9.0)*(</a:t>
            </a:r>
            <a:r>
              <a:rPr lang="en-US" sz="2400" dirty="0" err="1">
                <a:latin typeface="Lucida Console" pitchFamily="49" charset="0"/>
              </a:rPr>
              <a:t>fahr</a:t>
            </a:r>
            <a:r>
              <a:rPr lang="en-US" sz="2400" dirty="0">
                <a:latin typeface="Lucida Console" pitchFamily="49" charset="0"/>
              </a:rPr>
              <a:t> - 32.0));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sz="2400" err="1">
                <a:latin typeface="Lucida Console" pitchFamily="49" charset="0"/>
              </a:rPr>
              <a:t>fahr</a:t>
            </a:r>
            <a:r>
              <a:rPr lang="en-US" sz="2400"/>
              <a:t> </a:t>
            </a:r>
            <a:r>
              <a:rPr lang="en-US" sz="2400" smtClean="0"/>
              <a:t>chứa trong </a:t>
            </a:r>
            <a:r>
              <a:rPr lang="en-US" sz="2400" dirty="0"/>
              <a:t>$f12</a:t>
            </a:r>
            <a:r>
              <a:rPr lang="en-US" sz="2400"/>
              <a:t>, </a:t>
            </a:r>
            <a:r>
              <a:rPr lang="en-US" sz="2400" smtClean="0"/>
              <a:t>kết quả trong </a:t>
            </a:r>
            <a:r>
              <a:rPr lang="en-US" sz="2400" dirty="0"/>
              <a:t>$f0</a:t>
            </a:r>
            <a:r>
              <a:rPr lang="en-US" sz="2400"/>
              <a:t>, </a:t>
            </a:r>
            <a:r>
              <a:rPr lang="en-US" sz="2400" smtClean="0"/>
              <a:t>hằng số trong bộ nhớ toàn cục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Biên dịch thành MIPS </a:t>
            </a:r>
            <a:r>
              <a:rPr lang="en-US" sz="2800" dirty="0"/>
              <a:t>code: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Lucida Console" pitchFamily="49" charset="0"/>
              </a:rPr>
              <a:t>	f2c: lwc1  $f16, const5($</a:t>
            </a:r>
            <a:r>
              <a:rPr lang="en-US" sz="2400" dirty="0" err="1">
                <a:latin typeface="Lucida Console" pitchFamily="49" charset="0"/>
              </a:rPr>
              <a:t>gp</a:t>
            </a:r>
            <a:r>
              <a:rPr lang="en-US" sz="2400" dirty="0">
                <a:latin typeface="Lucida Console" pitchFamily="49" charset="0"/>
              </a:rPr>
              <a:t>)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lwc2  $f18, const9($</a:t>
            </a:r>
            <a:r>
              <a:rPr lang="en-US" sz="2400" dirty="0" err="1">
                <a:latin typeface="Lucida Console" pitchFamily="49" charset="0"/>
              </a:rPr>
              <a:t>gp</a:t>
            </a:r>
            <a:r>
              <a:rPr lang="en-US" sz="2400" dirty="0">
                <a:latin typeface="Lucida Console" pitchFamily="49" charset="0"/>
              </a:rPr>
              <a:t>)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</a:t>
            </a:r>
            <a:r>
              <a:rPr lang="en-US" sz="2400" dirty="0" err="1">
                <a:latin typeface="Lucida Console" pitchFamily="49" charset="0"/>
              </a:rPr>
              <a:t>div.s</a:t>
            </a:r>
            <a:r>
              <a:rPr lang="en-US" sz="2400" dirty="0">
                <a:latin typeface="Lucida Console" pitchFamily="49" charset="0"/>
              </a:rPr>
              <a:t> $f16, $f16, $f18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lwc1  $f18, const32($</a:t>
            </a:r>
            <a:r>
              <a:rPr lang="en-US" sz="2400" dirty="0" err="1">
                <a:latin typeface="Lucida Console" pitchFamily="49" charset="0"/>
              </a:rPr>
              <a:t>gp</a:t>
            </a:r>
            <a:r>
              <a:rPr lang="en-US" sz="2400" dirty="0">
                <a:latin typeface="Lucida Console" pitchFamily="49" charset="0"/>
              </a:rPr>
              <a:t>)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</a:t>
            </a:r>
            <a:r>
              <a:rPr lang="en-US" sz="2400" dirty="0" err="1">
                <a:latin typeface="Lucida Console" pitchFamily="49" charset="0"/>
              </a:rPr>
              <a:t>sub.s</a:t>
            </a:r>
            <a:r>
              <a:rPr lang="en-US" sz="2400" dirty="0">
                <a:latin typeface="Lucida Console" pitchFamily="49" charset="0"/>
              </a:rPr>
              <a:t> $f18, $f12, $f18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</a:t>
            </a:r>
            <a:r>
              <a:rPr lang="en-US" sz="2400" dirty="0" err="1">
                <a:latin typeface="Lucida Console" pitchFamily="49" charset="0"/>
              </a:rPr>
              <a:t>mul.s</a:t>
            </a:r>
            <a:r>
              <a:rPr lang="en-US" sz="2400" dirty="0">
                <a:latin typeface="Lucida Console" pitchFamily="49" charset="0"/>
              </a:rPr>
              <a:t> $f0,  $f16, $f18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>
                <a:latin typeface="Lucida Console" pitchFamily="49" charset="0"/>
              </a:rPr>
              <a:t>     </a:t>
            </a:r>
            <a:r>
              <a:rPr lang="en-US" sz="2400" dirty="0" err="1">
                <a:latin typeface="Lucida Console" pitchFamily="49" charset="0"/>
              </a:rPr>
              <a:t>jr</a:t>
            </a:r>
            <a:r>
              <a:rPr lang="en-US" sz="2400" dirty="0">
                <a:latin typeface="Lucida Console" pitchFamily="49" charset="0"/>
              </a:rPr>
              <a:t>    $</a:t>
            </a:r>
            <a:r>
              <a:rPr lang="en-US" sz="2400" dirty="0" err="1">
                <a:latin typeface="Lucida Console" pitchFamily="49" charset="0"/>
              </a:rPr>
              <a:t>ra</a:t>
            </a:r>
            <a:endParaRPr lang="en-AU" sz="24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2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Ví dụ: Nhân Ma trận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6EED-C25B-4BAC-BC85-B02D0B619EF6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43</a:t>
            </a:fld>
            <a:endParaRPr lang="vi-VN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70991"/>
            <a:ext cx="8116888" cy="46615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000" dirty="0"/>
              <a:t>X = X + Y </a:t>
            </a:r>
            <a:r>
              <a:rPr lang="en-US" sz="2000" dirty="0">
                <a:cs typeface="Arial" charset="0"/>
              </a:rPr>
              <a:t>× Z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smtClean="0">
                <a:cs typeface="Arial" charset="0"/>
              </a:rPr>
              <a:t>Tất cả đều là ma trận 32 </a:t>
            </a:r>
            <a:r>
              <a:rPr lang="en-US" sz="2000">
                <a:cs typeface="Arial" charset="0"/>
              </a:rPr>
              <a:t>× </a:t>
            </a:r>
            <a:r>
              <a:rPr lang="en-US" sz="2000" smtClean="0">
                <a:cs typeface="Arial" charset="0"/>
              </a:rPr>
              <a:t>32, các phần tử của ma trận 64-bit (chính xác kép)</a:t>
            </a:r>
            <a:endParaRPr lang="en-US" sz="2000" dirty="0" smtClean="0">
              <a:cs typeface="Arial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000" dirty="0">
              <a:cs typeface="Arial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000" dirty="0"/>
              <a:t>C code: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000" dirty="0">
                <a:latin typeface="Lucida Console" pitchFamily="49" charset="0"/>
              </a:rPr>
              <a:t>	</a:t>
            </a:r>
            <a:r>
              <a:rPr lang="nb-NO" sz="2000" dirty="0">
                <a:latin typeface="Lucida Console" pitchFamily="49" charset="0"/>
              </a:rPr>
              <a:t>void mm (double x[][],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       double y[][], double z[][]) {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int i, j, k;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for (i = 0; i! = 32; i = i + 1)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  for (j = 0; j! = 32; j = j + 1)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    for (k = 0; k! = 32; k = k + 1)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      x[i][j] = x[i][j]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                  + y[i][k] * z[k][j];</a:t>
            </a:r>
            <a:br>
              <a:rPr lang="nb-NO" sz="2000" dirty="0">
                <a:latin typeface="Lucida Console" pitchFamily="49" charset="0"/>
              </a:rPr>
            </a:br>
            <a:r>
              <a:rPr lang="nb-NO" sz="2000" dirty="0">
                <a:latin typeface="Lucida Console" pitchFamily="49" charset="0"/>
              </a:rPr>
              <a:t>}</a:t>
            </a:r>
            <a:endParaRPr lang="en-US" sz="2000" dirty="0">
              <a:latin typeface="Lucida Console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smtClean="0"/>
              <a:t>Địa chỉ của </a:t>
            </a:r>
            <a:r>
              <a:rPr lang="en-US" sz="2000" dirty="0">
                <a:latin typeface="Lucida Console" pitchFamily="49" charset="0"/>
              </a:rPr>
              <a:t>x</a:t>
            </a:r>
            <a:r>
              <a:rPr lang="en-US" sz="2000" dirty="0"/>
              <a:t>, </a:t>
            </a:r>
            <a:r>
              <a:rPr lang="en-US" sz="2000" dirty="0">
                <a:latin typeface="Lucida Console" pitchFamily="49" charset="0"/>
              </a:rPr>
              <a:t>y</a:t>
            </a:r>
            <a:r>
              <a:rPr lang="en-US" sz="2000" dirty="0"/>
              <a:t>, </a:t>
            </a:r>
            <a:r>
              <a:rPr lang="en-US" sz="2000">
                <a:latin typeface="Lucida Console" pitchFamily="49" charset="0"/>
              </a:rPr>
              <a:t>z</a:t>
            </a:r>
            <a:r>
              <a:rPr lang="en-US" sz="2000"/>
              <a:t> </a:t>
            </a:r>
            <a:r>
              <a:rPr lang="en-US" sz="2000" smtClean="0"/>
              <a:t>chứa trong </a:t>
            </a:r>
            <a:r>
              <a:rPr lang="en-US" sz="2000" dirty="0"/>
              <a:t>$a0, $a1, $a2</a:t>
            </a:r>
            <a:r>
              <a:rPr lang="en-US" sz="2000"/>
              <a:t>, </a:t>
            </a:r>
            <a:r>
              <a:rPr lang="en-US" sz="2000" smtClean="0"/>
              <a:t>và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latin typeface="Lucida Console" pitchFamily="49" charset="0"/>
              </a:rPr>
              <a:t>i</a:t>
            </a:r>
            <a:r>
              <a:rPr lang="en-US" sz="2000" dirty="0"/>
              <a:t>, </a:t>
            </a:r>
            <a:r>
              <a:rPr lang="en-US" sz="2000" dirty="0">
                <a:latin typeface="Lucida Console" pitchFamily="49" charset="0"/>
              </a:rPr>
              <a:t>j</a:t>
            </a:r>
            <a:r>
              <a:rPr lang="en-US" sz="2000" dirty="0"/>
              <a:t>, </a:t>
            </a:r>
            <a:r>
              <a:rPr lang="en-US" sz="2000">
                <a:latin typeface="Lucida Console" pitchFamily="49" charset="0"/>
              </a:rPr>
              <a:t>k</a:t>
            </a:r>
            <a:r>
              <a:rPr lang="en-US" sz="2000"/>
              <a:t> </a:t>
            </a:r>
            <a:r>
              <a:rPr lang="en-US" sz="2000" smtClean="0"/>
              <a:t>trong </a:t>
            </a:r>
            <a:r>
              <a:rPr lang="en-US" sz="2000" dirty="0"/>
              <a:t>$s0, $s1, $s2</a:t>
            </a:r>
          </a:p>
        </p:txBody>
      </p:sp>
    </p:spTree>
    <p:extLst>
      <p:ext uri="{BB962C8B-B14F-4D97-AF65-F5344CB8AC3E}">
        <p14:creationId xmlns:p14="http://schemas.microsoft.com/office/powerpoint/2010/main" val="335051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9A6"/>
                </a:solidFill>
                <a:latin typeface="Arial"/>
              </a:rPr>
              <a:t>Ví dụ: Nhân Ma </a:t>
            </a:r>
            <a:r>
              <a:rPr lang="en-US" sz="3600" b="1" smtClean="0">
                <a:solidFill>
                  <a:srgbClr val="0039A6"/>
                </a:solidFill>
                <a:latin typeface="Arial"/>
              </a:rPr>
              <a:t>trận (tt.)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CECB-660F-458D-9C04-13A0E0687789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44</a:t>
            </a:fld>
            <a:endParaRPr lang="vi-VN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7397824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587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9A6"/>
                </a:solidFill>
                <a:latin typeface="Arial"/>
              </a:rPr>
              <a:t>Ví dụ: Nhân Ma </a:t>
            </a:r>
            <a:r>
              <a:rPr lang="en-US" sz="3600" b="1" smtClean="0">
                <a:solidFill>
                  <a:srgbClr val="0039A6"/>
                </a:solidFill>
                <a:latin typeface="Arial"/>
              </a:rPr>
              <a:t>trận (tt.)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8A6BC-06AE-4088-9119-C470DC723CE4}" type="datetime1">
              <a:rPr lang="en-US" smtClean="0"/>
              <a:t>3/27/2017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45</a:t>
            </a:fld>
            <a:endParaRPr lang="vi-VN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578" y="1471613"/>
            <a:ext cx="7520620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999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Kết luận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073C-EDD5-487C-A0B7-E020AB8CD694}" type="datetime1">
              <a:rPr lang="en-US" smtClean="0"/>
              <a:t>3/27/2017</a:t>
            </a:fld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ISAs </a:t>
            </a:r>
            <a:r>
              <a:rPr lang="en-US" smtClean="0"/>
              <a:t>hỗ trợ phép số học</a:t>
            </a:r>
            <a:endParaRPr lang="en-US" dirty="0"/>
          </a:p>
          <a:p>
            <a:pPr lvl="1"/>
            <a:r>
              <a:rPr lang="en-US" smtClean="0"/>
              <a:t>Số nguyên có dấu và không dấu</a:t>
            </a:r>
            <a:endParaRPr lang="en-US" dirty="0"/>
          </a:p>
          <a:p>
            <a:pPr lvl="1"/>
            <a:r>
              <a:rPr lang="en-US" dirty="0"/>
              <a:t>Floating-point approximation to </a:t>
            </a:r>
            <a:r>
              <a:rPr lang="en-US" dirty="0" err="1"/>
              <a:t>reals</a:t>
            </a:r>
            <a:endParaRPr lang="en-US" dirty="0"/>
          </a:p>
          <a:p>
            <a:r>
              <a:rPr lang="en-US" dirty="0"/>
              <a:t>Bounded range and precision</a:t>
            </a:r>
          </a:p>
          <a:p>
            <a:pPr lvl="1"/>
            <a:r>
              <a:rPr lang="en-US" dirty="0"/>
              <a:t>Operations can overflow and underflow</a:t>
            </a:r>
          </a:p>
          <a:p>
            <a:r>
              <a:rPr lang="en-US" dirty="0"/>
              <a:t>MIPS ISA</a:t>
            </a:r>
          </a:p>
          <a:p>
            <a:pPr lvl="1"/>
            <a:r>
              <a:rPr lang="en-US" dirty="0"/>
              <a:t>Core instructions: 54 most frequently used</a:t>
            </a:r>
          </a:p>
          <a:p>
            <a:pPr lvl="2"/>
            <a:r>
              <a:rPr lang="en-US" dirty="0"/>
              <a:t>100% of SPECINT, 97% of SPECFP</a:t>
            </a:r>
          </a:p>
          <a:p>
            <a:pPr lvl="1"/>
            <a:r>
              <a:rPr lang="en-US" dirty="0"/>
              <a:t>Other instructions: less frequent</a:t>
            </a:r>
          </a:p>
        </p:txBody>
      </p:sp>
    </p:spTree>
    <p:extLst>
      <p:ext uri="{BB962C8B-B14F-4D97-AF65-F5344CB8AC3E}">
        <p14:creationId xmlns:p14="http://schemas.microsoft.com/office/powerpoint/2010/main" val="187983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chitect_Course_Title">
  <a:themeElements>
    <a:clrScheme name="MySlides2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ySlides2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ySlides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Architect_Course_Title</Template>
  <TotalTime>1931</TotalTime>
  <Words>2827</Words>
  <Application>Microsoft Office PowerPoint</Application>
  <PresentationFormat>On-screen Show (4:3)</PresentationFormat>
  <Paragraphs>634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Arial</vt:lpstr>
      <vt:lpstr>Calibri</vt:lpstr>
      <vt:lpstr>Cooper</vt:lpstr>
      <vt:lpstr>Lucida Console</vt:lpstr>
      <vt:lpstr>Symbol</vt:lpstr>
      <vt:lpstr>Tahoma</vt:lpstr>
      <vt:lpstr>Times New Roman</vt:lpstr>
      <vt:lpstr>Verdana</vt:lpstr>
      <vt:lpstr>Wingdings</vt:lpstr>
      <vt:lpstr>Architect_Course_Title</vt:lpstr>
      <vt:lpstr>Custom Design</vt:lpstr>
      <vt:lpstr>Theme1</vt:lpstr>
      <vt:lpstr>Blends</vt:lpstr>
      <vt:lpstr>Computer Architecture Computer Science &amp; Engineering</vt:lpstr>
      <vt:lpstr>Các phép số học</vt:lpstr>
      <vt:lpstr>Nhắc lại mạch số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Phép cộng số nguyên</vt:lpstr>
      <vt:lpstr>Phép trừ số nguyên</vt:lpstr>
      <vt:lpstr>Xử lý tràn</vt:lpstr>
      <vt:lpstr>Phép nhân</vt:lpstr>
      <vt:lpstr>Phần cứng thực hiện nhân</vt:lpstr>
      <vt:lpstr>Ví dụ</vt:lpstr>
      <vt:lpstr>Bộ nhân cải thiện</vt:lpstr>
      <vt:lpstr>Bộ nhân nhanh</vt:lpstr>
      <vt:lpstr>Lệnh nhân trong MIPS</vt:lpstr>
      <vt:lpstr>Phép chia</vt:lpstr>
      <vt:lpstr>Phần cứng thực hiện chia</vt:lpstr>
      <vt:lpstr>Ví dụ</vt:lpstr>
      <vt:lpstr>Bộ chia cải thiện</vt:lpstr>
      <vt:lpstr>Bộ chia nhanh</vt:lpstr>
      <vt:lpstr>Lệnh chia trong MIPS</vt:lpstr>
      <vt:lpstr>Dấu chấm di động (Floating Point)</vt:lpstr>
      <vt:lpstr>Chuẩn của hệ thống số chấm di động</vt:lpstr>
      <vt:lpstr>Dạng định chuẩn theo IEEE</vt:lpstr>
      <vt:lpstr>Tầm giá trị với độ chính xác đơn</vt:lpstr>
      <vt:lpstr>Mức độ chính xác</vt:lpstr>
      <vt:lpstr>Real to IEEE 754 Conversion</vt:lpstr>
      <vt:lpstr>Ví dụ: Dấu chấm di động</vt:lpstr>
      <vt:lpstr>Ví dụ: (tt.)</vt:lpstr>
      <vt:lpstr>Số vô hạn (Infinities) và   Số không hợp lệ (NaNs)</vt:lpstr>
      <vt:lpstr>Phép cộng</vt:lpstr>
      <vt:lpstr>Cộng nhị phân</vt:lpstr>
      <vt:lpstr>Phần cứng bộ cộng (FP)</vt:lpstr>
      <vt:lpstr>Phần cứng bộ cộng (FP)</vt:lpstr>
      <vt:lpstr>Phép nhân thập phân</vt:lpstr>
      <vt:lpstr>Phép nhân nhị phân (FP)</vt:lpstr>
      <vt:lpstr>Phần cứng Bộ số học (FP)</vt:lpstr>
      <vt:lpstr>Lệnh FP trong MIPS</vt:lpstr>
      <vt:lpstr>Lệnh FP trong MIPS</vt:lpstr>
      <vt:lpstr>Ví dụ: Chuyển °F sang °C</vt:lpstr>
      <vt:lpstr>Ví dụ: Nhân Ma trận</vt:lpstr>
      <vt:lpstr>Ví dụ: Nhân Ma trận (tt.)</vt:lpstr>
      <vt:lpstr>Ví dụ: Nhân Ma trận (tt.)</vt:lpstr>
      <vt:lpstr>Kết luận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</dc:title>
  <dc:creator>sonsys</dc:creator>
  <cp:lastModifiedBy>Cuong Pham-Quoc</cp:lastModifiedBy>
  <cp:revision>136</cp:revision>
  <dcterms:created xsi:type="dcterms:W3CDTF">2006-08-16T00:00:00Z</dcterms:created>
  <dcterms:modified xsi:type="dcterms:W3CDTF">2017-03-27T13:16:37Z</dcterms:modified>
</cp:coreProperties>
</file>